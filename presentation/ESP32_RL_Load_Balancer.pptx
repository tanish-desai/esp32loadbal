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daa31b701d4554" /><Relationship Type="http://schemas.openxmlformats.org/officeDocument/2006/relationships/extended-properties" Target="/docProps/app.xml" Id="R5a112a3137e64212" /><Relationship Type="http://schemas.openxmlformats.org/officeDocument/2006/relationships/officeDocument" Target="/ppt/presentation.xml" Id="R66920476fa944e46" /></Relationships>
</file>

<file path=ppt/presentation.xml><?xml version="1.0" encoding="utf-8"?>
<p:presentation xmlns:p="http://schemas.openxmlformats.org/presentationml/2006/main">
  <p:sldMasterIdLst>
    <p:sldMasterId xmlns:r="http://schemas.openxmlformats.org/officeDocument/2006/relationships" id="2147483648" r:id="R4ff1eca8c8594bc1"/>
  </p:sldMasterIdLst>
  <p:notesMasterIdLst>
    <p:notesMasterId xmlns:r="http://schemas.openxmlformats.org/officeDocument/2006/relationships" r:id="R229ad5b0786645c6"/>
  </p:notesMasterIdLst>
  <p:sldIdLst>
    <p:sldId xmlns:r="http://schemas.openxmlformats.org/officeDocument/2006/relationships" id="256" r:id="Rdb7ef9586f35447e"/>
    <p:sldId xmlns:r="http://schemas.openxmlformats.org/officeDocument/2006/relationships" id="257" r:id="R1cee4bcb2c20455e"/>
    <p:sldId xmlns:r="http://schemas.openxmlformats.org/officeDocument/2006/relationships" id="258" r:id="R2e075731f23a4fb4"/>
    <p:sldId xmlns:r="http://schemas.openxmlformats.org/officeDocument/2006/relationships" id="259" r:id="Rfe0b3376c7f44582"/>
    <p:sldId xmlns:r="http://schemas.openxmlformats.org/officeDocument/2006/relationships" id="260" r:id="Rd37ff37afa4f4018"/>
    <p:sldId xmlns:r="http://schemas.openxmlformats.org/officeDocument/2006/relationships" id="261" r:id="Rdb6860f9b48f4f6e"/>
    <p:sldId xmlns:r="http://schemas.openxmlformats.org/officeDocument/2006/relationships" id="262" r:id="R93f791241f3947a7"/>
    <p:sldId xmlns:r="http://schemas.openxmlformats.org/officeDocument/2006/relationships" id="263" r:id="Rbeaae76f9894434e"/>
    <p:sldId xmlns:r="http://schemas.openxmlformats.org/officeDocument/2006/relationships" id="264" r:id="R1e3a5d9859954ffd"/>
    <p:sldId xmlns:r="http://schemas.openxmlformats.org/officeDocument/2006/relationships" id="265" r:id="Rad8ac75f7d2f43cc"/>
    <p:sldId xmlns:r="http://schemas.openxmlformats.org/officeDocument/2006/relationships" id="266" r:id="Re88564fac4cb49ea"/>
    <p:sldId xmlns:r="http://schemas.openxmlformats.org/officeDocument/2006/relationships" id="267" r:id="Rb5c50e99d9c04443"/>
    <p:sldId xmlns:r="http://schemas.openxmlformats.org/officeDocument/2006/relationships" id="268" r:id="R2fc5caca198540ae"/>
    <p:sldId xmlns:r="http://schemas.openxmlformats.org/officeDocument/2006/relationships" id="269" r:id="R74b57b6026554cff"/>
    <p:sldId xmlns:r="http://schemas.openxmlformats.org/officeDocument/2006/relationships" id="270" r:id="Rbebf771c5b84479f"/>
    <p:sldId xmlns:r="http://schemas.openxmlformats.org/officeDocument/2006/relationships" id="271" r:id="Rc8ef2bf65577406f"/>
    <p:sldId xmlns:r="http://schemas.openxmlformats.org/officeDocument/2006/relationships" id="272" r:id="Re6641c26c73c4dad"/>
    <p:sldId xmlns:r="http://schemas.openxmlformats.org/officeDocument/2006/relationships" id="273" r:id="Rdf6c7e3b09344f6a"/>
    <p:sldId xmlns:r="http://schemas.openxmlformats.org/officeDocument/2006/relationships" id="274" r:id="R9f52e5ca3dd247cd"/>
    <p:sldId xmlns:r="http://schemas.openxmlformats.org/officeDocument/2006/relationships" id="275" r:id="R6cc98bd1fb9243f9"/>
    <p:sldId xmlns:r="http://schemas.openxmlformats.org/officeDocument/2006/relationships" id="276" r:id="Rbc61d2ce59e74c60"/>
    <p:sldId xmlns:r="http://schemas.openxmlformats.org/officeDocument/2006/relationships" id="277" r:id="R393d6c89294d432d"/>
    <p:sldId xmlns:r="http://schemas.openxmlformats.org/officeDocument/2006/relationships" id="278" r:id="R68f3f39089164081"/>
    <p:sldId xmlns:r="http://schemas.openxmlformats.org/officeDocument/2006/relationships" id="279" r:id="Rf2bd45f558d34903"/>
    <p:sldId xmlns:r="http://schemas.openxmlformats.org/officeDocument/2006/relationships" id="280" r:id="Rdd92a09b476b428d"/>
    <p:sldId xmlns:r="http://schemas.openxmlformats.org/officeDocument/2006/relationships" id="281" r:id="R2f22bec2994a41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b27c5b84c14909" /><Relationship Type="http://schemas.openxmlformats.org/officeDocument/2006/relationships/slideMaster" Target="/ppt/slideMasters/slideMaster1.xml" Id="R4ff1eca8c8594bc1" /><Relationship Type="http://schemas.openxmlformats.org/officeDocument/2006/relationships/notesMaster" Target="/ppt/notesMasters/notesMaster1.xml" Id="R229ad5b0786645c6" /><Relationship Type="http://schemas.openxmlformats.org/officeDocument/2006/relationships/presProps" Target="/ppt/presProps.xml" Id="R2d909a79b9864ac9" /><Relationship Type="http://schemas.openxmlformats.org/officeDocument/2006/relationships/tableStyles" Target="/ppt/tableStyles.xml" Id="Rcaa7abfe88864112" /><Relationship Type="http://schemas.openxmlformats.org/officeDocument/2006/relationships/slide" Target="/ppt/slides/slide1.xml" Id="Rdb7ef9586f35447e" /><Relationship Type="http://schemas.openxmlformats.org/officeDocument/2006/relationships/slide" Target="/ppt/slides/slide2.xml" Id="R1cee4bcb2c20455e" /><Relationship Type="http://schemas.openxmlformats.org/officeDocument/2006/relationships/slide" Target="/ppt/slides/slide3.xml" Id="R2e075731f23a4fb4" /><Relationship Type="http://schemas.openxmlformats.org/officeDocument/2006/relationships/slide" Target="/ppt/slides/slide4.xml" Id="Rfe0b3376c7f44582" /><Relationship Type="http://schemas.openxmlformats.org/officeDocument/2006/relationships/slide" Target="/ppt/slides/slide5.xml" Id="Rd37ff37afa4f4018" /><Relationship Type="http://schemas.openxmlformats.org/officeDocument/2006/relationships/slide" Target="/ppt/slides/slide6.xml" Id="Rdb6860f9b48f4f6e" /><Relationship Type="http://schemas.openxmlformats.org/officeDocument/2006/relationships/slide" Target="/ppt/slides/slide7.xml" Id="R93f791241f3947a7" /><Relationship Type="http://schemas.openxmlformats.org/officeDocument/2006/relationships/slide" Target="/ppt/slides/slide8.xml" Id="Rbeaae76f9894434e" /><Relationship Type="http://schemas.openxmlformats.org/officeDocument/2006/relationships/slide" Target="/ppt/slides/slide9.xml" Id="R1e3a5d9859954ffd" /><Relationship Type="http://schemas.openxmlformats.org/officeDocument/2006/relationships/slide" Target="/ppt/slides/slide10.xml" Id="Rad8ac75f7d2f43cc" /><Relationship Type="http://schemas.openxmlformats.org/officeDocument/2006/relationships/slide" Target="/ppt/slides/slide11.xml" Id="Re88564fac4cb49ea" /><Relationship Type="http://schemas.openxmlformats.org/officeDocument/2006/relationships/slide" Target="/ppt/slides/slide12.xml" Id="Rb5c50e99d9c04443" /><Relationship Type="http://schemas.openxmlformats.org/officeDocument/2006/relationships/slide" Target="/ppt/slides/slide13.xml" Id="R2fc5caca198540ae" /><Relationship Type="http://schemas.openxmlformats.org/officeDocument/2006/relationships/slide" Target="/ppt/slides/slide14.xml" Id="R74b57b6026554cff" /><Relationship Type="http://schemas.openxmlformats.org/officeDocument/2006/relationships/slide" Target="/ppt/slides/slide15.xml" Id="Rbebf771c5b84479f" /><Relationship Type="http://schemas.openxmlformats.org/officeDocument/2006/relationships/slide" Target="/ppt/slides/slide16.xml" Id="Rc8ef2bf65577406f" /><Relationship Type="http://schemas.openxmlformats.org/officeDocument/2006/relationships/slide" Target="/ppt/slides/slide17.xml" Id="Re6641c26c73c4dad" /><Relationship Type="http://schemas.openxmlformats.org/officeDocument/2006/relationships/slide" Target="/ppt/slides/slide18.xml" Id="Rdf6c7e3b09344f6a" /><Relationship Type="http://schemas.openxmlformats.org/officeDocument/2006/relationships/slide" Target="/ppt/slides/slide19.xml" Id="R9f52e5ca3dd247cd" /><Relationship Type="http://schemas.openxmlformats.org/officeDocument/2006/relationships/slide" Target="/ppt/slides/slide20.xml" Id="R6cc98bd1fb9243f9" /><Relationship Type="http://schemas.openxmlformats.org/officeDocument/2006/relationships/slide" Target="/ppt/slides/slide21.xml" Id="Rbc61d2ce59e74c60" /><Relationship Type="http://schemas.openxmlformats.org/officeDocument/2006/relationships/slide" Target="/ppt/slides/slide22.xml" Id="R393d6c89294d432d" /><Relationship Type="http://schemas.openxmlformats.org/officeDocument/2006/relationships/slide" Target="/ppt/slides/slide23.xml" Id="R68f3f39089164081" /><Relationship Type="http://schemas.openxmlformats.org/officeDocument/2006/relationships/slide" Target="/ppt/slides/slide24.xml" Id="Rf2bd45f558d34903" /><Relationship Type="http://schemas.openxmlformats.org/officeDocument/2006/relationships/slide" Target="/ppt/slides/slide25.xml" Id="Rdd92a09b476b428d" /><Relationship Type="http://schemas.openxmlformats.org/officeDocument/2006/relationships/slide" Target="/ppt/slides/slide26.xml" Id="R2f22bec2994a41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a5ee66bb2d49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ff1d01340e492c" /><Relationship Type="http://schemas.openxmlformats.org/officeDocument/2006/relationships/notesMaster" Target="/ppt/notesMasters/notesMaster1.xml" Id="Rec8bd1637f2b4d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d425dd81de4c1d" /><Relationship Type="http://schemas.openxmlformats.org/officeDocument/2006/relationships/notesMaster" Target="/ppt/notesMasters/notesMaster1.xml" Id="Rc85fa7a9eea744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caeb07d4424bc1" /><Relationship Type="http://schemas.openxmlformats.org/officeDocument/2006/relationships/notesMaster" Target="/ppt/notesMasters/notesMaster1.xml" Id="Ra3ccf683019145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dd1b0ee87d4d19" /><Relationship Type="http://schemas.openxmlformats.org/officeDocument/2006/relationships/notesMaster" Target="/ppt/notesMasters/notesMaster1.xml" Id="R460bb3fd7dc340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ce3f4f23b74d44" /><Relationship Type="http://schemas.openxmlformats.org/officeDocument/2006/relationships/notesMaster" Target="/ppt/notesMasters/notesMaster1.xml" Id="R132afee6759648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e140301bcb425e" /><Relationship Type="http://schemas.openxmlformats.org/officeDocument/2006/relationships/notesMaster" Target="/ppt/notesMasters/notesMaster1.xml" Id="R8938742ac0944a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312b14ec9d4872" /><Relationship Type="http://schemas.openxmlformats.org/officeDocument/2006/relationships/notesMaster" Target="/ppt/notesMasters/notesMaster1.xml" Id="Rdb07fea53c3346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d11219d1704585" /><Relationship Type="http://schemas.openxmlformats.org/officeDocument/2006/relationships/notesMaster" Target="/ppt/notesMasters/notesMaster1.xml" Id="R66e58c4a055447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0d38a3eb2d4fe7" /><Relationship Type="http://schemas.openxmlformats.org/officeDocument/2006/relationships/notesMaster" Target="/ppt/notesMasters/notesMaster1.xml" Id="R5dc1a693d5c346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51716b8e1f4a46" /><Relationship Type="http://schemas.openxmlformats.org/officeDocument/2006/relationships/notesMaster" Target="/ppt/notesMasters/notesMaster1.xml" Id="Rde838b8c083e40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a27467702148c1" /><Relationship Type="http://schemas.openxmlformats.org/officeDocument/2006/relationships/notesMaster" Target="/ppt/notesMasters/notesMaster1.xml" Id="R50cd4e38b52048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7fb18941a34a78" /><Relationship Type="http://schemas.openxmlformats.org/officeDocument/2006/relationships/notesMaster" Target="/ppt/notesMasters/notesMaster1.xml" Id="R6eea0de7863a45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11e1c9bf214877" /><Relationship Type="http://schemas.openxmlformats.org/officeDocument/2006/relationships/notesMaster" Target="/ppt/notesMasters/notesMaster1.xml" Id="Rbfc8e2fe657342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10f914a1634214" /><Relationship Type="http://schemas.openxmlformats.org/officeDocument/2006/relationships/notesMaster" Target="/ppt/notesMasters/notesMaster1.xml" Id="Raef5cf9d951e42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8611169ccd4204" /><Relationship Type="http://schemas.openxmlformats.org/officeDocument/2006/relationships/notesMaster" Target="/ppt/notesMasters/notesMaster1.xml" Id="R36e42cccd8ac43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c017915a9c4954" /><Relationship Type="http://schemas.openxmlformats.org/officeDocument/2006/relationships/notesMaster" Target="/ppt/notesMasters/notesMaster1.xml" Id="Rfa4c3626afb747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e3f2fb0d23f4b6a" /><Relationship Type="http://schemas.openxmlformats.org/officeDocument/2006/relationships/notesMaster" Target="/ppt/notesMasters/notesMaster1.xml" Id="Rbd6b6ff5454945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48ba8eff5e45d4" /><Relationship Type="http://schemas.openxmlformats.org/officeDocument/2006/relationships/notesMaster" Target="/ppt/notesMasters/notesMaster1.xml" Id="R4f3edee43d5343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bf9fb669c74504" /><Relationship Type="http://schemas.openxmlformats.org/officeDocument/2006/relationships/notesMaster" Target="/ppt/notesMasters/notesMaster1.xml" Id="Red326923332e4b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fe2859034854524" /><Relationship Type="http://schemas.openxmlformats.org/officeDocument/2006/relationships/notesMaster" Target="/ppt/notesMasters/notesMaster1.xml" Id="R0bcffdc40a1745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ce1a3c30694e98" /><Relationship Type="http://schemas.openxmlformats.org/officeDocument/2006/relationships/notesMaster" Target="/ppt/notesMasters/notesMaster1.xml" Id="Rba82c40ee75743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3c94e462e114ef6" /><Relationship Type="http://schemas.openxmlformats.org/officeDocument/2006/relationships/notesMaster" Target="/ppt/notesMasters/notesMaster1.xml" Id="R664fe6768f1e4e3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be3c92500154026" /><Relationship Type="http://schemas.openxmlformats.org/officeDocument/2006/relationships/notesMaster" Target="/ppt/notesMasters/notesMaster1.xml" Id="Rb4961fbfd2994d0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97e358347fb4cf1" /><Relationship Type="http://schemas.openxmlformats.org/officeDocument/2006/relationships/notesMaster" Target="/ppt/notesMasters/notesMaster1.xml" Id="Rb7ed5fa5807e4b9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7bdd41969ed43c4" /><Relationship Type="http://schemas.openxmlformats.org/officeDocument/2006/relationships/notesMaster" Target="/ppt/notesMasters/notesMaster1.xml" Id="Rc7cfd3f90dfd4d6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543ae307fa14fef" /><Relationship Type="http://schemas.openxmlformats.org/officeDocument/2006/relationships/notesMaster" Target="/ppt/notesMasters/notesMaster1.xml" Id="Rf32a57658ca74e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DA3 review. Firmware and UI reviewed at upstream commit 76d80d56532424a05b93f037408980ff52f622d2. The team confirms Q-table persistence is implemented but not pushed. Hardware results follow markdowns/05_results_and_limits.md and the user confirmation in this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names and registration numbers supplied directly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https://github.com/Tanish-Desai/Esp32LoadBal/blob/76d80d56532424a05b93f037408980ff52f622d2/esp32/MyFirstESP32/src/main.cpp</a:t>
            </a:r>
          </a:p>
          <a:p xmlns:a="http://schemas.openxmlformats.org/drawingml/2006/main">
            <a:r>
              <a:t>https://github.com/Tanish-Desai/Esp32LoadBal/blob/76d80d56532424a05b93f037408980ff52f622d2/server-client/server.py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https://github.com/Tanish-Desai/Esp32LoadBal/blob/76d80d56532424a05b93f037408980ff52f622d2/ui/templates/index.html</a:t>
            </a:r>
          </a:p>
          <a:p xmlns:a="http://schemas.openxmlformats.org/drawingml/2006/main">
            <a:r>
              <a:t>https://github.com/Tanish-Desai/Esp32LoadBal/blob/76d80d56532424a05b93f037408980ff52f622d2/ui/static/telemetry.js</a:t>
            </a:r>
          </a:p>
          <a:p xmlns:a="http://schemas.openxmlformats.org/drawingml/2006/main">
            <a:r>
              <a:t>https://github.com/Tanish-Desai/Esp32LoadBal/blob/76d80d56532424a05b93f037408980ff52f622d2/benchmarks/run_benchmark.py</a:t>
            </a:r>
          </a:p>
          <a:p xmlns:a="http://schemas.openxmlformats.org/drawingml/2006/main">
            <a:r>
              <a:t>Team confirmation: flash persistence implemented, commit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https://github.com/Tanish-Desai/Esp32LoadBal/blob/76d80d56532424a05b93f037408980ff52f622d2/ui/app.py</a:t>
            </a:r>
          </a:p>
          <a:p xmlns:a="http://schemas.openxmlformats.org/drawingml/2006/main">
            <a:r>
              <a:t>https://github.com/Tanish-Desai/Esp32LoadBal/blob/76d80d56532424a05b93f037408980ff52f622d2/server-client/client.py</a:t>
            </a:r>
          </a:p>
          <a:p xmlns:a="http://schemas.openxmlformats.org/drawingml/2006/main">
            <a:r>
              <a:t>https://github.com/Tanish-Desai/Esp32LoadBal/blob/76d80d56532424a05b93f037408980ff52f622d2/server-client/server.py</a:t>
            </a:r>
          </a:p>
          <a:p xmlns:a="http://schemas.openxmlformats.org/drawingml/2006/main">
            <a:r>
              <a:t>https://github.com/Tanish-Desai/Esp32LoadBal/blob/76d80d56532424a05b93f037408980ff52f622d2/esp32/MyFirstESP32/src/main.cpp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https://github.com/Tanish-Desai/Esp32LoadBal/blob/76d80d56532424a05b93f037408980ff52f622d2/esp32/MyFirstESP32/src/main.cpp</a:t>
            </a:r>
          </a:p>
          <a:p xmlns:a="http://schemas.openxmlformats.org/drawingml/2006/main">
            <a:r>
              <a:t>https://github.com/Tanish-Desai/Esp32LoadBal/blob/76d80d56532424a05b93f037408980ff52f622d2/esp32/MyFirstESP32/platformio.ini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bill of materials, not an invoice. Checked 28 October 2026.</a:t>
            </a:r>
          </a:p>
          <a:p xmlns:a="http://schemas.openxmlformats.org/drawingml/2006/main">
            <a:r>
              <a:t>https://robocraze.com/products/nodemcu-32-wifi-bluetooth-esp32-development-board30-pin</a:t>
            </a:r>
          </a:p>
          <a:p xmlns:a="http://schemas.openxmlformats.org/drawingml/2006/main">
            <a:r>
              <a:t>The comparable ESP32 30-pin CP2102 board lists INR 425 including GST, excluding delivery, and is sold out. The team exact supplier is not established. Reusing the USB cable and power source is an explicit model assumption. Laptop, backend servers and Wi-Fi router are existing shared resources, not cost-free assets. New enclosure, dedicated power, installation and support need separate quotes. The subtotal is an incremental hardware-purchase budget, not total system cost.</a:t>
            </a:r>
          </a:p>
          <a:p xmlns:a="http://schemas.openxmlformats.org/drawingml/2006/main">
            <a:r>
              <a:t>See presentation/DA3_cost_basis.md for full assumptions and formulas.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DA2 historical assumptions: https://github.com/Tanish-Desai/Esp32LoadBal/blob/4bb62e5/data/project_data.json, hardware_comparison.devices. ESP32 INR 350, Pi 4 2GB INR 4200. DA2 saving=(4200-350)/4200*100=91.6667%.</a:t>
            </a:r>
          </a:p>
          <a:p xmlns:a="http://schemas.openxmlformats.org/drawingml/2006/main">
            <a:r>
              <a:t>DA3 listed prices checked 28 October 2026, same supplier, including GST and excluding delivery. Both products show sold out, so prices are reference listings rather than available procurement quotes. ESP32 INR 425: https://robocraze.com/products/nodemcu-32-wifi-bluetooth-esp32-development-board30-pin</a:t>
            </a:r>
          </a:p>
          <a:p xmlns:a="http://schemas.openxmlformats.org/drawingml/2006/main">
            <a:r>
              <a:t>Pi 4 2GB INR 7091: https://robocraze.com/products/raspberry-pi-4-model-b-2gb-ram</a:t>
            </a:r>
          </a:p>
          <a:p xmlns:a="http://schemas.openxmlformats.org/drawingml/2006/main">
            <a:r>
              <a:t>DA3 listed-price difference=7091-425=6666 INR. Percentage difference=6666/7091*100=94.006487%. This compares board purchase prices, not throughput-equivalent systems. Pi has more compute, interfaces and software capabilities. Pi storage/power accessories and ESP32 standalone accessories are not priced. The DA2 mini-PC INR 13000 estimate lacks a refreshed configuration-specific quote and is excluded from current price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assumptions: continuous 8760 hours/year, illustrative tariff INR 8/kWh. No claim this is the local measured tariff. ESP32 0.79W is an unmeasured DA2 planning assumption, marked pending_measurement in project_data.json.</a:t>
            </a:r>
          </a:p>
          <a:p xmlns:a="http://schemas.openxmlformats.org/drawingml/2006/main">
            <a:r>
              <a:t>Pi power from the original benchmark author: https://www.pidramble.com/wiki/benchmarks/power-consumption.html</a:t>
            </a:r>
          </a:p>
          <a:p xmlns:a="http://schemas.openxmlformats.org/drawingml/2006/main">
            <a:r>
              <a:t>Pi values span 2.7W idle to 6.4W full-CPU stress, not a workload-matched proxy comparison.</a:t>
            </a:r>
          </a:p>
          <a:p xmlns:a="http://schemas.openxmlformats.org/drawingml/2006/main">
            <a:r>
              <a:t>Energy per year=W/1000*8760. ESP32=6.9204kWh, Pi=23.652 to 56.064kWh. Annual electricity=energy*8 INR. ESP32=55.3632 INR, Pi=189.216 to 448.512 INR.</a:t>
            </a:r>
          </a:p>
          <a:p xmlns:a="http://schemas.openxmlformats.org/drawingml/2006/main">
            <a:r>
              <a:t>Three-year board plus electricity uses the listed board prices: ESP32=425+3*55.3632=591.0896 INR. Pi=7091+3*(189.216 to 448.512)=7658.648 to 8436.536 INR. Slides round for readability.</a:t>
            </a:r>
          </a:p>
          <a:p xmlns:a="http://schemas.openxmlformats.org/drawingml/2006/main">
            <a:r>
              <a:t>Scope excludes backend, laptop and network power, adapters/boot storage/enclosures, delivery, maintenance, installation, support and downtime. This is a sensitivity model, not full-system TCO or measured energy saving. No energy-savings percentage is asserted from unmatched workloads.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Hardware-cost scope: low-demand LAN gateway with seven configured concurrent sessions. A new MCU gateway can replace the purchase of a dedicated Linux-class gateway only where it satisfies the workload and security requirements.</a:t>
            </a:r>
          </a:p>
          <a:p xmlns:a="http://schemas.openxmlformats.org/drawingml/2006/main">
            <a:r>
              <a:t>AWS ALB example base price in US-East-1: https://aws.amazon.com/elasticloadbalancing/pricing/</a:t>
            </a:r>
          </a:p>
          <a:p xmlns:a="http://schemas.openxmlformats.org/drawingml/2006/main">
            <a:r>
              <a:t>0.0225 USD/hour*8760=197.10 USD/year, before capacity units, public IPv4/data charges where applicable, tax and credits. The local firmware uses no managed load-balancer service, but this is not a capability-equivalent substitute. Managed cloud scale, TLS/security and HA exceed the prototype.</a:t>
            </a:r>
          </a:p>
          <a:p xmlns:a="http://schemas.openxmlformats.org/drawingml/2006/main">
            <a:r>
              <a:t>All three algorithms use the same board. Team-confirmed flash persistence reuses onboard storage. Latency improvements are not evidence that the number of backends or server/cloud spend fell. No financial benefit from RL alone is measured.</a:t>
            </a:r>
          </a:p>
          <a:p xmlns:a="http://schemas.openxmlformats.org/drawingml/2006/main">
            <a:r>
              <a:t>If spare capacity exists on an already-powered server with a free software proxy, the added hardware purchase may be zero. Power, maintenance and support still matter. Existing backend compute and network costs do not disappear.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https://github.com/Tanish-Desai/Esp32LoadBal/blob/76d80d56532424a05b93f037408980ff52f622d2/esp32/MyFirstESP32/lib/LoadBalancerAlgorithms/src/QLearning.cpp</a:t>
            </a:r>
          </a:p>
          <a:p xmlns:a="http://schemas.openxmlformats.org/drawingml/2006/main">
            <a:r>
              <a:t>https://github.com/Tanish-Desai/Esp32LoadBal/blob/76d80d56532424a05b93f037408980ff52f622d2/esp32/MyFirstESP32/src/main.cpp</a:t>
            </a:r>
          </a:p>
          <a:p xmlns:a="http://schemas.openxmlformats.org/drawingml/2006/main">
            <a:r>
              <a:t>The firmware selects with the pre-admission session count and updates using the active count at completion. This is an implementation caveat for state-transition fidelity. The duration threshold is a reward rule, not a firmware timer that forcibly closes sessions at 2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https://github.com/Tanish-Desai/Esp32LoadBal/blob/76d80d56532424a05b93f037408980ff52f622d2/esp32/MyFirstESP32/lib/LoadBalancerAlgorithms/src/RoundRobin.cpp</a:t>
            </a:r>
          </a:p>
          <a:p xmlns:a="http://schemas.openxmlformats.org/drawingml/2006/main">
            <a:r>
              <a:t>https://github.com/Tanish-Desai/Esp32LoadBal/blob/76d80d56532424a05b93f037408980ff52f622d2/esp32/MyFirstESP32/lib/LoadBalancerAlgorithms/src/EmaResponseTime.cpp</a:t>
            </a:r>
          </a:p>
          <a:p xmlns:a="http://schemas.openxmlformats.org/drawingml/2006/main">
            <a:r>
              <a:t>https://github.com/Tanish-Desai/Esp32LoadBal/blob/76d80d56532424a05b93f037408980ff52f622d2/esp32/MyFirstESP32/lib/LoadBalancerAlgorithms/src/QLearning.cpp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statement, confirmed implemented but not pushed. The storage API, save cadence and validation scheme are not present in the synchronized repository and are not asserted here.</a:t>
            </a:r>
          </a:p>
          <a:p xmlns:a="http://schemas.openxmlformats.org/drawingml/2006/main">
            <a:r>
              <a:t>Espressif Preferences documentation: https://docs.espressif.com/projects/arduino-esp32/en/latest/api/preferences.html</a:t>
            </a:r>
          </a:p>
          <a:p xmlns:a="http://schemas.openxmlformats.org/drawingml/2006/main">
            <a:r>
              <a:t>The ESP32 Arduino EEPROM interface is a flash-backed compatibility mechanism. Preferences uses NVS. The slide deliberately describes nonvolatile flash without guessing which API the unpushed change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https://github.com/Tanish-Desai/Esp32LoadBal/blob/76d80d56532424a05b93f037408980ff52f622d2/ui/templates/index.html</a:t>
            </a:r>
          </a:p>
          <a:p xmlns:a="http://schemas.openxmlformats.org/drawingml/2006/main">
            <a:r>
              <a:t>https://github.com/Tanish-Desai/Esp32LoadBal/blob/76d80d56532424a05b93f037408980ff52f622d2/ui/static/storefront.js</a:t>
            </a:r>
          </a:p>
          <a:p xmlns:a="http://schemas.openxmlformats.org/drawingml/2006/main">
            <a:r>
              <a:t>https://github.com/Tanish-Desai/Esp32LoadBal/blob/76d80d56532424a05b93f037408980ff52f622d2/ui/static/region-config.js</a:t>
            </a:r>
          </a:p>
          <a:p xmlns:a="http://schemas.openxmlformats.org/drawingml/2006/main">
            <a:r>
              <a:t>Screenshot captured from the actual local UI with no ESP32 connected and no generated traffic. Product prices and regional labels are illustrative. The storefront has no inventory or checkout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https://github.com/Tanish-Desai/Esp32LoadBal/blob/76d80d56532424a05b93f037408980ff52f622d2/ui/static/telemetry.js</a:t>
            </a:r>
          </a:p>
          <a:p xmlns:a="http://schemas.openxmlformats.org/drawingml/2006/main">
            <a:r>
              <a:t>https://github.com/Tanish-Desai/Esp32LoadBal/blob/76d80d56532424a05b93f037408980ff52f622d2/ui/static/world-map.js</a:t>
            </a:r>
          </a:p>
          <a:p xmlns:a="http://schemas.openxmlformats.org/drawingml/2006/main">
            <a:r>
              <a:t>https://github.com/Tanish-Desai/Esp32LoadBal/blob/76d80d56532424a05b93f037408980ff52f622d2/ui/static/charts.js</a:t>
            </a:r>
          </a:p>
          <a:p xmlns:a="http://schemas.openxmlformats.org/drawingml/2006/main">
            <a:r>
              <a:t>https://github.com/Tanish-Desai/Esp32LoadBal/blob/76d80d56532424a05b93f037408980ff52f622d2/ui/static/event-stream.js</a:t>
            </a:r>
          </a:p>
          <a:p xmlns:a="http://schemas.openxmlformats.org/drawingml/2006/main">
            <a:r>
              <a:t>Screenshot captured from the actual local UI with no traffic. Region coordinates only locate mock generators on the map. The gateway has no status endpoint and does not report its strategy.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https://github.com/Tanish-Desai/Esp32LoadBal/blob/76d80d56532424a05b93f037408980ff52f622d2/ui/templates/index.html</a:t>
            </a:r>
          </a:p>
          <a:p xmlns:a="http://schemas.openxmlformats.org/drawingml/2006/main">
            <a:r>
              <a:t>https://github.com/Tanish-Desai/Esp32LoadBal/blob/76d80d56532424a05b93f037408980ff52f622d2/ui/static/storefront.js</a:t>
            </a:r>
          </a:p>
          <a:p xmlns:a="http://schemas.openxmlformats.org/drawingml/2006/main">
            <a:r>
              <a:t>https://github.com/Tanish-Desai/Esp32LoadBal/blob/76d80d56532424a05b93f037408980ff52f622d2/benchmarks/run_benchmark.py</a:t>
            </a:r>
          </a:p>
          <a:p xmlns:a="http://schemas.openxmlformats.org/drawingml/2006/main">
            <a:r>
              <a:t>This is a demonstration protocol, not a claim that a new hardware experiment was performed during deck preparation. A direct-backend test is a connectivity check, not an ESP32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https://github.com/Tanish-Desai/Esp32LoadBal/blob/76d80d56532424a05b93f037408980ff52f622d2/markdowns/05_results_and_limits.md</a:t>
            </a:r>
          </a:p>
          <a:p xmlns:a="http://schemas.openxmlformats.org/drawingml/2006/main">
            <a:r>
              <a:t>https://github.com/Tanish-Desai/Esp32LoadBal/blob/76d80d56532424a05b93f037408980ff52f622d2/benchmarks/run_benchmark.py</a:t>
            </a:r>
          </a:p>
          <a:p xmlns:a="http://schemas.openxmlformats.org/drawingml/2006/main">
            <a:r>
              <a:t>User explicitly approved use of the hardware figures. The source notes describe the run as real ESP32, 3 backends, 5 clients and 120 seconds. data/project_data.json still has null measured_results. Raw run artifacts and repeated-run intervals are not included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https://github.com/Tanish-Desai/Esp32LoadBal/blob/76d80d56532424a05b93f037408980ff52f622d2/markdowns/05_results_and_limits.md</a:t>
            </a:r>
          </a:p>
          <a:p xmlns:a="http://schemas.openxmlformats.org/drawingml/2006/main">
            <a:r>
              <a:t>Team confirmation: use hardware mean latency RR=518 ms, Q-learning=208 ms, EMA=515 ms.</a:t>
            </a:r>
          </a:p>
          <a:p xmlns:a="http://schemas.openxmlformats.org/drawingml/2006/main">
            <a:r>
              <a:t>Calculation: (518−208)/518×100 = 59.8456%. Single documented configuration, not a universal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https://github.com/Tanish-Desai/Esp32LoadBal/blob/76d80d56532424a05b93f037408980ff52f622d2/markdowns/05_results_and_limits.md</a:t>
            </a:r>
          </a:p>
          <a:p xmlns:a="http://schemas.openxmlformats.org/drawingml/2006/main">
            <a:r>
              <a:t>The team confirmed the hardware run in this task. These figures come from the results markdown, not the still-null measured_results JSON. No uncertainty interval is available. Served totals, timeout counts and throughput describe the documented run, with throughput rounded to one decimal place.</a:t>
            </a:r>
          </a:p>
          <a:p xmlns:a="http://schemas.openxmlformats.org/drawingml/2006/main">
            <a:r>
              <a:t>Throughput gain from rounded rates: (9.6/6.1−1)×100 = 57.38%. p95 reduction: (1186−473)/1186×100 = 60.12%.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https://github.com/Tanish-Desai/Esp32LoadBal/blob/76d80d56532424a05b93f037408980ff52f622d2/data/project_data.json</a:t>
            </a:r>
          </a:p>
          <a:p xmlns:a="http://schemas.openxmlformats.org/drawingml/2006/main">
            <a:r>
              <a:t>Section simulation_findings.scenario_results. Reproducible via benchmarks/tools/export_sim_results.mjs. This deck uses stored 8-seed aggregates, not single-seed results. Smart factory, rural clinic and retail POS are simulated scenarios, not deployments.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https://github.com/Tanish-Desai/Esp32LoadBal/blob/76d80d56532424a05b93f037408980ff52f622d2/data/project_data.json</a:t>
            </a:r>
          </a:p>
          <a:p xmlns:a="http://schemas.openxmlformats.org/drawingml/2006/main">
            <a:r>
              <a:t>Section simulation_findings.headline_finding.table. Two backends and six clients, fast backend at 60 ms, latency spread swept from 1× to 12×. Reproduce with node benchmarks/tools/exp_heterogeneity.mjs. The 8× value is specific to these settings, not a universal threshold.</a:t>
            </a:r>
          </a:p>
          <a:p xmlns:a="http://schemas.openxmlformats.org/drawingml/2006/main">
            <a:r>
              <a:t>At 12×: 93.7−49.8 = 43.9 percentage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https://github.com/Tanish-Desai/Esp32LoadBal/blob/76d80d56532424a05b93f037408980ff52f622d2/data/project_data.json</a:t>
            </a:r>
          </a:p>
          <a:p xmlns:a="http://schemas.openxmlformats.org/drawingml/2006/main">
            <a:r>
              <a:t>Section simulation_findings.known_weakness. Stored aggregate results are RR=84.9%, QL=74.5%, EMA=97.2%. The narrative known_weakness.finding contains a stale RR=84.5% value, which belongs to a single-seed run. This slide consistently uses the 8-seed aggregate.</a:t>
            </a:r>
          </a:p>
          <a:p xmlns:a="http://schemas.openxmlformats.org/drawingml/2006/main">
            <a:r>
              <a:t>The epsilon floor experiment improves QL mean goodput to 85.5% but remains a simulation experiment. Firmware still uses 0.05. Persistence is implemented separately and does not fix stale-policy adaptation.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https://github.com/Tanish-Desai/Esp32LoadBal/blob/76d80d56532424a05b93f037408980ff52f622d2/esp32/MyFirstESP32/src/main.cpp</a:t>
            </a:r>
          </a:p>
          <a:p xmlns:a="http://schemas.openxmlformats.org/drawingml/2006/main">
            <a:r>
              <a:t>https://github.com/Tanish-Desai/Esp32LoadBal/blob/76d80d56532424a05b93f037408980ff52f622d2/ui/static/telemetry.js</a:t>
            </a:r>
          </a:p>
          <a:p xmlns:a="http://schemas.openxmlformats.org/drawingml/2006/main">
            <a:r>
              <a:t>https://github.com/Tanish-Desai/Esp32LoadBal/blob/76d80d56532424a05b93f037408980ff52f622d2/ui/static/region-config.js</a:t>
            </a:r>
          </a:p>
          <a:p xmlns:a="http://schemas.openxmlformats.org/drawingml/2006/main">
            <a:r>
              <a:t>https://github.com/Tanish-Desai/Esp32LoadBal/blob/76d80d56532424a05b93f037408980ff52f622d2/data/project_data.json</a:t>
            </a:r>
          </a:p>
          <a:p xmlns:a="http://schemas.openxmlformats.org/drawingml/2006/main">
            <a:r>
              <a:t>The seven-session ceiling is the current firmware configuration, not a universal immutable ESP32 silicon constraint. Retry calls may choose the same backend more than once. Feedback uses the active count at completion rather than preserving the decision-time state. No TLS code exists in this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https://github.com/Tanish-Desai/Esp32LoadBal/blob/76d80d56532424a05b93f037408980ff52f622d2/markdowns/05_results_and_limits.md</a:t>
            </a:r>
          </a:p>
          <a:p xmlns:a="http://schemas.openxmlformats.org/drawingml/2006/main">
            <a:r>
              <a:t>https://github.com/Tanish-Desai/Esp32LoadBal/blob/76d80d56532424a05b93f037408980ff52f622d2/ui/templates/index.html</a:t>
            </a:r>
          </a:p>
          <a:p xmlns:a="http://schemas.openxmlformats.org/drawingml/2006/main">
            <a:r>
              <a:t>https://github.com/Tanish-Desai/Esp32LoadBal/blob/76d80d56532424a05b93f037408980ff52f622d2/esp32/MyFirstESP32/src/main.cpp</a:t>
            </a:r>
          </a:p>
          <a:p xmlns:a="http://schemas.openxmlformats.org/drawingml/2006/main">
            <a:r>
              <a:t>Q-table persistence status is based on the team statement, not the synchronized source. Mean-latency improvement is specific to the documented hardware run.</a:t>
            </a:r>
          </a:p>
          <a:p xmlns:a="http://schemas.openxmlformats.org/drawingml/2006/main">
            <a:r>
              <a:t>The cost argument is a dedicated gateway hardware comparison. DA3 listed board prices INR 425 vs INR 7091 imply INR 6666/94.0% lower board price. See cost section and presentation/DA3_cost_basis.md. This does not represent whole-system or workload-equivalent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evidence inspected at 76d80d56532424a05b93f037408980ff52f622d2. Both GitHub main branches synchronized before creating this deck.</a:t>
            </a:r>
          </a:p>
          <a:p xmlns:a="http://schemas.openxmlformats.org/drawingml/2006/main">
            <a:r>
              <a:t>https://github.com/Tanish-Desai/Esp32LoadBal/blob/76d80d56532424a05b93f037408980ff52f622d2/markdowns/05_results_and_limits.md</a:t>
            </a:r>
          </a:p>
          <a:p xmlns:a="http://schemas.openxmlformats.org/drawingml/2006/main">
            <a:r>
              <a:t>https://github.com/Tanish-Desai/Esp32LoadBal/blob/76d80d56532424a05b93f037408980ff52f622d2/data/project_data.json</a:t>
            </a:r>
          </a:p>
          <a:p xmlns:a="http://schemas.openxmlformats.org/drawingml/2006/main">
            <a:r>
              <a:t>https://github.com/Tanish-Desai/Esp32LoadBal/blob/76d80d56532424a05b93f037408980ff52f622d2/esp32/MyFirstESP32/src/main.cpp</a:t>
            </a:r>
          </a:p>
          <a:p xmlns:a="http://schemas.openxmlformats.org/drawingml/2006/main">
            <a:r>
              <a:t>https://github.com/Tanish-Desai/Esp32LoadBal/blob/76d80d56532424a05b93f037408980ff52f622d2/esp32/MyFirstESP32/lib/LoadBalancerAlgorithms/src/QLearning.cpp</a:t>
            </a:r>
          </a:p>
          <a:p xmlns:a="http://schemas.openxmlformats.org/drawingml/2006/main">
            <a:r>
              <a:t>https://github.com/Tanish-Desai/Esp32LoadBal/blob/76d80d56532424a05b93f037408980ff52f622d2/ui/static/telemetry.js</a:t>
            </a:r>
          </a:p>
          <a:p xmlns:a="http://schemas.openxmlformats.org/drawingml/2006/main">
            <a:r>
              <a:t>https://github.com/Tanish-Desai/Esp32LoadBal/blob/76d80d56532424a05b93f037408980ff52f622d2/ui/static/storefront.js</a:t>
            </a:r>
          </a:p>
          <a:p xmlns:a="http://schemas.openxmlformats.org/drawingml/2006/main">
            <a:r>
              <a:t>https://docs.espressif.com/projects/arduino-esp32/en/latest/api/preferences.html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date: 28 October 2026. Full working in presentation/DA3_cost_basis.md.</a:t>
            </a:r>
          </a:p>
          <a:p xmlns:a="http://schemas.openxmlformats.org/drawingml/2006/main">
            <a:r>
              <a:t>https://robocraze.com/products/nodemcu-32-wifi-bluetooth-esp32-development-board30-pin</a:t>
            </a:r>
          </a:p>
          <a:p xmlns:a="http://schemas.openxmlformats.org/drawingml/2006/main">
            <a:r>
              <a:t>https://robocraze.com/products/raspberry-pi-4-model-b-2gb-ram</a:t>
            </a:r>
          </a:p>
          <a:p xmlns:a="http://schemas.openxmlformats.org/drawingml/2006/main">
            <a:r>
              <a:t>https://www.pidramble.com/wiki/benchmarks/power-consumption.html</a:t>
            </a:r>
          </a:p>
          <a:p xmlns:a="http://schemas.openxmlformats.org/drawingml/2006/main">
            <a:r>
              <a:t>https://aws.amazon.com/elasticloadbalancing/pricing/</a:t>
            </a:r>
          </a:p>
          <a:p xmlns:a="http://schemas.openxmlformats.org/drawingml/2006/main">
            <a:r>
              <a:t>https://github.com/Tanish-Desai/Esp32LoadBal/blob/4bb62e5/data/project_data.json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c82a016bd747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e4782603ec49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55af705a2747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a592c1cda943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43bbbb9a9241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ad8e83d4a845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680483-036E-4E52-AF6D-8BA6B2BAF4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CC1C4C-20E4-43BC-95CB-55625D9A4F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890FB1-C358-44E5-B889-E7FF97B7CD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F4DB4F-AF59-48B9-B57C-5C4E8C3FDA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541074-8F4F-4B88-93BB-36EA7C2756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DB60A7-A00A-4314-9872-AA1AB6D98B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5D9A94-CD41-4038-B179-4958636AA1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63FD2C-4399-4E04-AC7A-B7580DB7185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2A0B6C-42AA-4EFC-9B4E-7C844F4CB1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FB901A-BBD7-4C2D-8465-A43384996D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ff1006f5404f7e" /><Relationship Type="http://schemas.openxmlformats.org/officeDocument/2006/relationships/slideLayout" Target="/ppt/slideLayouts/slideLayout1.xml" Id="R15a31ebc9e3f45e7" /><Relationship Type="http://schemas.openxmlformats.org/officeDocument/2006/relationships/slideLayout" Target="/ppt/slideLayouts/slideLayout2.xml" Id="R54d74e59576449a3" /><Relationship Type="http://schemas.openxmlformats.org/officeDocument/2006/relationships/slideLayout" Target="/ppt/slideLayouts/slideLayout3.xml" Id="R91c340081aa64d9e" /><Relationship Type="http://schemas.openxmlformats.org/officeDocument/2006/relationships/slideLayout" Target="/ppt/slideLayouts/slideLayout4.xml" Id="Rd9320ccc7b294612" /><Relationship Type="http://schemas.openxmlformats.org/officeDocument/2006/relationships/slideLayout" Target="/ppt/slideLayouts/slideLayout5.xml" Id="R37d45f181fcb4fa3" /><Relationship Type="http://schemas.openxmlformats.org/officeDocument/2006/relationships/slideLayout" Target="/ppt/slideLayouts/slideLayout6.xml" Id="R75aa0a2ebdf649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a31ebc9e3f45e7"/>
    <p:sldLayoutId xmlns:r="http://schemas.openxmlformats.org/officeDocument/2006/relationships" id="2147483650" r:id="R54d74e59576449a3"/>
    <p:sldLayoutId xmlns:r="http://schemas.openxmlformats.org/officeDocument/2006/relationships" id="2147483651" r:id="R91c340081aa64d9e"/>
    <p:sldLayoutId xmlns:r="http://schemas.openxmlformats.org/officeDocument/2006/relationships" id="2147483652" r:id="Rd9320ccc7b294612"/>
    <p:sldLayoutId xmlns:r="http://schemas.openxmlformats.org/officeDocument/2006/relationships" id="2147483653" r:id="R37d45f181fcb4fa3"/>
    <p:sldLayoutId xmlns:r="http://schemas.openxmlformats.org/officeDocument/2006/relationships" id="2147483654" r:id="R75aa0a2ebdf649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d0f999b3814cb0" /><Relationship Type="http://schemas.openxmlformats.org/officeDocument/2006/relationships/notesSlide" Target="/ppt/notesSlides/notesSlide1.xml" Id="Racceade88d2d4a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6be89080194872" /><Relationship Type="http://schemas.openxmlformats.org/officeDocument/2006/relationships/notesSlide" Target="/ppt/notesSlides/notesSlide2.xml" Id="Rc36596102fb04f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5e58de37a54d72" /><Relationship Type="http://schemas.openxmlformats.org/officeDocument/2006/relationships/notesSlide" Target="/ppt/notesSlides/notesSlide3.xml" Id="R5128cd0309f24f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1cee3f637e64b3b" /><Relationship Type="http://schemas.openxmlformats.org/officeDocument/2006/relationships/notesSlide" Target="/ppt/notesSlides/notesSlide4.xml" Id="R3769a8219ed64b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9634a7a6114a82" /><Relationship Type="http://schemas.openxmlformats.org/officeDocument/2006/relationships/notesSlide" Target="/ppt/notesSlides/notesSlide5.xml" Id="R899c241828244a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811892799414be6" /><Relationship Type="http://schemas.openxmlformats.org/officeDocument/2006/relationships/notesSlide" Target="/ppt/notesSlides/notesSlide6.xml" Id="R5a6ff435af2147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72455e29d84079" /><Relationship Type="http://schemas.openxmlformats.org/officeDocument/2006/relationships/notesSlide" Target="/ppt/notesSlides/notesSlide7.xml" Id="R76414af2194649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cdd130444544cc" /><Relationship Type="http://schemas.openxmlformats.org/officeDocument/2006/relationships/notesSlide" Target="/ppt/notesSlides/notesSlide8.xml" Id="Rc6872bfe258f40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c9af7217ab849aa" /><Relationship Type="http://schemas.openxmlformats.org/officeDocument/2006/relationships/notesSlide" Target="/ppt/notesSlides/notesSlide9.xml" Id="R597d2701de2f4f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b61ab002d247b3" /><Relationship Type="http://schemas.openxmlformats.org/officeDocument/2006/relationships/notesSlide" Target="/ppt/notesSlides/notesSlide10.xml" Id="Refa5907b49784e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0ce92a31d849a8" /><Relationship Type="http://schemas.openxmlformats.org/officeDocument/2006/relationships/notesSlide" Target="/ppt/notesSlides/notesSlide11.xml" Id="R2fc7e8f7c47c49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0267f29afea4d9b" /><Relationship Type="http://schemas.openxmlformats.org/officeDocument/2006/relationships/notesSlide" Target="/ppt/notesSlides/notesSlide12.xml" Id="R63842491ba774b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1fe2a87d4df436a" /><Relationship Type="http://schemas.openxmlformats.org/officeDocument/2006/relationships/notesSlide" Target="/ppt/notesSlides/notesSlide13.xml" Id="R31c69bb67c7a42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a948991ae564534" /><Relationship Type="http://schemas.openxmlformats.org/officeDocument/2006/relationships/image" Target="/ppt/media/image.jpeg" Id="Rf413b22030404ac5" /><Relationship Type="http://schemas.openxmlformats.org/officeDocument/2006/relationships/notesSlide" Target="/ppt/notesSlides/notesSlide14.xml" Id="R3c8df8aa887845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1123f335ecc483c" /><Relationship Type="http://schemas.openxmlformats.org/officeDocument/2006/relationships/image" Target="/ppt/media/image2.jpeg" Id="R01e56d0ddbbc464d" /><Relationship Type="http://schemas.openxmlformats.org/officeDocument/2006/relationships/notesSlide" Target="/ppt/notesSlides/notesSlide15.xml" Id="R10345377402b47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9d63829947d48b8" /><Relationship Type="http://schemas.openxmlformats.org/officeDocument/2006/relationships/notesSlide" Target="/ppt/notesSlides/notesSlide16.xml" Id="R47c857a6ee834b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df0ecbf4fb4470" /><Relationship Type="http://schemas.openxmlformats.org/officeDocument/2006/relationships/notesSlide" Target="/ppt/notesSlides/notesSlide17.xml" Id="Rf7d2cebab612465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771955a25b8476d" /><Relationship Type="http://schemas.openxmlformats.org/officeDocument/2006/relationships/chart" Target="/ppt/slides/charts/chart1.xml" Id="Rc074ad011be441b5" /><Relationship Type="http://schemas.openxmlformats.org/officeDocument/2006/relationships/notesSlide" Target="/ppt/notesSlides/notesSlide18.xml" Id="R0d387c0779bc451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52da8df87cb4ff0" /><Relationship Type="http://schemas.openxmlformats.org/officeDocument/2006/relationships/notesSlide" Target="/ppt/notesSlides/notesSlide19.xml" Id="R8b36ebd7a1db414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c88b28f21b84ef2" /><Relationship Type="http://schemas.openxmlformats.org/officeDocument/2006/relationships/notesSlide" Target="/ppt/notesSlides/notesSlide20.xml" Id="R952e09f9d9a149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b5f4afe20054984" /><Relationship Type="http://schemas.openxmlformats.org/officeDocument/2006/relationships/chart" Target="/ppt/slides/charts/chart2.xml" Id="R3f9baa2c11cf412c" /><Relationship Type="http://schemas.openxmlformats.org/officeDocument/2006/relationships/notesSlide" Target="/ppt/notesSlides/notesSlide21.xml" Id="Radb414db67b844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64ee7b52cc04f12" /><Relationship Type="http://schemas.openxmlformats.org/officeDocument/2006/relationships/notesSlide" Target="/ppt/notesSlides/notesSlide22.xml" Id="R12a8ccff5c9344f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7f80ccb5dba4ed2" /><Relationship Type="http://schemas.openxmlformats.org/officeDocument/2006/relationships/notesSlide" Target="/ppt/notesSlides/notesSlide23.xml" Id="Rc03946a5ad444a5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1b7539c2fde47ad" /><Relationship Type="http://schemas.openxmlformats.org/officeDocument/2006/relationships/notesSlide" Target="/ppt/notesSlides/notesSlide24.xml" Id="R5b7c5347be45422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4fcd14718a54edb" /><Relationship Type="http://schemas.openxmlformats.org/officeDocument/2006/relationships/notesSlide" Target="/ppt/notesSlides/notesSlide25.xml" Id="Rd61b1da62ec240a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9c322c23e3d4062" /><Relationship Type="http://schemas.openxmlformats.org/officeDocument/2006/relationships/notesSlide" Target="/ppt/notesSlides/notesSlide26.xml" Id="R540d341bc3c645ce"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F7F4EE"/>
                </a:solidFill>
              </a:rPr>
              <a:t>Mean response time (ms)</a:t>
            </a:r>
          </a:p>
        </c:rich>
      </c:tx>
      <c:overlay val="0"/>
      <c:txPr>
        <a:bodyPr xmlns:a="http://schemas.openxmlformats.org/drawingml/2006/main" anchorCtr="1"/>
        <a:lstStyle xmlns:a="http://schemas.openxmlformats.org/drawingml/2006/main"/>
        <a:p xmlns:a="http://schemas.openxmlformats.org/drawingml/2006/main">
          <a:pPr>
            <a:defRPr sz="1725" b="1">
              <a:solidFill>
                <a:srgbClr val="F7F4EE"/>
              </a:solidFill>
            </a:defRPr>
          </a:pPr>
        </a:p>
      </c:txPr>
    </c:title>
    <c:plotArea>
      <c:barChart>
        <c:barDir val="col"/>
        <c:grouping val="clustered"/>
        <c:varyColors val="0"/>
        <c:ser>
          <c:idx val="0"/>
          <c:order val="0"/>
          <c:tx>
            <c:v>Mean response time</c:v>
          </c:tx>
          <c:invertIfNegative val="0"/>
          <c:dPt>
            <c:idx val="0"/>
            <c:invertIfNegative val="0"/>
            <c:spPr>
              <a:solidFill xmlns:a="http://schemas.openxmlformats.org/drawingml/2006/main">
                <a:srgbClr val="3C83D1"/>
              </a:solidFill>
            </c:spPr>
          </c:dPt>
          <c:dPt>
            <c:idx val="1"/>
            <c:invertIfNegative val="0"/>
            <c:spPr>
              <a:solidFill xmlns:a="http://schemas.openxmlformats.org/drawingml/2006/main">
                <a:srgbClr val="E16A3D"/>
              </a:solidFill>
            </c:spPr>
          </c:dPt>
          <c:dPt>
            <c:idx val="2"/>
            <c:invertIfNegative val="0"/>
            <c:spPr>
              <a:solidFill xmlns:a="http://schemas.openxmlformats.org/drawingml/2006/main">
                <a:srgbClr val="1E9C73"/>
              </a:solidFill>
            </c:spPr>
          </c:dPt>
          <c:cat>
            <c:strLit>
              <c:ptCount val="3"/>
              <c:pt idx="0">
                <c:v>Round Robin</c:v>
              </c:pt>
              <c:pt idx="1">
                <c:v>Q-learning</c:v>
              </c:pt>
              <c:pt idx="2">
                <c:v>EMA</c:v>
              </c:pt>
            </c:strLit>
          </c:cat>
          <c:val>
            <c:numLit>
              <c:formatCode>General</c:formatCode>
              <c:ptCount val="3"/>
              <c:pt idx="0">
                <c:v>518</c:v>
              </c:pt>
              <c:pt idx="1">
                <c:v>208</c:v>
              </c:pt>
              <c:pt idx="2">
                <c:v>515</c:v>
              </c:pt>
            </c:numLit>
          </c:val>
        </c:ser>
        <c:dLbls>
          <c:txPr>
            <a:bodyPr xmlns:a="http://schemas.openxmlformats.org/drawingml/2006/main" anchorCtr="1"/>
            <a:lstStyle xmlns:a="http://schemas.openxmlformats.org/drawingml/2006/main"/>
            <a:p xmlns:a="http://schemas.openxmlformats.org/drawingml/2006/main">
              <a:pPr>
                <a:defRPr sz="1725" b="1">
                  <a:solidFill>
                    <a:srgbClr val="F7F4EE"/>
                  </a:solidFil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0ABB5"/>
            </a:solidFill>
          </a:ln>
        </c:spPr>
        <c:txPr>
          <a:bodyPr xmlns:a="http://schemas.openxmlformats.org/drawingml/2006/main" anchorCtr="1"/>
          <a:lstStyle xmlns:a="http://schemas.openxmlformats.org/drawingml/2006/main"/>
          <a:p xmlns:a="http://schemas.openxmlformats.org/drawingml/2006/main">
            <a:pPr>
              <a:defRPr sz="1500">
                <a:solidFill>
                  <a:srgbClr val="D8D3CB"/>
                </a:solidFill>
              </a:defRPr>
            </a:pPr>
          </a:p>
        </c:txPr>
        <c:crossAx val="48672768"/>
      </c:catAx>
      <c:valAx>
        <c:axId val="48672768"/>
        <c:scaling>
          <c:orientation val="minMax"/>
          <c:max val="650"/>
          <c:min val="0"/>
        </c:scaling>
        <c:delete val="0"/>
        <c:axPos val="l"/>
        <c:majorGridlines>
          <c:spPr>
            <a:ln xmlns:a="http://schemas.openxmlformats.org/drawingml/2006/main" w="9525">
              <a:solidFill>
                <a:srgbClr val="30404F"/>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D8D3CB"/>
                </a:solidFill>
              </a:defRPr>
            </a:pPr>
          </a:p>
        </c:txPr>
        <c:crossAx val="48650112"/>
        <c:crossBetween val="between"/>
      </c:valAx>
      <c:spPr>
        <a:solidFill xmlns:a="http://schemas.openxmlformats.org/drawingml/2006/main">
          <a:srgbClr val="0E1822"/>
        </a:solidFill>
        <a:ln xmlns:a="http://schemas.openxmlformats.org/drawingml/2006/main" w="0">
          <a:noFill/>
        </a:ln>
      </c:spPr>
    </c:plotArea>
    <c:plotVisOnly val="1"/>
  </c:chart>
  <c:spPr>
    <a:solidFill xmlns:a="http://schemas.openxmlformats.org/drawingml/2006/main">
      <a:srgbClr val="0E1822"/>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F7F4EE"/>
                </a:solidFill>
              </a:rPr>
              <a:t>Goodput (%) versus backend latency spread</a:t>
            </a:r>
          </a:p>
        </c:rich>
      </c:tx>
      <c:overlay val="0"/>
      <c:txPr>
        <a:bodyPr xmlns:a="http://schemas.openxmlformats.org/drawingml/2006/main" anchorCtr="1"/>
        <a:lstStyle xmlns:a="http://schemas.openxmlformats.org/drawingml/2006/main"/>
        <a:p xmlns:a="http://schemas.openxmlformats.org/drawingml/2006/main">
          <a:pPr>
            <a:defRPr sz="1725" b="1">
              <a:solidFill>
                <a:srgbClr val="F7F4EE"/>
              </a:solidFill>
            </a:defRPr>
          </a:pPr>
        </a:p>
      </c:txPr>
    </c:title>
    <c:plotArea>
      <c:lineChart>
        <c:grouping val="standard"/>
        <c:varyColors val="0"/>
        <c:ser>
          <c:idx val="0"/>
          <c:order val="0"/>
          <c:tx>
            <c:v>Round Robin</c:v>
          </c:tx>
          <c:spPr>
            <a:ln xmlns:a="http://schemas.openxmlformats.org/drawingml/2006/main" w="38100">
              <a:solidFill>
                <a:srgbClr val="3C83D1"/>
              </a:solidFill>
            </a:ln>
          </c:spPr>
          <c:marker>
            <c:symbol val="circle"/>
            <c:size val="8"/>
            <c:spPr>
              <a:solidFill xmlns:a="http://schemas.openxmlformats.org/drawingml/2006/main">
                <a:srgbClr val="3C83D1"/>
              </a:solidFill>
            </c:spPr>
          </c:marker>
          <c:cat>
            <c:strLit>
              <c:ptCount val="6"/>
              <c:pt idx="0">
                <c:v>1x</c:v>
              </c:pt>
              <c:pt idx="1">
                <c:v>2x</c:v>
              </c:pt>
              <c:pt idx="2">
                <c:v>3x</c:v>
              </c:pt>
              <c:pt idx="3">
                <c:v>5x</c:v>
              </c:pt>
              <c:pt idx="4">
                <c:v>8x</c:v>
              </c:pt>
              <c:pt idx="5">
                <c:v>12x</c:v>
              </c:pt>
            </c:strLit>
          </c:cat>
          <c:val>
            <c:numLit>
              <c:formatCode>General</c:formatCode>
              <c:ptCount val="6"/>
              <c:pt idx="0">
                <c:v>100</c:v>
              </c:pt>
              <c:pt idx="1">
                <c:v>100</c:v>
              </c:pt>
              <c:pt idx="2">
                <c:v>100</c:v>
              </c:pt>
              <c:pt idx="3">
                <c:v>100</c:v>
              </c:pt>
              <c:pt idx="4">
                <c:v>71.3</c:v>
              </c:pt>
              <c:pt idx="5">
                <c:v>49.8</c:v>
              </c:pt>
            </c:numLit>
          </c:val>
          <c:smooth val="0"/>
        </c:ser>
        <c:ser>
          <c:idx val="1"/>
          <c:order val="1"/>
          <c:tx>
            <c:v>Q-learning</c:v>
          </c:tx>
          <c:spPr>
            <a:ln xmlns:a="http://schemas.openxmlformats.org/drawingml/2006/main" w="38100">
              <a:solidFill>
                <a:srgbClr val="E16A3D"/>
              </a:solidFill>
            </a:ln>
          </c:spPr>
          <c:marker>
            <c:symbol val="circle"/>
            <c:size val="8"/>
            <c:spPr>
              <a:solidFill xmlns:a="http://schemas.openxmlformats.org/drawingml/2006/main">
                <a:srgbClr val="E16A3D"/>
              </a:solidFill>
            </c:spPr>
          </c:marker>
          <c:cat>
            <c:strLit>
              <c:ptCount val="6"/>
              <c:pt idx="0">
                <c:v>1x</c:v>
              </c:pt>
              <c:pt idx="1">
                <c:v>2x</c:v>
              </c:pt>
              <c:pt idx="2">
                <c:v>3x</c:v>
              </c:pt>
              <c:pt idx="3">
                <c:v>5x</c:v>
              </c:pt>
              <c:pt idx="4">
                <c:v>8x</c:v>
              </c:pt>
              <c:pt idx="5">
                <c:v>12x</c:v>
              </c:pt>
            </c:strLit>
          </c:cat>
          <c:val>
            <c:numLit>
              <c:formatCode>General</c:formatCode>
              <c:ptCount val="6"/>
              <c:pt idx="0">
                <c:v>100</c:v>
              </c:pt>
              <c:pt idx="1">
                <c:v>100</c:v>
              </c:pt>
              <c:pt idx="2">
                <c:v>100</c:v>
              </c:pt>
              <c:pt idx="3">
                <c:v>99.8</c:v>
              </c:pt>
              <c:pt idx="4">
                <c:v>99.1</c:v>
              </c:pt>
              <c:pt idx="5">
                <c:v>93.7</c:v>
              </c:pt>
            </c:numLit>
          </c:val>
          <c:smooth val="0"/>
        </c:ser>
        <c:ser>
          <c:idx val="2"/>
          <c:order val="2"/>
          <c:tx>
            <c:v>EMA</c:v>
          </c:tx>
          <c:spPr>
            <a:ln xmlns:a="http://schemas.openxmlformats.org/drawingml/2006/main" w="38100">
              <a:solidFill>
                <a:srgbClr val="1E9C73"/>
              </a:solidFill>
            </a:ln>
          </c:spPr>
          <c:marker>
            <c:symbol val="circle"/>
            <c:size val="8"/>
            <c:spPr>
              <a:solidFill xmlns:a="http://schemas.openxmlformats.org/drawingml/2006/main">
                <a:srgbClr val="1E9C73"/>
              </a:solidFill>
            </c:spPr>
          </c:marker>
          <c:cat>
            <c:strLit>
              <c:ptCount val="6"/>
              <c:pt idx="0">
                <c:v>1x</c:v>
              </c:pt>
              <c:pt idx="1">
                <c:v>2x</c:v>
              </c:pt>
              <c:pt idx="2">
                <c:v>3x</c:v>
              </c:pt>
              <c:pt idx="3">
                <c:v>5x</c:v>
              </c:pt>
              <c:pt idx="4">
                <c:v>8x</c:v>
              </c:pt>
              <c:pt idx="5">
                <c:v>12x</c:v>
              </c:pt>
            </c:strLit>
          </c:cat>
          <c:val>
            <c:numLit>
              <c:formatCode>General</c:formatCode>
              <c:ptCount val="6"/>
              <c:pt idx="0">
                <c:v>100</c:v>
              </c:pt>
              <c:pt idx="1">
                <c:v>100</c:v>
              </c:pt>
              <c:pt idx="2">
                <c:v>100</c:v>
              </c:pt>
              <c:pt idx="3">
                <c:v>99.7</c:v>
              </c:pt>
              <c:pt idx="4">
                <c:v>94.8</c:v>
              </c:pt>
              <c:pt idx="5">
                <c:v>87.2</c:v>
              </c:pt>
            </c:numLit>
          </c:val>
          <c:smooth val="0"/>
        </c:ser>
        <c:dLbls>
          <c:txPr>
            <a:bodyPr xmlns:a="http://schemas.openxmlformats.org/drawingml/2006/main" anchorCtr="1"/>
            <a:lstStyle xmlns:a="http://schemas.openxmlformats.org/drawingml/2006/main"/>
            <a:p xmlns:a="http://schemas.openxmlformats.org/drawingml/2006/main">
              <a:pPr>
                <a:defRPr sz="1725" b="1">
                  <a:solidFill>
                    <a:srgbClr val="F7F4EE"/>
                  </a:solidFil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A0ABB5"/>
            </a:solidFill>
          </a:ln>
        </c:spPr>
        <c:txPr>
          <a:bodyPr xmlns:a="http://schemas.openxmlformats.org/drawingml/2006/main" anchorCtr="1"/>
          <a:lstStyle xmlns:a="http://schemas.openxmlformats.org/drawingml/2006/main"/>
          <a:p xmlns:a="http://schemas.openxmlformats.org/drawingml/2006/main">
            <a:pPr>
              <a:defRPr sz="1500">
                <a:solidFill>
                  <a:srgbClr val="D8D3CB"/>
                </a:solidFill>
              </a:defRPr>
            </a:pPr>
          </a:p>
        </c:txPr>
        <c:crossAx val="48672768"/>
      </c:catAx>
      <c:valAx>
        <c:axId val="48672768"/>
        <c:scaling>
          <c:orientation val="minMax"/>
          <c:max val="105"/>
          <c:min val="0"/>
        </c:scaling>
        <c:delete val="0"/>
        <c:axPos val="l"/>
        <c:majorGridlines>
          <c:spPr>
            <a:ln xmlns:a="http://schemas.openxmlformats.org/drawingml/2006/main" w="9525">
              <a:solidFill>
                <a:srgbClr val="30404F"/>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D8D3CB"/>
                </a:solidFill>
              </a:defRPr>
            </a:pPr>
          </a:p>
        </c:txPr>
        <c:crossAx val="48650112"/>
        <c:crossBetween val="between"/>
      </c:valAx>
      <c:spPr>
        <a:solidFill xmlns:a="http://schemas.openxmlformats.org/drawingml/2006/main">
          <a:srgbClr val="0E1822"/>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D8D3CB"/>
              </a:solidFill>
            </a:defRPr>
          </a:pPr>
        </a:p>
      </c:txPr>
    </c:legend>
    <c:plotVisOnly val="1"/>
  </c:chart>
  <c:spPr>
    <a:solidFill xmlns:a="http://schemas.openxmlformats.org/drawingml/2006/main">
      <a:srgbClr val="0E1822"/>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EMBEDDED SYSTEMS   /   FINAL DA3 REVIEW">
            <a:extLst xmlns:a="http://schemas.openxmlformats.org/drawingml/2006/main">
              <a:ext uri="{FF2B5EF4-FFF2-40B4-BE49-F238E27FC236}">
                <a16:creationId xmlns:a16="http://schemas.microsoft.com/office/drawing/2014/main" id="{3D279163-BDC9-451B-9BA5-3560BB543DE1}"/>
              </a:ext>
            </a:extLst>
          </p:cNvPr>
          <p:cNvSpPr>
            <a:spLocks xmlns:a="http://schemas.openxmlformats.org/drawingml/2006/main" noGrp="1"/>
          </p:cNvSpPr>
          <p:nvPr/>
        </p:nvSpPr>
        <p:spPr>
          <a:xfrm xmlns:a="http://schemas.openxmlformats.org/drawingml/2006/main">
            <a:off x="762000" y="8763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A0ABB5"/>
                </a:solidFill>
              </a:defRPr>
            </a:defPPr>
            <a:lvl1pPr>
              <a:defRPr sz="1425" b="0">
                <a:solidFill>
                  <a:srgbClr val="A0ABB5"/>
                </a:solidFill>
              </a:defRPr>
            </a:lvl1pPr>
            <a:lvl2pPr>
              <a:defRPr sz="1425" b="0">
                <a:solidFill>
                  <a:srgbClr val="A0ABB5"/>
                </a:solidFill>
              </a:defRPr>
            </a:lvl2pPr>
            <a:lvl3pPr>
              <a:defRPr sz="1425" b="0">
                <a:solidFill>
                  <a:srgbClr val="A0ABB5"/>
                </a:solidFill>
              </a:defRPr>
            </a:lvl3pPr>
            <a:lvl4pPr>
              <a:defRPr sz="1425" b="0">
                <a:solidFill>
                  <a:srgbClr val="A0ABB5"/>
                </a:solidFill>
              </a:defRPr>
            </a:lvl4pPr>
            <a:lvl5pPr>
              <a:defRPr sz="1425" b="0">
                <a:solidFill>
                  <a:srgbClr val="A0ABB5"/>
                </a:solidFill>
              </a:defRPr>
            </a:lvl5pPr>
            <a:lvl6pPr>
              <a:defRPr sz="1425" b="0">
                <a:solidFill>
                  <a:srgbClr val="A0ABB5"/>
                </a:solidFill>
              </a:defRPr>
            </a:lvl6pPr>
            <a:lvl7pPr>
              <a:defRPr sz="1425" b="0">
                <a:solidFill>
                  <a:srgbClr val="A0ABB5"/>
                </a:solidFill>
              </a:defRPr>
            </a:lvl7pPr>
            <a:lvl8pPr>
              <a:defRPr sz="1425" b="0">
                <a:solidFill>
                  <a:srgbClr val="A0ABB5"/>
                </a:solidFill>
              </a:defRPr>
            </a:lvl8pPr>
            <a:lvl9pPr>
              <a:defRPr sz="1425" b="0">
                <a:solidFill>
                  <a:srgbClr val="A0ABB5"/>
                </a:solidFill>
              </a:defRPr>
            </a:lvl9pPr>
          </a:lstStyle>
          <a:p xmlns:a="http://schemas.openxmlformats.org/drawingml/2006/main">
            <a:pPr>
              <a:defRPr sz="1425" b="0">
                <a:solidFill>
                  <a:srgbClr val="A0ABB5"/>
                </a:solidFill>
              </a:defRPr>
            </a:pPr>
            <a:r>
              <a:rPr sz="1425" b="0">
                <a:solidFill>
                  <a:srgbClr val="A0ABB5"/>
                </a:solidFill>
              </a:rPr>
              <a:t>EMBEDDED SYSTEMS   /   FINAL DA3 REVIEW</a:t>
            </a:r>
          </a:p>
        </p:txBody>
      </p:sp>
      <p:sp>
        <p:nvSpPr>
          <p:cNvPr id="3" name="ESP32 RL&#10;Load Balancer">
            <a:extLst xmlns:a="http://schemas.openxmlformats.org/drawingml/2006/main">
              <a:ext uri="{FF2B5EF4-FFF2-40B4-BE49-F238E27FC236}">
                <a16:creationId xmlns:a16="http://schemas.microsoft.com/office/drawing/2014/main" id="{2EF9DA63-6AA5-48E4-A5C4-18C33D0DDD14}"/>
              </a:ext>
            </a:extLst>
          </p:cNvPr>
          <p:cNvSpPr>
            <a:spLocks xmlns:a="http://schemas.openxmlformats.org/drawingml/2006/main" noGrp="1"/>
          </p:cNvSpPr>
          <p:nvPr/>
        </p:nvSpPr>
        <p:spPr>
          <a:xfrm xmlns:a="http://schemas.openxmlformats.org/drawingml/2006/main">
            <a:off x="762000" y="1600200"/>
            <a:ext cx="1066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850" b="1">
                <a:solidFill>
                  <a:srgbClr val="F7F4EE"/>
                </a:solidFill>
              </a:defRPr>
            </a:defPPr>
            <a:lvl1pPr>
              <a:defRPr sz="5850" b="1">
                <a:solidFill>
                  <a:srgbClr val="F7F4EE"/>
                </a:solidFill>
              </a:defRPr>
            </a:lvl1pPr>
            <a:lvl2pPr>
              <a:defRPr sz="5850" b="1">
                <a:solidFill>
                  <a:srgbClr val="F7F4EE"/>
                </a:solidFill>
              </a:defRPr>
            </a:lvl2pPr>
            <a:lvl3pPr>
              <a:defRPr sz="5850" b="1">
                <a:solidFill>
                  <a:srgbClr val="F7F4EE"/>
                </a:solidFill>
              </a:defRPr>
            </a:lvl3pPr>
            <a:lvl4pPr>
              <a:defRPr sz="5850" b="1">
                <a:solidFill>
                  <a:srgbClr val="F7F4EE"/>
                </a:solidFill>
              </a:defRPr>
            </a:lvl4pPr>
            <a:lvl5pPr>
              <a:defRPr sz="5850" b="1">
                <a:solidFill>
                  <a:srgbClr val="F7F4EE"/>
                </a:solidFill>
              </a:defRPr>
            </a:lvl5pPr>
            <a:lvl6pPr>
              <a:defRPr sz="5850" b="1">
                <a:solidFill>
                  <a:srgbClr val="F7F4EE"/>
                </a:solidFill>
              </a:defRPr>
            </a:lvl6pPr>
            <a:lvl7pPr>
              <a:defRPr sz="5850" b="1">
                <a:solidFill>
                  <a:srgbClr val="F7F4EE"/>
                </a:solidFill>
              </a:defRPr>
            </a:lvl7pPr>
            <a:lvl8pPr>
              <a:defRPr sz="5850" b="1">
                <a:solidFill>
                  <a:srgbClr val="F7F4EE"/>
                </a:solidFill>
              </a:defRPr>
            </a:lvl8pPr>
            <a:lvl9pPr>
              <a:defRPr sz="5850" b="1">
                <a:solidFill>
                  <a:srgbClr val="F7F4EE"/>
                </a:solidFill>
              </a:defRPr>
            </a:lvl9pPr>
          </a:lstStyle>
          <a:p xmlns:a="http://schemas.openxmlformats.org/drawingml/2006/main">
            <a:pPr>
              <a:defRPr sz="5850" b="1">
                <a:solidFill>
                  <a:srgbClr val="F7F4EE"/>
                </a:solidFill>
              </a:defRPr>
            </a:pPr>
            <a:r>
              <a:rPr sz="5850" b="1">
                <a:solidFill>
                  <a:srgbClr val="F7F4EE"/>
                </a:solidFill>
              </a:rPr>
              <a:t>ESP32 RL</a:t>
            </a:r>
          </a:p>
          <a:p xmlns:a="http://schemas.openxmlformats.org/drawingml/2006/main">
            <a:pPr>
              <a:defRPr sz="5850" b="1">
                <a:solidFill>
                  <a:srgbClr val="F7F4EE"/>
                </a:solidFill>
              </a:defRPr>
            </a:pPr>
            <a:r>
              <a:rPr sz="5850" b="1">
                <a:solidFill>
                  <a:srgbClr val="F7F4EE"/>
                </a:solidFill>
              </a:rPr>
              <a:t>Load Balancer</a:t>
            </a:r>
          </a:p>
        </p:txBody>
      </p:sp>
      <p:sp>
        <p:nvSpPr>
          <p:cNvPr id="4" name="Adaptive traffic routing on an ESP32">
            <a:extLst xmlns:a="http://schemas.openxmlformats.org/drawingml/2006/main">
              <a:ext uri="{FF2B5EF4-FFF2-40B4-BE49-F238E27FC236}">
                <a16:creationId xmlns:a16="http://schemas.microsoft.com/office/drawing/2014/main" id="{7A4ABB9C-FD3C-478A-A856-F4CEEC86F2FB}"/>
              </a:ext>
            </a:extLst>
          </p:cNvPr>
          <p:cNvSpPr>
            <a:spLocks xmlns:a="http://schemas.openxmlformats.org/drawingml/2006/main" noGrp="1"/>
          </p:cNvSpPr>
          <p:nvPr/>
        </p:nvSpPr>
        <p:spPr>
          <a:xfrm xmlns:a="http://schemas.openxmlformats.org/drawingml/2006/main">
            <a:off x="762000" y="39147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E16A3D"/>
                </a:solidFill>
              </a:defRPr>
            </a:defPPr>
            <a:lvl1pPr>
              <a:defRPr sz="2325" b="1">
                <a:solidFill>
                  <a:srgbClr val="E16A3D"/>
                </a:solidFill>
              </a:defRPr>
            </a:lvl1pPr>
            <a:lvl2pPr>
              <a:defRPr sz="2325" b="1">
                <a:solidFill>
                  <a:srgbClr val="E16A3D"/>
                </a:solidFill>
              </a:defRPr>
            </a:lvl2pPr>
            <a:lvl3pPr>
              <a:defRPr sz="2325" b="1">
                <a:solidFill>
                  <a:srgbClr val="E16A3D"/>
                </a:solidFill>
              </a:defRPr>
            </a:lvl3pPr>
            <a:lvl4pPr>
              <a:defRPr sz="2325" b="1">
                <a:solidFill>
                  <a:srgbClr val="E16A3D"/>
                </a:solidFill>
              </a:defRPr>
            </a:lvl4pPr>
            <a:lvl5pPr>
              <a:defRPr sz="2325" b="1">
                <a:solidFill>
                  <a:srgbClr val="E16A3D"/>
                </a:solidFill>
              </a:defRPr>
            </a:lvl5pPr>
            <a:lvl6pPr>
              <a:defRPr sz="2325" b="1">
                <a:solidFill>
                  <a:srgbClr val="E16A3D"/>
                </a:solidFill>
              </a:defRPr>
            </a:lvl6pPr>
            <a:lvl7pPr>
              <a:defRPr sz="2325" b="1">
                <a:solidFill>
                  <a:srgbClr val="E16A3D"/>
                </a:solidFill>
              </a:defRPr>
            </a:lvl7pPr>
            <a:lvl8pPr>
              <a:defRPr sz="2325" b="1">
                <a:solidFill>
                  <a:srgbClr val="E16A3D"/>
                </a:solidFill>
              </a:defRPr>
            </a:lvl8pPr>
            <a:lvl9pPr>
              <a:defRPr sz="2325" b="1">
                <a:solidFill>
                  <a:srgbClr val="E16A3D"/>
                </a:solidFill>
              </a:defRPr>
            </a:lvl9pPr>
          </a:lstStyle>
          <a:p xmlns:a="http://schemas.openxmlformats.org/drawingml/2006/main">
            <a:pPr>
              <a:defRPr sz="2325" b="1">
                <a:solidFill>
                  <a:srgbClr val="E16A3D"/>
                </a:solidFill>
              </a:defRPr>
            </a:pPr>
            <a:r>
              <a:rPr sz="2325" b="1">
                <a:solidFill>
                  <a:srgbClr val="E16A3D"/>
                </a:solidFill>
              </a:rPr>
              <a:t>Adaptive traffic routing on an ESP32</a:t>
            </a:r>
          </a:p>
        </p:txBody>
      </p:sp>
      <p:sp>
        <p:nvSpPr>
          <p:cNvPr id="5" name="On-device Q-learning with a flash-sale demonstration">
            <a:extLst xmlns:a="http://schemas.openxmlformats.org/drawingml/2006/main">
              <a:ext uri="{FF2B5EF4-FFF2-40B4-BE49-F238E27FC236}">
                <a16:creationId xmlns:a16="http://schemas.microsoft.com/office/drawing/2014/main" id="{2D2D043E-AF23-45AB-AC57-75390CA74C9C}"/>
              </a:ext>
            </a:extLst>
          </p:cNvPr>
          <p:cNvSpPr>
            <a:spLocks xmlns:a="http://schemas.openxmlformats.org/drawingml/2006/main" noGrp="1"/>
          </p:cNvSpPr>
          <p:nvPr/>
        </p:nvSpPr>
        <p:spPr>
          <a:xfrm xmlns:a="http://schemas.openxmlformats.org/drawingml/2006/main">
            <a:off x="762000" y="4524375"/>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D8D3CB"/>
                </a:solidFill>
              </a:defRPr>
            </a:defPPr>
            <a:lvl1pPr>
              <a:defRPr sz="2025" b="0">
                <a:solidFill>
                  <a:srgbClr val="D8D3CB"/>
                </a:solidFill>
              </a:defRPr>
            </a:lvl1pPr>
            <a:lvl2pPr>
              <a:defRPr sz="2025" b="0">
                <a:solidFill>
                  <a:srgbClr val="D8D3CB"/>
                </a:solidFill>
              </a:defRPr>
            </a:lvl2pPr>
            <a:lvl3pPr>
              <a:defRPr sz="2025" b="0">
                <a:solidFill>
                  <a:srgbClr val="D8D3CB"/>
                </a:solidFill>
              </a:defRPr>
            </a:lvl3pPr>
            <a:lvl4pPr>
              <a:defRPr sz="2025" b="0">
                <a:solidFill>
                  <a:srgbClr val="D8D3CB"/>
                </a:solidFill>
              </a:defRPr>
            </a:lvl4pPr>
            <a:lvl5pPr>
              <a:defRPr sz="2025" b="0">
                <a:solidFill>
                  <a:srgbClr val="D8D3CB"/>
                </a:solidFill>
              </a:defRPr>
            </a:lvl5pPr>
            <a:lvl6pPr>
              <a:defRPr sz="2025" b="0">
                <a:solidFill>
                  <a:srgbClr val="D8D3CB"/>
                </a:solidFill>
              </a:defRPr>
            </a:lvl6pPr>
            <a:lvl7pPr>
              <a:defRPr sz="2025" b="0">
                <a:solidFill>
                  <a:srgbClr val="D8D3CB"/>
                </a:solidFill>
              </a:defRPr>
            </a:lvl7pPr>
            <a:lvl8pPr>
              <a:defRPr sz="2025" b="0">
                <a:solidFill>
                  <a:srgbClr val="D8D3CB"/>
                </a:solidFill>
              </a:defRPr>
            </a:lvl8pPr>
            <a:lvl9pPr>
              <a:defRPr sz="2025" b="0">
                <a:solidFill>
                  <a:srgbClr val="D8D3CB"/>
                </a:solidFill>
              </a:defRPr>
            </a:lvl9pPr>
          </a:lstStyle>
          <a:p xmlns:a="http://schemas.openxmlformats.org/drawingml/2006/main">
            <a:pPr>
              <a:defRPr sz="2025" b="0">
                <a:solidFill>
                  <a:srgbClr val="D8D3CB"/>
                </a:solidFill>
              </a:defRPr>
            </a:pPr>
            <a:r>
              <a:rPr sz="2025" b="0">
                <a:solidFill>
                  <a:srgbClr val="D8D3CB"/>
                </a:solidFill>
              </a:rPr>
              <a:t>On-device Q-learning with a flash-sale demonstration</a:t>
            </a:r>
          </a:p>
        </p:txBody>
      </p:sp>
      <p:sp>
        <p:nvSpPr>
          <p:cNvPr id="6" name="Final implementation and evaluation">
            <a:extLst xmlns:a="http://schemas.openxmlformats.org/drawingml/2006/main">
              <a:ext uri="{FF2B5EF4-FFF2-40B4-BE49-F238E27FC236}">
                <a16:creationId xmlns:a16="http://schemas.microsoft.com/office/drawing/2014/main" id="{43C1F827-FB6D-47C1-B993-A63D345B13C8}"/>
              </a:ext>
            </a:extLst>
          </p:cNvPr>
          <p:cNvSpPr>
            <a:spLocks xmlns:a="http://schemas.openxmlformats.org/drawingml/2006/main" noGrp="1"/>
          </p:cNvSpPr>
          <p:nvPr/>
        </p:nvSpPr>
        <p:spPr>
          <a:xfrm xmlns:a="http://schemas.openxmlformats.org/drawingml/2006/main">
            <a:off x="762000" y="577215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A0ABB5"/>
                </a:solidFill>
              </a:defRPr>
            </a:defPPr>
            <a:lvl1pPr>
              <a:defRPr sz="1575" b="0">
                <a:solidFill>
                  <a:srgbClr val="A0ABB5"/>
                </a:solidFill>
              </a:defRPr>
            </a:lvl1pPr>
            <a:lvl2pPr>
              <a:defRPr sz="1575" b="0">
                <a:solidFill>
                  <a:srgbClr val="A0ABB5"/>
                </a:solidFill>
              </a:defRPr>
            </a:lvl2pPr>
            <a:lvl3pPr>
              <a:defRPr sz="1575" b="0">
                <a:solidFill>
                  <a:srgbClr val="A0ABB5"/>
                </a:solidFill>
              </a:defRPr>
            </a:lvl3pPr>
            <a:lvl4pPr>
              <a:defRPr sz="1575" b="0">
                <a:solidFill>
                  <a:srgbClr val="A0ABB5"/>
                </a:solidFill>
              </a:defRPr>
            </a:lvl4pPr>
            <a:lvl5pPr>
              <a:defRPr sz="1575" b="0">
                <a:solidFill>
                  <a:srgbClr val="A0ABB5"/>
                </a:solidFill>
              </a:defRPr>
            </a:lvl5pPr>
            <a:lvl6pPr>
              <a:defRPr sz="1575" b="0">
                <a:solidFill>
                  <a:srgbClr val="A0ABB5"/>
                </a:solidFill>
              </a:defRPr>
            </a:lvl6pPr>
            <a:lvl7pPr>
              <a:defRPr sz="1575" b="0">
                <a:solidFill>
                  <a:srgbClr val="A0ABB5"/>
                </a:solidFill>
              </a:defRPr>
            </a:lvl7pPr>
            <a:lvl8pPr>
              <a:defRPr sz="1575" b="0">
                <a:solidFill>
                  <a:srgbClr val="A0ABB5"/>
                </a:solidFill>
              </a:defRPr>
            </a:lvl8pPr>
            <a:lvl9pPr>
              <a:defRPr sz="1575" b="0">
                <a:solidFill>
                  <a:srgbClr val="A0ABB5"/>
                </a:solidFill>
              </a:defRPr>
            </a:lvl9pPr>
          </a:lstStyle>
          <a:p xmlns:a="http://schemas.openxmlformats.org/drawingml/2006/main">
            <a:pPr>
              <a:defRPr sz="1575" b="0">
                <a:solidFill>
                  <a:srgbClr val="A0ABB5"/>
                </a:solidFill>
              </a:defRPr>
            </a:pPr>
            <a:r>
              <a:rPr sz="1575" b="0">
                <a:solidFill>
                  <a:srgbClr val="A0ABB5"/>
                </a:solidFill>
              </a:rPr>
              <a:t>Final implementation and evaluation</a:t>
            </a:r>
          </a:p>
        </p:txBody>
      </p:sp>
    </p:spTree>
    <p:extLst>
      <p:ext uri="{BB962C8B-B14F-4D97-AF65-F5344CB8AC3E}">
        <p14:creationId xmlns:p14="http://schemas.microsoft.com/office/powerpoint/2010/main" val="130802491"/>
      </p:ext>
    </p:extLst>
  </p:cSld>
</p:sld>
</file>

<file path=ppt/slides/slide2.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FINAL DA3 REVIEW">
            <a:extLst xmlns:a="http://schemas.openxmlformats.org/drawingml/2006/main">
              <a:ext uri="{FF2B5EF4-FFF2-40B4-BE49-F238E27FC236}">
                <a16:creationId xmlns:a16="http://schemas.microsoft.com/office/drawing/2014/main" id="{1D512E1E-4E04-42FB-B2C4-F98C93BA79B2}"/>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FINAL DA3 REVIEW</a:t>
            </a:r>
          </a:p>
        </p:txBody>
      </p:sp>
      <p:sp>
        <p:nvSpPr>
          <p:cNvPr id="3" name="Project team">
            <a:extLst xmlns:a="http://schemas.openxmlformats.org/drawingml/2006/main">
              <a:ext uri="{FF2B5EF4-FFF2-40B4-BE49-F238E27FC236}">
                <a16:creationId xmlns:a16="http://schemas.microsoft.com/office/drawing/2014/main" id="{7DD7A7F8-5CF6-4BBB-817E-C924A11ECEA7}"/>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Project team</a:t>
            </a:r>
          </a:p>
        </p:txBody>
      </p:sp>
      <p:sp>
        <p:nvSpPr>
          <p:cNvPr id="4" name="02">
            <a:extLst xmlns:a="http://schemas.openxmlformats.org/drawingml/2006/main">
              <a:ext uri="{FF2B5EF4-FFF2-40B4-BE49-F238E27FC236}">
                <a16:creationId xmlns:a16="http://schemas.microsoft.com/office/drawing/2014/main" id="{DD13B94B-CED3-4346-8CD8-CDE0A1559845}"/>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02</a:t>
            </a:r>
          </a:p>
        </p:txBody>
      </p:sp>
      <p:sp>
        <p:nvSpPr>
          <p:cNvPr id="5" name="Bhuvan Bharat Nayak">
            <a:extLst xmlns:a="http://schemas.openxmlformats.org/drawingml/2006/main">
              <a:ext uri="{FF2B5EF4-FFF2-40B4-BE49-F238E27FC236}">
                <a16:creationId xmlns:a16="http://schemas.microsoft.com/office/drawing/2014/main" id="{F50A37AE-3436-4453-AFD4-0AA2B29B8720}"/>
              </a:ext>
            </a:extLst>
          </p:cNvPr>
          <p:cNvSpPr>
            <a:spLocks xmlns:a="http://schemas.openxmlformats.org/drawingml/2006/main" noGrp="1"/>
          </p:cNvSpPr>
          <p:nvPr/>
        </p:nvSpPr>
        <p:spPr>
          <a:xfrm xmlns:a="http://schemas.openxmlformats.org/drawingml/2006/main">
            <a:off x="762000" y="2143125"/>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7F4EE"/>
                </a:solidFill>
              </a:defRPr>
            </a:defPPr>
            <a:lvl1pPr>
              <a:defRPr sz="2475" b="1">
                <a:solidFill>
                  <a:srgbClr val="F7F4EE"/>
                </a:solidFill>
              </a:defRPr>
            </a:lvl1pPr>
            <a:lvl2pPr>
              <a:defRPr sz="2475" b="1">
                <a:solidFill>
                  <a:srgbClr val="F7F4EE"/>
                </a:solidFill>
              </a:defRPr>
            </a:lvl2pPr>
            <a:lvl3pPr>
              <a:defRPr sz="2475" b="1">
                <a:solidFill>
                  <a:srgbClr val="F7F4EE"/>
                </a:solidFill>
              </a:defRPr>
            </a:lvl3pPr>
            <a:lvl4pPr>
              <a:defRPr sz="2475" b="1">
                <a:solidFill>
                  <a:srgbClr val="F7F4EE"/>
                </a:solidFill>
              </a:defRPr>
            </a:lvl4pPr>
            <a:lvl5pPr>
              <a:defRPr sz="2475" b="1">
                <a:solidFill>
                  <a:srgbClr val="F7F4EE"/>
                </a:solidFill>
              </a:defRPr>
            </a:lvl5pPr>
            <a:lvl6pPr>
              <a:defRPr sz="2475" b="1">
                <a:solidFill>
                  <a:srgbClr val="F7F4EE"/>
                </a:solidFill>
              </a:defRPr>
            </a:lvl6pPr>
            <a:lvl7pPr>
              <a:defRPr sz="2475" b="1">
                <a:solidFill>
                  <a:srgbClr val="F7F4EE"/>
                </a:solidFill>
              </a:defRPr>
            </a:lvl7pPr>
            <a:lvl8pPr>
              <a:defRPr sz="2475" b="1">
                <a:solidFill>
                  <a:srgbClr val="F7F4EE"/>
                </a:solidFill>
              </a:defRPr>
            </a:lvl8pPr>
            <a:lvl9pPr>
              <a:defRPr sz="2475" b="1">
                <a:solidFill>
                  <a:srgbClr val="F7F4EE"/>
                </a:solidFill>
              </a:defRPr>
            </a:lvl9pPr>
          </a:lstStyle>
          <a:p xmlns:a="http://schemas.openxmlformats.org/drawingml/2006/main">
            <a:pPr>
              <a:defRPr sz="2475" b="1">
                <a:solidFill>
                  <a:srgbClr val="F7F4EE"/>
                </a:solidFill>
              </a:defRPr>
            </a:pPr>
            <a:r>
              <a:rPr sz="2475" b="1">
                <a:solidFill>
                  <a:srgbClr val="F7F4EE"/>
                </a:solidFill>
              </a:rPr>
              <a:t>Bhuvan Bharat Nayak</a:t>
            </a:r>
          </a:p>
        </p:txBody>
      </p:sp>
      <p:sp>
        <p:nvSpPr>
          <p:cNvPr id="6" name="24BCE5549">
            <a:extLst xmlns:a="http://schemas.openxmlformats.org/drawingml/2006/main">
              <a:ext uri="{FF2B5EF4-FFF2-40B4-BE49-F238E27FC236}">
                <a16:creationId xmlns:a16="http://schemas.microsoft.com/office/drawing/2014/main" id="{8A7FADE9-F05F-462E-BE34-1C6D2C217790}"/>
              </a:ext>
            </a:extLst>
          </p:cNvPr>
          <p:cNvSpPr>
            <a:spLocks xmlns:a="http://schemas.openxmlformats.org/drawingml/2006/main" noGrp="1"/>
          </p:cNvSpPr>
          <p:nvPr/>
        </p:nvSpPr>
        <p:spPr>
          <a:xfrm xmlns:a="http://schemas.openxmlformats.org/drawingml/2006/main">
            <a:off x="8763000" y="21717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E16A3D"/>
                </a:solidFill>
              </a:defRPr>
            </a:defPPr>
            <a:lvl1pPr>
              <a:defRPr sz="2100" b="0">
                <a:solidFill>
                  <a:srgbClr val="E16A3D"/>
                </a:solidFill>
              </a:defRPr>
            </a:lvl1pPr>
            <a:lvl2pPr>
              <a:defRPr sz="2100" b="0">
                <a:solidFill>
                  <a:srgbClr val="E16A3D"/>
                </a:solidFill>
              </a:defRPr>
            </a:lvl2pPr>
            <a:lvl3pPr>
              <a:defRPr sz="2100" b="0">
                <a:solidFill>
                  <a:srgbClr val="E16A3D"/>
                </a:solidFill>
              </a:defRPr>
            </a:lvl3pPr>
            <a:lvl4pPr>
              <a:defRPr sz="2100" b="0">
                <a:solidFill>
                  <a:srgbClr val="E16A3D"/>
                </a:solidFill>
              </a:defRPr>
            </a:lvl4pPr>
            <a:lvl5pPr>
              <a:defRPr sz="2100" b="0">
                <a:solidFill>
                  <a:srgbClr val="E16A3D"/>
                </a:solidFill>
              </a:defRPr>
            </a:lvl5pPr>
            <a:lvl6pPr>
              <a:defRPr sz="2100" b="0">
                <a:solidFill>
                  <a:srgbClr val="E16A3D"/>
                </a:solidFill>
              </a:defRPr>
            </a:lvl6pPr>
            <a:lvl7pPr>
              <a:defRPr sz="2100" b="0">
                <a:solidFill>
                  <a:srgbClr val="E16A3D"/>
                </a:solidFill>
              </a:defRPr>
            </a:lvl7pPr>
            <a:lvl8pPr>
              <a:defRPr sz="2100" b="0">
                <a:solidFill>
                  <a:srgbClr val="E16A3D"/>
                </a:solidFill>
              </a:defRPr>
            </a:lvl8pPr>
            <a:lvl9pPr>
              <a:defRPr sz="2100" b="0">
                <a:solidFill>
                  <a:srgbClr val="E16A3D"/>
                </a:solidFill>
              </a:defRPr>
            </a:lvl9pPr>
          </a:lstStyle>
          <a:p xmlns:a="http://schemas.openxmlformats.org/drawingml/2006/main">
            <a:pPr>
              <a:defRPr sz="2100" b="0">
                <a:solidFill>
                  <a:srgbClr val="E16A3D"/>
                </a:solidFill>
              </a:defRPr>
            </a:pPr>
            <a:r>
              <a:rPr sz="2100" b="0">
                <a:solidFill>
                  <a:srgbClr val="E16A3D"/>
                </a:solidFill>
              </a:rPr>
              <a:t>24BCE5549</a:t>
            </a:r>
          </a:p>
        </p:txBody>
      </p:sp>
      <p:sp>
        <p:nvSpPr>
          <p:cNvPr id="7" name="Siddharth Sameer Nevgi">
            <a:extLst xmlns:a="http://schemas.openxmlformats.org/drawingml/2006/main">
              <a:ext uri="{FF2B5EF4-FFF2-40B4-BE49-F238E27FC236}">
                <a16:creationId xmlns:a16="http://schemas.microsoft.com/office/drawing/2014/main" id="{2595602A-DF7A-4F96-A9FF-3BA7336D0A9B}"/>
              </a:ext>
            </a:extLst>
          </p:cNvPr>
          <p:cNvSpPr>
            <a:spLocks xmlns:a="http://schemas.openxmlformats.org/drawingml/2006/main" noGrp="1"/>
          </p:cNvSpPr>
          <p:nvPr/>
        </p:nvSpPr>
        <p:spPr>
          <a:xfrm xmlns:a="http://schemas.openxmlformats.org/drawingml/2006/main">
            <a:off x="762000" y="3009900"/>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7F4EE"/>
                </a:solidFill>
              </a:defRPr>
            </a:defPPr>
            <a:lvl1pPr>
              <a:defRPr sz="2475" b="1">
                <a:solidFill>
                  <a:srgbClr val="F7F4EE"/>
                </a:solidFill>
              </a:defRPr>
            </a:lvl1pPr>
            <a:lvl2pPr>
              <a:defRPr sz="2475" b="1">
                <a:solidFill>
                  <a:srgbClr val="F7F4EE"/>
                </a:solidFill>
              </a:defRPr>
            </a:lvl2pPr>
            <a:lvl3pPr>
              <a:defRPr sz="2475" b="1">
                <a:solidFill>
                  <a:srgbClr val="F7F4EE"/>
                </a:solidFill>
              </a:defRPr>
            </a:lvl3pPr>
            <a:lvl4pPr>
              <a:defRPr sz="2475" b="1">
                <a:solidFill>
                  <a:srgbClr val="F7F4EE"/>
                </a:solidFill>
              </a:defRPr>
            </a:lvl4pPr>
            <a:lvl5pPr>
              <a:defRPr sz="2475" b="1">
                <a:solidFill>
                  <a:srgbClr val="F7F4EE"/>
                </a:solidFill>
              </a:defRPr>
            </a:lvl5pPr>
            <a:lvl6pPr>
              <a:defRPr sz="2475" b="1">
                <a:solidFill>
                  <a:srgbClr val="F7F4EE"/>
                </a:solidFill>
              </a:defRPr>
            </a:lvl6pPr>
            <a:lvl7pPr>
              <a:defRPr sz="2475" b="1">
                <a:solidFill>
                  <a:srgbClr val="F7F4EE"/>
                </a:solidFill>
              </a:defRPr>
            </a:lvl7pPr>
            <a:lvl8pPr>
              <a:defRPr sz="2475" b="1">
                <a:solidFill>
                  <a:srgbClr val="F7F4EE"/>
                </a:solidFill>
              </a:defRPr>
            </a:lvl8pPr>
            <a:lvl9pPr>
              <a:defRPr sz="2475" b="1">
                <a:solidFill>
                  <a:srgbClr val="F7F4EE"/>
                </a:solidFill>
              </a:defRPr>
            </a:lvl9pPr>
          </a:lstStyle>
          <a:p xmlns:a="http://schemas.openxmlformats.org/drawingml/2006/main">
            <a:pPr>
              <a:defRPr sz="2475" b="1">
                <a:solidFill>
                  <a:srgbClr val="F7F4EE"/>
                </a:solidFill>
              </a:defRPr>
            </a:pPr>
            <a:r>
              <a:rPr sz="2475" b="1">
                <a:solidFill>
                  <a:srgbClr val="F7F4EE"/>
                </a:solidFill>
              </a:rPr>
              <a:t>Siddharth Sameer Nevgi</a:t>
            </a:r>
          </a:p>
        </p:txBody>
      </p:sp>
      <p:sp>
        <p:nvSpPr>
          <p:cNvPr id="8" name="24BCE5550">
            <a:extLst xmlns:a="http://schemas.openxmlformats.org/drawingml/2006/main">
              <a:ext uri="{FF2B5EF4-FFF2-40B4-BE49-F238E27FC236}">
                <a16:creationId xmlns:a16="http://schemas.microsoft.com/office/drawing/2014/main" id="{B0C8FD9A-875C-4F9F-8CAE-A2E9C9A773B9}"/>
              </a:ext>
            </a:extLst>
          </p:cNvPr>
          <p:cNvSpPr>
            <a:spLocks xmlns:a="http://schemas.openxmlformats.org/drawingml/2006/main" noGrp="1"/>
          </p:cNvSpPr>
          <p:nvPr/>
        </p:nvSpPr>
        <p:spPr>
          <a:xfrm xmlns:a="http://schemas.openxmlformats.org/drawingml/2006/main">
            <a:off x="8763000" y="30384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E16A3D"/>
                </a:solidFill>
              </a:defRPr>
            </a:defPPr>
            <a:lvl1pPr>
              <a:defRPr sz="2100" b="0">
                <a:solidFill>
                  <a:srgbClr val="E16A3D"/>
                </a:solidFill>
              </a:defRPr>
            </a:lvl1pPr>
            <a:lvl2pPr>
              <a:defRPr sz="2100" b="0">
                <a:solidFill>
                  <a:srgbClr val="E16A3D"/>
                </a:solidFill>
              </a:defRPr>
            </a:lvl2pPr>
            <a:lvl3pPr>
              <a:defRPr sz="2100" b="0">
                <a:solidFill>
                  <a:srgbClr val="E16A3D"/>
                </a:solidFill>
              </a:defRPr>
            </a:lvl3pPr>
            <a:lvl4pPr>
              <a:defRPr sz="2100" b="0">
                <a:solidFill>
                  <a:srgbClr val="E16A3D"/>
                </a:solidFill>
              </a:defRPr>
            </a:lvl4pPr>
            <a:lvl5pPr>
              <a:defRPr sz="2100" b="0">
                <a:solidFill>
                  <a:srgbClr val="E16A3D"/>
                </a:solidFill>
              </a:defRPr>
            </a:lvl5pPr>
            <a:lvl6pPr>
              <a:defRPr sz="2100" b="0">
                <a:solidFill>
                  <a:srgbClr val="E16A3D"/>
                </a:solidFill>
              </a:defRPr>
            </a:lvl6pPr>
            <a:lvl7pPr>
              <a:defRPr sz="2100" b="0">
                <a:solidFill>
                  <a:srgbClr val="E16A3D"/>
                </a:solidFill>
              </a:defRPr>
            </a:lvl7pPr>
            <a:lvl8pPr>
              <a:defRPr sz="2100" b="0">
                <a:solidFill>
                  <a:srgbClr val="E16A3D"/>
                </a:solidFill>
              </a:defRPr>
            </a:lvl8pPr>
            <a:lvl9pPr>
              <a:defRPr sz="2100" b="0">
                <a:solidFill>
                  <a:srgbClr val="E16A3D"/>
                </a:solidFill>
              </a:defRPr>
            </a:lvl9pPr>
          </a:lstStyle>
          <a:p xmlns:a="http://schemas.openxmlformats.org/drawingml/2006/main">
            <a:pPr>
              <a:defRPr sz="2100" b="0">
                <a:solidFill>
                  <a:srgbClr val="E16A3D"/>
                </a:solidFill>
              </a:defRPr>
            </a:pPr>
            <a:r>
              <a:rPr sz="2100" b="0">
                <a:solidFill>
                  <a:srgbClr val="E16A3D"/>
                </a:solidFill>
              </a:rPr>
              <a:t>24BCE5550</a:t>
            </a:r>
          </a:p>
        </p:txBody>
      </p:sp>
      <p:sp>
        <p:nvSpPr>
          <p:cNvPr id="9" name="Abhyuday Vaish">
            <a:extLst xmlns:a="http://schemas.openxmlformats.org/drawingml/2006/main">
              <a:ext uri="{FF2B5EF4-FFF2-40B4-BE49-F238E27FC236}">
                <a16:creationId xmlns:a16="http://schemas.microsoft.com/office/drawing/2014/main" id="{9BC533BC-2E1F-4F79-A658-5A973F544631}"/>
              </a:ext>
            </a:extLst>
          </p:cNvPr>
          <p:cNvSpPr>
            <a:spLocks xmlns:a="http://schemas.openxmlformats.org/drawingml/2006/main" noGrp="1"/>
          </p:cNvSpPr>
          <p:nvPr/>
        </p:nvSpPr>
        <p:spPr>
          <a:xfrm xmlns:a="http://schemas.openxmlformats.org/drawingml/2006/main">
            <a:off x="762000" y="3876675"/>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7F4EE"/>
                </a:solidFill>
              </a:defRPr>
            </a:defPPr>
            <a:lvl1pPr>
              <a:defRPr sz="2475" b="1">
                <a:solidFill>
                  <a:srgbClr val="F7F4EE"/>
                </a:solidFill>
              </a:defRPr>
            </a:lvl1pPr>
            <a:lvl2pPr>
              <a:defRPr sz="2475" b="1">
                <a:solidFill>
                  <a:srgbClr val="F7F4EE"/>
                </a:solidFill>
              </a:defRPr>
            </a:lvl2pPr>
            <a:lvl3pPr>
              <a:defRPr sz="2475" b="1">
                <a:solidFill>
                  <a:srgbClr val="F7F4EE"/>
                </a:solidFill>
              </a:defRPr>
            </a:lvl3pPr>
            <a:lvl4pPr>
              <a:defRPr sz="2475" b="1">
                <a:solidFill>
                  <a:srgbClr val="F7F4EE"/>
                </a:solidFill>
              </a:defRPr>
            </a:lvl4pPr>
            <a:lvl5pPr>
              <a:defRPr sz="2475" b="1">
                <a:solidFill>
                  <a:srgbClr val="F7F4EE"/>
                </a:solidFill>
              </a:defRPr>
            </a:lvl5pPr>
            <a:lvl6pPr>
              <a:defRPr sz="2475" b="1">
                <a:solidFill>
                  <a:srgbClr val="F7F4EE"/>
                </a:solidFill>
              </a:defRPr>
            </a:lvl6pPr>
            <a:lvl7pPr>
              <a:defRPr sz="2475" b="1">
                <a:solidFill>
                  <a:srgbClr val="F7F4EE"/>
                </a:solidFill>
              </a:defRPr>
            </a:lvl7pPr>
            <a:lvl8pPr>
              <a:defRPr sz="2475" b="1">
                <a:solidFill>
                  <a:srgbClr val="F7F4EE"/>
                </a:solidFill>
              </a:defRPr>
            </a:lvl8pPr>
            <a:lvl9pPr>
              <a:defRPr sz="2475" b="1">
                <a:solidFill>
                  <a:srgbClr val="F7F4EE"/>
                </a:solidFill>
              </a:defRPr>
            </a:lvl9pPr>
          </a:lstStyle>
          <a:p xmlns:a="http://schemas.openxmlformats.org/drawingml/2006/main">
            <a:pPr>
              <a:defRPr sz="2475" b="1">
                <a:solidFill>
                  <a:srgbClr val="F7F4EE"/>
                </a:solidFill>
              </a:defRPr>
            </a:pPr>
            <a:r>
              <a:rPr sz="2475" b="1">
                <a:solidFill>
                  <a:srgbClr val="F7F4EE"/>
                </a:solidFill>
              </a:rPr>
              <a:t>Abhyuday Vaish</a:t>
            </a:r>
          </a:p>
        </p:txBody>
      </p:sp>
      <p:sp>
        <p:nvSpPr>
          <p:cNvPr id="10" name="24BCE5561">
            <a:extLst xmlns:a="http://schemas.openxmlformats.org/drawingml/2006/main">
              <a:ext uri="{FF2B5EF4-FFF2-40B4-BE49-F238E27FC236}">
                <a16:creationId xmlns:a16="http://schemas.microsoft.com/office/drawing/2014/main" id="{B26A23E4-7DF0-4471-A6AA-26B3BFFCD96F}"/>
              </a:ext>
            </a:extLst>
          </p:cNvPr>
          <p:cNvSpPr>
            <a:spLocks xmlns:a="http://schemas.openxmlformats.org/drawingml/2006/main" noGrp="1"/>
          </p:cNvSpPr>
          <p:nvPr/>
        </p:nvSpPr>
        <p:spPr>
          <a:xfrm xmlns:a="http://schemas.openxmlformats.org/drawingml/2006/main">
            <a:off x="8763000" y="39052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E16A3D"/>
                </a:solidFill>
              </a:defRPr>
            </a:defPPr>
            <a:lvl1pPr>
              <a:defRPr sz="2100" b="0">
                <a:solidFill>
                  <a:srgbClr val="E16A3D"/>
                </a:solidFill>
              </a:defRPr>
            </a:lvl1pPr>
            <a:lvl2pPr>
              <a:defRPr sz="2100" b="0">
                <a:solidFill>
                  <a:srgbClr val="E16A3D"/>
                </a:solidFill>
              </a:defRPr>
            </a:lvl2pPr>
            <a:lvl3pPr>
              <a:defRPr sz="2100" b="0">
                <a:solidFill>
                  <a:srgbClr val="E16A3D"/>
                </a:solidFill>
              </a:defRPr>
            </a:lvl3pPr>
            <a:lvl4pPr>
              <a:defRPr sz="2100" b="0">
                <a:solidFill>
                  <a:srgbClr val="E16A3D"/>
                </a:solidFill>
              </a:defRPr>
            </a:lvl4pPr>
            <a:lvl5pPr>
              <a:defRPr sz="2100" b="0">
                <a:solidFill>
                  <a:srgbClr val="E16A3D"/>
                </a:solidFill>
              </a:defRPr>
            </a:lvl5pPr>
            <a:lvl6pPr>
              <a:defRPr sz="2100" b="0">
                <a:solidFill>
                  <a:srgbClr val="E16A3D"/>
                </a:solidFill>
              </a:defRPr>
            </a:lvl6pPr>
            <a:lvl7pPr>
              <a:defRPr sz="2100" b="0">
                <a:solidFill>
                  <a:srgbClr val="E16A3D"/>
                </a:solidFill>
              </a:defRPr>
            </a:lvl7pPr>
            <a:lvl8pPr>
              <a:defRPr sz="2100" b="0">
                <a:solidFill>
                  <a:srgbClr val="E16A3D"/>
                </a:solidFill>
              </a:defRPr>
            </a:lvl8pPr>
            <a:lvl9pPr>
              <a:defRPr sz="2100" b="0">
                <a:solidFill>
                  <a:srgbClr val="E16A3D"/>
                </a:solidFill>
              </a:defRPr>
            </a:lvl9pPr>
          </a:lstStyle>
          <a:p xmlns:a="http://schemas.openxmlformats.org/drawingml/2006/main">
            <a:pPr>
              <a:defRPr sz="2100" b="0">
                <a:solidFill>
                  <a:srgbClr val="E16A3D"/>
                </a:solidFill>
              </a:defRPr>
            </a:pPr>
            <a:r>
              <a:rPr sz="2100" b="0">
                <a:solidFill>
                  <a:srgbClr val="E16A3D"/>
                </a:solidFill>
              </a:rPr>
              <a:t>24BCE5561</a:t>
            </a:r>
          </a:p>
        </p:txBody>
      </p:sp>
      <p:sp>
        <p:nvSpPr>
          <p:cNvPr id="11" name="Tanish Somashekhar Desai">
            <a:extLst xmlns:a="http://schemas.openxmlformats.org/drawingml/2006/main">
              <a:ext uri="{FF2B5EF4-FFF2-40B4-BE49-F238E27FC236}">
                <a16:creationId xmlns:a16="http://schemas.microsoft.com/office/drawing/2014/main" id="{5EA223A4-D782-4E73-9F6A-BBF91BCD9709}"/>
              </a:ext>
            </a:extLst>
          </p:cNvPr>
          <p:cNvSpPr>
            <a:spLocks xmlns:a="http://schemas.openxmlformats.org/drawingml/2006/main" noGrp="1"/>
          </p:cNvSpPr>
          <p:nvPr/>
        </p:nvSpPr>
        <p:spPr>
          <a:xfrm xmlns:a="http://schemas.openxmlformats.org/drawingml/2006/main">
            <a:off x="762000" y="4743450"/>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7F4EE"/>
                </a:solidFill>
              </a:defRPr>
            </a:defPPr>
            <a:lvl1pPr>
              <a:defRPr sz="2475" b="1">
                <a:solidFill>
                  <a:srgbClr val="F7F4EE"/>
                </a:solidFill>
              </a:defRPr>
            </a:lvl1pPr>
            <a:lvl2pPr>
              <a:defRPr sz="2475" b="1">
                <a:solidFill>
                  <a:srgbClr val="F7F4EE"/>
                </a:solidFill>
              </a:defRPr>
            </a:lvl2pPr>
            <a:lvl3pPr>
              <a:defRPr sz="2475" b="1">
                <a:solidFill>
                  <a:srgbClr val="F7F4EE"/>
                </a:solidFill>
              </a:defRPr>
            </a:lvl3pPr>
            <a:lvl4pPr>
              <a:defRPr sz="2475" b="1">
                <a:solidFill>
                  <a:srgbClr val="F7F4EE"/>
                </a:solidFill>
              </a:defRPr>
            </a:lvl4pPr>
            <a:lvl5pPr>
              <a:defRPr sz="2475" b="1">
                <a:solidFill>
                  <a:srgbClr val="F7F4EE"/>
                </a:solidFill>
              </a:defRPr>
            </a:lvl5pPr>
            <a:lvl6pPr>
              <a:defRPr sz="2475" b="1">
                <a:solidFill>
                  <a:srgbClr val="F7F4EE"/>
                </a:solidFill>
              </a:defRPr>
            </a:lvl6pPr>
            <a:lvl7pPr>
              <a:defRPr sz="2475" b="1">
                <a:solidFill>
                  <a:srgbClr val="F7F4EE"/>
                </a:solidFill>
              </a:defRPr>
            </a:lvl7pPr>
            <a:lvl8pPr>
              <a:defRPr sz="2475" b="1">
                <a:solidFill>
                  <a:srgbClr val="F7F4EE"/>
                </a:solidFill>
              </a:defRPr>
            </a:lvl8pPr>
            <a:lvl9pPr>
              <a:defRPr sz="2475" b="1">
                <a:solidFill>
                  <a:srgbClr val="F7F4EE"/>
                </a:solidFill>
              </a:defRPr>
            </a:lvl9pPr>
          </a:lstStyle>
          <a:p xmlns:a="http://schemas.openxmlformats.org/drawingml/2006/main">
            <a:pPr>
              <a:defRPr sz="2475" b="1">
                <a:solidFill>
                  <a:srgbClr val="F7F4EE"/>
                </a:solidFill>
              </a:defRPr>
            </a:pPr>
            <a:r>
              <a:rPr sz="2475" b="1">
                <a:solidFill>
                  <a:srgbClr val="F7F4EE"/>
                </a:solidFill>
              </a:rPr>
              <a:t>Tanish Somashekhar Desai</a:t>
            </a:r>
          </a:p>
        </p:txBody>
      </p:sp>
      <p:sp>
        <p:nvSpPr>
          <p:cNvPr id="12" name="24BCE5567">
            <a:extLst xmlns:a="http://schemas.openxmlformats.org/drawingml/2006/main">
              <a:ext uri="{FF2B5EF4-FFF2-40B4-BE49-F238E27FC236}">
                <a16:creationId xmlns:a16="http://schemas.microsoft.com/office/drawing/2014/main" id="{4716B326-9DF2-44F9-A777-5B1D8D936E7F}"/>
              </a:ext>
            </a:extLst>
          </p:cNvPr>
          <p:cNvSpPr>
            <a:spLocks xmlns:a="http://schemas.openxmlformats.org/drawingml/2006/main" noGrp="1"/>
          </p:cNvSpPr>
          <p:nvPr/>
        </p:nvSpPr>
        <p:spPr>
          <a:xfrm xmlns:a="http://schemas.openxmlformats.org/drawingml/2006/main">
            <a:off x="8763000" y="47720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E16A3D"/>
                </a:solidFill>
              </a:defRPr>
            </a:defPPr>
            <a:lvl1pPr>
              <a:defRPr sz="2100" b="0">
                <a:solidFill>
                  <a:srgbClr val="E16A3D"/>
                </a:solidFill>
              </a:defRPr>
            </a:lvl1pPr>
            <a:lvl2pPr>
              <a:defRPr sz="2100" b="0">
                <a:solidFill>
                  <a:srgbClr val="E16A3D"/>
                </a:solidFill>
              </a:defRPr>
            </a:lvl2pPr>
            <a:lvl3pPr>
              <a:defRPr sz="2100" b="0">
                <a:solidFill>
                  <a:srgbClr val="E16A3D"/>
                </a:solidFill>
              </a:defRPr>
            </a:lvl3pPr>
            <a:lvl4pPr>
              <a:defRPr sz="2100" b="0">
                <a:solidFill>
                  <a:srgbClr val="E16A3D"/>
                </a:solidFill>
              </a:defRPr>
            </a:lvl4pPr>
            <a:lvl5pPr>
              <a:defRPr sz="2100" b="0">
                <a:solidFill>
                  <a:srgbClr val="E16A3D"/>
                </a:solidFill>
              </a:defRPr>
            </a:lvl5pPr>
            <a:lvl6pPr>
              <a:defRPr sz="2100" b="0">
                <a:solidFill>
                  <a:srgbClr val="E16A3D"/>
                </a:solidFill>
              </a:defRPr>
            </a:lvl6pPr>
            <a:lvl7pPr>
              <a:defRPr sz="2100" b="0">
                <a:solidFill>
                  <a:srgbClr val="E16A3D"/>
                </a:solidFill>
              </a:defRPr>
            </a:lvl7pPr>
            <a:lvl8pPr>
              <a:defRPr sz="2100" b="0">
                <a:solidFill>
                  <a:srgbClr val="E16A3D"/>
                </a:solidFill>
              </a:defRPr>
            </a:lvl8pPr>
            <a:lvl9pPr>
              <a:defRPr sz="2100" b="0">
                <a:solidFill>
                  <a:srgbClr val="E16A3D"/>
                </a:solidFill>
              </a:defRPr>
            </a:lvl9pPr>
          </a:lstStyle>
          <a:p xmlns:a="http://schemas.openxmlformats.org/drawingml/2006/main">
            <a:pPr>
              <a:defRPr sz="2100" b="0">
                <a:solidFill>
                  <a:srgbClr val="E16A3D"/>
                </a:solidFill>
              </a:defRPr>
            </a:pPr>
            <a:r>
              <a:rPr sz="2100" b="0">
                <a:solidFill>
                  <a:srgbClr val="E16A3D"/>
                </a:solidFill>
              </a:rPr>
              <a:t>24BCE5567</a:t>
            </a:r>
          </a:p>
        </p:txBody>
      </p:sp>
    </p:spTree>
    <p:extLst>
      <p:ext uri="{BB962C8B-B14F-4D97-AF65-F5344CB8AC3E}">
        <p14:creationId xmlns:p14="http://schemas.microsoft.com/office/powerpoint/2010/main" val="1926607339"/>
      </p:ext>
    </p:extLst>
  </p:cSld>
</p:sld>
</file>

<file path=ppt/slides/slide3.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PROJECT CONTEXT">
            <a:extLst xmlns:a="http://schemas.openxmlformats.org/drawingml/2006/main">
              <a:ext uri="{FF2B5EF4-FFF2-40B4-BE49-F238E27FC236}">
                <a16:creationId xmlns:a16="http://schemas.microsoft.com/office/drawing/2014/main" id="{1A2D4996-4010-4800-82D6-88625F4CDE4D}"/>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PROJECT CONTEXT</a:t>
            </a:r>
          </a:p>
        </p:txBody>
      </p:sp>
      <p:sp>
        <p:nvSpPr>
          <p:cNvPr id="3" name="Problem and project objectives">
            <a:extLst xmlns:a="http://schemas.openxmlformats.org/drawingml/2006/main">
              <a:ext uri="{FF2B5EF4-FFF2-40B4-BE49-F238E27FC236}">
                <a16:creationId xmlns:a16="http://schemas.microsoft.com/office/drawing/2014/main" id="{28936510-4D16-4D01-90E9-1805E163C896}"/>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Problem and project objectives</a:t>
            </a:r>
          </a:p>
        </p:txBody>
      </p:sp>
      <p:sp>
        <p:nvSpPr>
          <p:cNvPr id="4" name="03">
            <a:extLst xmlns:a="http://schemas.openxmlformats.org/drawingml/2006/main">
              <a:ext uri="{FF2B5EF4-FFF2-40B4-BE49-F238E27FC236}">
                <a16:creationId xmlns:a16="http://schemas.microsoft.com/office/drawing/2014/main" id="{8CDD902C-9EE9-45F3-99A8-465DCBC4B76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03</a:t>
            </a:r>
          </a:p>
        </p:txBody>
      </p:sp>
      <p:sp>
        <p:nvSpPr>
          <p:cNvPr id="5" name="Problem">
            <a:extLst xmlns:a="http://schemas.openxmlformats.org/drawingml/2006/main">
              <a:ext uri="{FF2B5EF4-FFF2-40B4-BE49-F238E27FC236}">
                <a16:creationId xmlns:a16="http://schemas.microsoft.com/office/drawing/2014/main" id="{82F28327-41EB-4ABC-909F-B25FA3BDB82E}"/>
              </a:ext>
            </a:extLst>
          </p:cNvPr>
          <p:cNvSpPr>
            <a:spLocks xmlns:a="http://schemas.openxmlformats.org/drawingml/2006/main" noGrp="1"/>
          </p:cNvSpPr>
          <p:nvPr/>
        </p:nvSpPr>
        <p:spPr>
          <a:xfrm xmlns:a="http://schemas.openxmlformats.org/drawingml/2006/main">
            <a:off x="762000" y="20764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Problem</a:t>
            </a:r>
          </a:p>
        </p:txBody>
      </p:sp>
      <p:sp>
        <p:nvSpPr>
          <p:cNvPr id="6" name="A fixed traffic split keeps sending requests to a slow backe">
            <a:extLst xmlns:a="http://schemas.openxmlformats.org/drawingml/2006/main">
              <a:ext uri="{FF2B5EF4-FFF2-40B4-BE49-F238E27FC236}">
                <a16:creationId xmlns:a16="http://schemas.microsoft.com/office/drawing/2014/main" id="{E2819F6B-AFF4-4712-A5E5-69573D048E99}"/>
              </a:ext>
            </a:extLst>
          </p:cNvPr>
          <p:cNvSpPr>
            <a:spLocks xmlns:a="http://schemas.openxmlformats.org/drawingml/2006/main" noGrp="1"/>
          </p:cNvSpPr>
          <p:nvPr/>
        </p:nvSpPr>
        <p:spPr>
          <a:xfrm xmlns:a="http://schemas.openxmlformats.org/drawingml/2006/main">
            <a:off x="762000" y="24955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A fixed traffic split keeps sending requests to a slow backend, increasing response time and occupying gateway sessions.</a:t>
            </a:r>
          </a:p>
        </p:txBody>
      </p:sp>
      <p:sp>
        <p:nvSpPr>
          <p:cNvPr id="7" name="Objective">
            <a:extLst xmlns:a="http://schemas.openxmlformats.org/drawingml/2006/main">
              <a:ext uri="{FF2B5EF4-FFF2-40B4-BE49-F238E27FC236}">
                <a16:creationId xmlns:a16="http://schemas.microsoft.com/office/drawing/2014/main" id="{1CEB771D-4EB2-47DF-99C3-B2C7FA8B857D}"/>
              </a:ext>
            </a:extLst>
          </p:cNvPr>
          <p:cNvSpPr>
            <a:spLocks xmlns:a="http://schemas.openxmlformats.org/drawingml/2006/main" noGrp="1"/>
          </p:cNvSpPr>
          <p:nvPr/>
        </p:nvSpPr>
        <p:spPr>
          <a:xfrm xmlns:a="http://schemas.openxmlformats.org/drawingml/2006/main">
            <a:off x="762000" y="33718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Objective</a:t>
            </a:r>
          </a:p>
        </p:txBody>
      </p:sp>
      <p:sp>
        <p:nvSpPr>
          <p:cNvPr id="8" name="Choose a backend from observed session feedback while keepin">
            <a:extLst xmlns:a="http://schemas.openxmlformats.org/drawingml/2006/main">
              <a:ext uri="{FF2B5EF4-FFF2-40B4-BE49-F238E27FC236}">
                <a16:creationId xmlns:a16="http://schemas.microsoft.com/office/drawing/2014/main" id="{61C87F0D-8B7F-4DA8-B95F-B6E413DEB83A}"/>
              </a:ext>
            </a:extLst>
          </p:cNvPr>
          <p:cNvSpPr>
            <a:spLocks xmlns:a="http://schemas.openxmlformats.org/drawingml/2006/main" noGrp="1"/>
          </p:cNvSpPr>
          <p:nvPr/>
        </p:nvSpPr>
        <p:spPr>
          <a:xfrm xmlns:a="http://schemas.openxmlformats.org/drawingml/2006/main">
            <a:off x="762000" y="37909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Choose a backend from observed session feedback while keeping routing decisions on the ESP32.</a:t>
            </a:r>
          </a:p>
        </p:txBody>
      </p:sp>
      <p:sp>
        <p:nvSpPr>
          <p:cNvPr id="9" name="Evaluation">
            <a:extLst xmlns:a="http://schemas.openxmlformats.org/drawingml/2006/main">
              <a:ext uri="{FF2B5EF4-FFF2-40B4-BE49-F238E27FC236}">
                <a16:creationId xmlns:a16="http://schemas.microsoft.com/office/drawing/2014/main" id="{D37D6783-CA41-449D-8635-D0C8AEF88923}"/>
              </a:ext>
            </a:extLst>
          </p:cNvPr>
          <p:cNvSpPr>
            <a:spLocks xmlns:a="http://schemas.openxmlformats.org/drawingml/2006/main" noGrp="1"/>
          </p:cNvSpPr>
          <p:nvPr/>
        </p:nvSpPr>
        <p:spPr>
          <a:xfrm xmlns:a="http://schemas.openxmlformats.org/drawingml/2006/main">
            <a:off x="762000" y="46672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Evaluation</a:t>
            </a:r>
          </a:p>
        </p:txBody>
      </p:sp>
      <p:sp>
        <p:nvSpPr>
          <p:cNvPr id="10" name="Compare Q-learning against Round Robin and EMA under control">
            <a:extLst xmlns:a="http://schemas.openxmlformats.org/drawingml/2006/main">
              <a:ext uri="{FF2B5EF4-FFF2-40B4-BE49-F238E27FC236}">
                <a16:creationId xmlns:a16="http://schemas.microsoft.com/office/drawing/2014/main" id="{E56FE849-A931-4930-B1AA-77E416A30C95}"/>
              </a:ext>
            </a:extLst>
          </p:cNvPr>
          <p:cNvSpPr>
            <a:spLocks xmlns:a="http://schemas.openxmlformats.org/drawingml/2006/main" noGrp="1"/>
          </p:cNvSpPr>
          <p:nvPr/>
        </p:nvSpPr>
        <p:spPr>
          <a:xfrm xmlns:a="http://schemas.openxmlformats.org/drawingml/2006/main">
            <a:off x="762000" y="50863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Compare Q-learning against Round Robin and EMA under controlled backend delays and changing demand.</a:t>
            </a:r>
          </a:p>
        </p:txBody>
      </p:sp>
    </p:spTree>
    <p:extLst>
      <p:ext uri="{BB962C8B-B14F-4D97-AF65-F5344CB8AC3E}">
        <p14:creationId xmlns:p14="http://schemas.microsoft.com/office/powerpoint/2010/main" val="1198467428"/>
      </p:ext>
    </p:extLst>
  </p:cSld>
</p:sld>
</file>

<file path=ppt/slides/slide4.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FINAL REVIEW SCOPE">
            <a:extLst xmlns:a="http://schemas.openxmlformats.org/drawingml/2006/main">
              <a:ext uri="{FF2B5EF4-FFF2-40B4-BE49-F238E27FC236}">
                <a16:creationId xmlns:a16="http://schemas.microsoft.com/office/drawing/2014/main" id="{CBB41F2B-03F0-415B-86D6-3EF69968C4F6}"/>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FINAL REVIEW SCOPE</a:t>
            </a:r>
          </a:p>
        </p:txBody>
      </p:sp>
      <p:sp>
        <p:nvSpPr>
          <p:cNvPr id="3" name="DA3 implementation status">
            <a:extLst xmlns:a="http://schemas.openxmlformats.org/drawingml/2006/main">
              <a:ext uri="{FF2B5EF4-FFF2-40B4-BE49-F238E27FC236}">
                <a16:creationId xmlns:a16="http://schemas.microsoft.com/office/drawing/2014/main" id="{B538FAD9-5F00-420C-B993-9C152037946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DA3 implementation status</a:t>
            </a:r>
          </a:p>
        </p:txBody>
      </p:sp>
      <p:sp>
        <p:nvSpPr>
          <p:cNvPr id="4" name="04">
            <a:extLst xmlns:a="http://schemas.openxmlformats.org/drawingml/2006/main">
              <a:ext uri="{FF2B5EF4-FFF2-40B4-BE49-F238E27FC236}">
                <a16:creationId xmlns:a16="http://schemas.microsoft.com/office/drawing/2014/main" id="{74F306D4-364D-456A-9E6F-2888845BBAC7}"/>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04</a:t>
            </a:r>
          </a:p>
        </p:txBody>
      </p:sp>
      <p:graphicFrame>
        <p:nvGraphicFramePr>
          <p:cNvPr id="5" name="">
            <a:extLst xmlns:a="http://schemas.openxmlformats.org/drawingml/2006/main">
              <a:ext uri="{FF2B5EF4-FFF2-40B4-BE49-F238E27FC236}">
                <a16:creationId xmlns:a16="http://schemas.microsoft.com/office/drawing/2014/main" id="{0C91A3D2-ADA7-4339-9FCC-A88469743379}"/>
              </a:ext>
            </a:extLst>
          </p:cNvPr>
          <p:cNvGraphicFramePr/>
          <p:nvPr/>
        </p:nvGraphicFramePr>
        <p:xfrm>
          <a:off xmlns:a="http://schemas.openxmlformats.org/drawingml/2006/main" x="762000" y="2009775"/>
          <a:ext xmlns:a="http://schemas.openxmlformats.org/drawingml/2006/main" cx="10668000" cy="3571875"/>
        </p:xfrm>
        <a:graphic xmlns:a="http://schemas.openxmlformats.org/drawingml/2006/main">
          <a:graphicData uri="http://schemas.openxmlformats.org/drawingml/2006/table">
            <a:tbl>
              <a:tblPr/>
              <a:tblGrid>
                <a:gridCol w="3143250"/>
                <a:gridCol w="7524750"/>
              </a:tblGrid>
              <a:tr h="595313">
                <a:tc>
                  <a:txBody>
                    <a:bodyPr/>
                    <a:lstStyle/>
                    <a:p>
                      <a:r>
                        <a:rPr sz="1725" b="1">
                          <a:solidFill>
                            <a:srgbClr val="F7F4EE"/>
                          </a:solidFill>
                        </a:rPr>
                        <a:t>Deliverable</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725" b="1">
                          <a:solidFill>
                            <a:srgbClr val="F7F4EE"/>
                          </a:solidFill>
                        </a:rPr>
                        <a:t>DA3 status</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95313">
                <a:tc>
                  <a:txBody>
                    <a:bodyPr/>
                    <a:lstStyle/>
                    <a:p>
                      <a:r>
                        <a:rPr sz="1725" b="0">
                          <a:solidFill>
                            <a:srgbClr val="F7F4EE"/>
                          </a:solidFill>
                        </a:rPr>
                        <a:t>ESP32 gateway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TCP proxy with three selectable strategies</a:t>
                      </a:r>
                    </a:p>
                  </a:txBody>
                  <a:tcPr marL="91440" marR="91440" marT="45720" marB="45720">
                    <a:lnR w="9525">
                      <a:solidFill>
                        <a:srgbClr val="0E1822"/>
                      </a:solidFill>
                      <a:prstDash val="solid"/>
                    </a:lnR>
                    <a:lnB w="9525">
                      <a:solidFill>
                        <a:srgbClr val="0E1822"/>
                      </a:solidFill>
                      <a:prstDash val="solid"/>
                    </a:lnB>
                    <a:solidFill>
                      <a:srgbClr val="0E1822"/>
                    </a:solidFill>
                  </a:tcPr>
                </a:tc>
              </a:tr>
              <a:tr h="595313">
                <a:tc>
                  <a:txBody>
                    <a:bodyPr/>
                    <a:lstStyle/>
                    <a:p>
                      <a:r>
                        <a:rPr sz="1725" b="0">
                          <a:solidFill>
                            <a:srgbClr val="F7F4EE"/>
                          </a:solidFill>
                        </a:rPr>
                        <a:t>FlashPoint UI</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Flash-sale controls, routing view and event-based metrics</a:t>
                      </a:r>
                    </a:p>
                  </a:txBody>
                  <a:tcPr marL="91440" marR="91440" marT="45720" marB="45720">
                    <a:lnR w="9525">
                      <a:solidFill>
                        <a:srgbClr val="0E1822"/>
                      </a:solidFill>
                      <a:prstDash val="solid"/>
                    </a:lnR>
                    <a:lnB w="9525">
                      <a:solidFill>
                        <a:srgbClr val="0E1822"/>
                      </a:solidFill>
                      <a:prstDash val="solid"/>
                    </a:lnB>
                    <a:solidFill>
                      <a:srgbClr val="14202C"/>
                    </a:solidFill>
                  </a:tcPr>
                </a:tc>
              </a:tr>
              <a:tr h="595313">
                <a:tc>
                  <a:txBody>
                    <a:bodyPr/>
                    <a:lstStyle/>
                    <a:p>
                      <a:r>
                        <a:rPr sz="1725" b="0">
                          <a:solidFill>
                            <a:srgbClr val="F7F4EE"/>
                          </a:solidFill>
                        </a:rPr>
                        <a:t>Hardware evaluation</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Completed run with team-confirmed results</a:t>
                      </a:r>
                    </a:p>
                  </a:txBody>
                  <a:tcPr marL="91440" marR="91440" marT="45720" marB="45720">
                    <a:lnR w="9525">
                      <a:solidFill>
                        <a:srgbClr val="0E1822"/>
                      </a:solidFill>
                      <a:prstDash val="solid"/>
                    </a:lnR>
                    <a:lnB w="9525">
                      <a:solidFill>
                        <a:srgbClr val="0E1822"/>
                      </a:solidFill>
                      <a:prstDash val="solid"/>
                    </a:lnB>
                    <a:solidFill>
                      <a:srgbClr val="0E1822"/>
                    </a:solidFill>
                  </a:tcPr>
                </a:tc>
              </a:tr>
              <a:tr h="595313">
                <a:tc>
                  <a:txBody>
                    <a:bodyPr/>
                    <a:lstStyle/>
                    <a:p>
                      <a:r>
                        <a:rPr sz="1725" b="0">
                          <a:solidFill>
                            <a:srgbClr val="F7F4EE"/>
                          </a:solidFill>
                        </a:rPr>
                        <a:t>Simulation studies</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Three scenarios and backend-latency sweep</a:t>
                      </a:r>
                    </a:p>
                  </a:txBody>
                  <a:tcPr marL="91440" marR="91440" marT="45720" marB="45720">
                    <a:lnR w="9525">
                      <a:solidFill>
                        <a:srgbClr val="0E1822"/>
                      </a:solidFill>
                      <a:prstDash val="solid"/>
                    </a:lnR>
                    <a:lnB w="9525">
                      <a:solidFill>
                        <a:srgbClr val="0E1822"/>
                      </a:solidFill>
                      <a:prstDash val="solid"/>
                    </a:lnB>
                    <a:solidFill>
                      <a:srgbClr val="14202C"/>
                    </a:solidFill>
                  </a:tcPr>
                </a:tc>
              </a:tr>
              <a:tr h="595313">
                <a:tc>
                  <a:txBody>
                    <a:bodyPr/>
                    <a:lstStyle/>
                    <a:p>
                      <a:r>
                        <a:rPr sz="1725" b="0">
                          <a:solidFill>
                            <a:srgbClr val="F7F4EE"/>
                          </a:solidFill>
                        </a:rPr>
                        <a:t>Q-table persistence</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Implemented by team in nonvolatile flash. Commit pending</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Tree>
    <p:extLst>
      <p:ext uri="{BB962C8B-B14F-4D97-AF65-F5344CB8AC3E}">
        <p14:creationId xmlns:p14="http://schemas.microsoft.com/office/powerpoint/2010/main" val="184852861"/>
      </p:ext>
    </p:extLst>
  </p:cSld>
</p:sld>
</file>

<file path=ppt/slides/slide5.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REQUEST AND TELEMETRY PATHS">
            <a:extLst xmlns:a="http://schemas.openxmlformats.org/drawingml/2006/main">
              <a:ext uri="{FF2B5EF4-FFF2-40B4-BE49-F238E27FC236}">
                <a16:creationId xmlns:a16="http://schemas.microsoft.com/office/drawing/2014/main" id="{7B68781E-B0C4-440D-9A96-75DB93E5D516}"/>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REQUEST AND TELEMETRY PATHS</a:t>
            </a:r>
          </a:p>
        </p:txBody>
      </p:sp>
      <p:sp>
        <p:nvSpPr>
          <p:cNvPr id="3" name="System architecture">
            <a:extLst xmlns:a="http://schemas.openxmlformats.org/drawingml/2006/main">
              <a:ext uri="{FF2B5EF4-FFF2-40B4-BE49-F238E27FC236}">
                <a16:creationId xmlns:a16="http://schemas.microsoft.com/office/drawing/2014/main" id="{CC7B4250-F1B9-4D9D-B4B4-35D203710AD1}"/>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System architecture</a:t>
            </a:r>
          </a:p>
        </p:txBody>
      </p:sp>
      <p:sp>
        <p:nvSpPr>
          <p:cNvPr id="4" name="05">
            <a:extLst xmlns:a="http://schemas.openxmlformats.org/drawingml/2006/main">
              <a:ext uri="{FF2B5EF4-FFF2-40B4-BE49-F238E27FC236}">
                <a16:creationId xmlns:a16="http://schemas.microsoft.com/office/drawing/2014/main" id="{EB9909E9-1641-4BF2-B59F-357B74D9FBAE}"/>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05</a:t>
            </a:r>
          </a:p>
        </p:txBody>
      </p:sp>
      <p:graphicFrame>
        <p:nvGraphicFramePr>
          <p:cNvPr id="5" name="">
            <a:extLst xmlns:a="http://schemas.openxmlformats.org/drawingml/2006/main">
              <a:ext uri="{FF2B5EF4-FFF2-40B4-BE49-F238E27FC236}">
                <a16:creationId xmlns:a16="http://schemas.microsoft.com/office/drawing/2014/main" id="{DC360F81-3A66-44C2-BDC5-F14A6D4C6A5E}"/>
              </a:ext>
            </a:extLst>
          </p:cNvPr>
          <p:cNvGraphicFramePr/>
          <p:nvPr/>
        </p:nvGraphicFramePr>
        <p:xfrm>
          <a:off xmlns:a="http://schemas.openxmlformats.org/drawingml/2006/main" x="762000" y="2000250"/>
          <a:ext xmlns:a="http://schemas.openxmlformats.org/drawingml/2006/main" cx="10668000" cy="3600450"/>
        </p:xfrm>
        <a:graphic xmlns:a="http://schemas.openxmlformats.org/drawingml/2006/main">
          <a:graphicData uri="http://schemas.openxmlformats.org/drawingml/2006/table">
            <a:tbl>
              <a:tblPr/>
              <a:tblGrid>
                <a:gridCol w="3286125"/>
                <a:gridCol w="7381875"/>
              </a:tblGrid>
              <a:tr h="600075">
                <a:tc>
                  <a:txBody>
                    <a:bodyPr/>
                    <a:lstStyle/>
                    <a:p>
                      <a:r>
                        <a:rPr sz="1725" b="1">
                          <a:solidFill>
                            <a:srgbClr val="F7F4EE"/>
                          </a:solidFill>
                        </a:rPr>
                        <a:t>Stage</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725" b="1">
                          <a:solidFill>
                            <a:srgbClr val="F7F4EE"/>
                          </a:solidFill>
                        </a:rPr>
                        <a:t>Responsibility</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600075">
                <a:tc>
                  <a:txBody>
                    <a:bodyPr/>
                    <a:lstStyle/>
                    <a:p>
                      <a:r>
                        <a:rPr sz="1725" b="0">
                          <a:solidFill>
                            <a:srgbClr val="F7F4EE"/>
                          </a:solidFill>
                        </a:rPr>
                        <a:t>Request generators</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Python clients create short-lived requests to the ESP32</a:t>
                      </a:r>
                    </a:p>
                  </a:txBody>
                  <a:tcPr marL="91440" marR="91440" marT="45720" marB="45720">
                    <a:lnR w="9525">
                      <a:solidFill>
                        <a:srgbClr val="0E1822"/>
                      </a:solidFill>
                      <a:prstDash val="solid"/>
                    </a:lnR>
                    <a:lnB w="9525">
                      <a:solidFill>
                        <a:srgbClr val="0E1822"/>
                      </a:solidFill>
                      <a:prstDash val="solid"/>
                    </a:lnB>
                    <a:solidFill>
                      <a:srgbClr val="0E1822"/>
                    </a:solidFill>
                  </a:tcPr>
                </a:tc>
              </a:tr>
              <a:tr h="600075">
                <a:tc>
                  <a:txBody>
                    <a:bodyPr/>
                    <a:lstStyle/>
                    <a:p>
                      <a:r>
                        <a:rPr sz="1725" b="0">
                          <a:solidFill>
                            <a:srgbClr val="F7F4EE"/>
                          </a:solidFill>
                        </a:rPr>
                        <a:t>ESP32 gateway, port 80</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Select a backend, forward bytes and observe session duration</a:t>
                      </a:r>
                    </a:p>
                  </a:txBody>
                  <a:tcPr marL="91440" marR="91440" marT="45720" marB="45720">
                    <a:lnR w="9525">
                      <a:solidFill>
                        <a:srgbClr val="0E1822"/>
                      </a:solidFill>
                      <a:prstDash val="solid"/>
                    </a:lnR>
                    <a:lnB w="9525">
                      <a:solidFill>
                        <a:srgbClr val="0E1822"/>
                      </a:solidFill>
                      <a:prstDash val="solid"/>
                    </a:lnB>
                    <a:solidFill>
                      <a:srgbClr val="14202C"/>
                    </a:solidFill>
                  </a:tcPr>
                </a:tc>
              </a:tr>
              <a:tr h="600075">
                <a:tc>
                  <a:txBody>
                    <a:bodyPr/>
                    <a:lstStyle/>
                    <a:p>
                      <a:r>
                        <a:rPr sz="1725" b="0">
                          <a:solidFill>
                            <a:srgbClr val="F7F4EE"/>
                          </a:solidFill>
                        </a:rPr>
                        <a:t>Laptop backend pool</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Python TCP servers on ports 8080 through 8084</a:t>
                      </a:r>
                    </a:p>
                  </a:txBody>
                  <a:tcPr marL="91440" marR="91440" marT="45720" marB="45720">
                    <a:lnR w="9525">
                      <a:solidFill>
                        <a:srgbClr val="0E1822"/>
                      </a:solidFill>
                      <a:prstDash val="solid"/>
                    </a:lnR>
                    <a:lnB w="9525">
                      <a:solidFill>
                        <a:srgbClr val="0E1822"/>
                      </a:solidFill>
                      <a:prstDash val="solid"/>
                    </a:lnB>
                    <a:solidFill>
                      <a:srgbClr val="0E1822"/>
                    </a:solidFill>
                  </a:tcPr>
                </a:tc>
              </a:tr>
              <a:tr h="600075">
                <a:tc>
                  <a:txBody>
                    <a:bodyPr/>
                    <a:lstStyle/>
                    <a:p>
                      <a:r>
                        <a:rPr sz="1725" b="0">
                          <a:solidFill>
                            <a:srgbClr val="F7F4EE"/>
                          </a:solidFill>
                        </a:rPr>
                        <a:t>Flask + Socket.IO</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Manage servers and generators, publish their events</a:t>
                      </a:r>
                    </a:p>
                  </a:txBody>
                  <a:tcPr marL="91440" marR="91440" marT="45720" marB="45720">
                    <a:lnR w="9525">
                      <a:solidFill>
                        <a:srgbClr val="0E1822"/>
                      </a:solidFill>
                      <a:prstDash val="solid"/>
                    </a:lnR>
                    <a:lnB w="9525">
                      <a:solidFill>
                        <a:srgbClr val="0E1822"/>
                      </a:solidFill>
                      <a:prstDash val="solid"/>
                    </a:lnB>
                    <a:solidFill>
                      <a:srgbClr val="14202C"/>
                    </a:solidFill>
                  </a:tcPr>
                </a:tc>
              </a:tr>
              <a:tr h="600075">
                <a:tc>
                  <a:txBody>
                    <a:bodyPr/>
                    <a:lstStyle/>
                    <a:p>
                      <a:r>
                        <a:rPr sz="1725" b="0">
                          <a:solidFill>
                            <a:srgbClr val="F7F4EE"/>
                          </a:solidFill>
                        </a:rPr>
                        <a:t>Browser dashboard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Correlate request IDs and display routing and outcomes</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Tree>
    <p:extLst>
      <p:ext uri="{BB962C8B-B14F-4D97-AF65-F5344CB8AC3E}">
        <p14:creationId xmlns:p14="http://schemas.microsoft.com/office/powerpoint/2010/main" val="291189690"/>
      </p:ext>
    </p:extLst>
  </p:cSld>
</p:sld>
</file>

<file path=ppt/slides/slide6.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EMBEDDED IMPLEMENTATION">
            <a:extLst xmlns:a="http://schemas.openxmlformats.org/drawingml/2006/main">
              <a:ext uri="{FF2B5EF4-FFF2-40B4-BE49-F238E27FC236}">
                <a16:creationId xmlns:a16="http://schemas.microsoft.com/office/drawing/2014/main" id="{485885E7-F29A-400E-B21F-2498FEDA4B18}"/>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EMBEDDED IMPLEMENTATION</a:t>
            </a:r>
          </a:p>
        </p:txBody>
      </p:sp>
      <p:sp>
        <p:nvSpPr>
          <p:cNvPr id="3" name="Firmware design and resource limits">
            <a:extLst xmlns:a="http://schemas.openxmlformats.org/drawingml/2006/main">
              <a:ext uri="{FF2B5EF4-FFF2-40B4-BE49-F238E27FC236}">
                <a16:creationId xmlns:a16="http://schemas.microsoft.com/office/drawing/2014/main" id="{6ACDEAD7-65FD-4327-8A9F-3975C7E0DCF0}"/>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Firmware design and resource limits</a:t>
            </a:r>
          </a:p>
        </p:txBody>
      </p:sp>
      <p:sp>
        <p:nvSpPr>
          <p:cNvPr id="4" name="06">
            <a:extLst xmlns:a="http://schemas.openxmlformats.org/drawingml/2006/main">
              <a:ext uri="{FF2B5EF4-FFF2-40B4-BE49-F238E27FC236}">
                <a16:creationId xmlns:a16="http://schemas.microsoft.com/office/drawing/2014/main" id="{67935474-85B6-440C-B018-ACDAF6F38F68}"/>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06</a:t>
            </a:r>
          </a:p>
        </p:txBody>
      </p:sp>
      <p:sp>
        <p:nvSpPr>
          <p:cNvPr id="5" name="7">
            <a:extLst xmlns:a="http://schemas.openxmlformats.org/drawingml/2006/main">
              <a:ext uri="{FF2B5EF4-FFF2-40B4-BE49-F238E27FC236}">
                <a16:creationId xmlns:a16="http://schemas.microsoft.com/office/drawing/2014/main" id="{D777E403-E473-407B-9BA2-AA29CEABAF73}"/>
              </a:ext>
            </a:extLst>
          </p:cNvPr>
          <p:cNvSpPr>
            <a:spLocks xmlns:a="http://schemas.openxmlformats.org/drawingml/2006/main" noGrp="1"/>
          </p:cNvSpPr>
          <p:nvPr/>
        </p:nvSpPr>
        <p:spPr>
          <a:xfrm xmlns:a="http://schemas.openxmlformats.org/drawingml/2006/main">
            <a:off x="762000" y="2038350"/>
            <a:ext cx="2381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00" b="1">
                <a:solidFill>
                  <a:srgbClr val="E16A3D"/>
                </a:solidFill>
              </a:defRPr>
            </a:defPPr>
            <a:lvl1pPr>
              <a:defRPr sz="8400" b="1">
                <a:solidFill>
                  <a:srgbClr val="E16A3D"/>
                </a:solidFill>
              </a:defRPr>
            </a:lvl1pPr>
            <a:lvl2pPr>
              <a:defRPr sz="8400" b="1">
                <a:solidFill>
                  <a:srgbClr val="E16A3D"/>
                </a:solidFill>
              </a:defRPr>
            </a:lvl2pPr>
            <a:lvl3pPr>
              <a:defRPr sz="8400" b="1">
                <a:solidFill>
                  <a:srgbClr val="E16A3D"/>
                </a:solidFill>
              </a:defRPr>
            </a:lvl3pPr>
            <a:lvl4pPr>
              <a:defRPr sz="8400" b="1">
                <a:solidFill>
                  <a:srgbClr val="E16A3D"/>
                </a:solidFill>
              </a:defRPr>
            </a:lvl4pPr>
            <a:lvl5pPr>
              <a:defRPr sz="8400" b="1">
                <a:solidFill>
                  <a:srgbClr val="E16A3D"/>
                </a:solidFill>
              </a:defRPr>
            </a:lvl5pPr>
            <a:lvl6pPr>
              <a:defRPr sz="8400" b="1">
                <a:solidFill>
                  <a:srgbClr val="E16A3D"/>
                </a:solidFill>
              </a:defRPr>
            </a:lvl6pPr>
            <a:lvl7pPr>
              <a:defRPr sz="8400" b="1">
                <a:solidFill>
                  <a:srgbClr val="E16A3D"/>
                </a:solidFill>
              </a:defRPr>
            </a:lvl7pPr>
            <a:lvl8pPr>
              <a:defRPr sz="8400" b="1">
                <a:solidFill>
                  <a:srgbClr val="E16A3D"/>
                </a:solidFill>
              </a:defRPr>
            </a:lvl8pPr>
            <a:lvl9pPr>
              <a:defRPr sz="8400" b="1">
                <a:solidFill>
                  <a:srgbClr val="E16A3D"/>
                </a:solidFill>
              </a:defRPr>
            </a:lvl9pPr>
          </a:lstStyle>
          <a:p xmlns:a="http://schemas.openxmlformats.org/drawingml/2006/main">
            <a:pPr>
              <a:defRPr sz="8400" b="1">
                <a:solidFill>
                  <a:srgbClr val="E16A3D"/>
                </a:solidFill>
              </a:defRPr>
            </a:pPr>
            <a:r>
              <a:rPr sz="8400" b="1">
                <a:solidFill>
                  <a:srgbClr val="E16A3D"/>
                </a:solidFill>
              </a:rPr>
              <a:t>7</a:t>
            </a:r>
          </a:p>
        </p:txBody>
      </p:sp>
      <p:sp>
        <p:nvSpPr>
          <p:cNvPr id="6" name="concurrent proxy sessions">
            <a:extLst xmlns:a="http://schemas.openxmlformats.org/drawingml/2006/main">
              <a:ext uri="{FF2B5EF4-FFF2-40B4-BE49-F238E27FC236}">
                <a16:creationId xmlns:a16="http://schemas.microsoft.com/office/drawing/2014/main" id="{6552B42E-E130-406B-BB72-1C2E7ED8ABF0}"/>
              </a:ext>
            </a:extLst>
          </p:cNvPr>
          <p:cNvSpPr>
            <a:spLocks xmlns:a="http://schemas.openxmlformats.org/drawingml/2006/main" noGrp="1"/>
          </p:cNvSpPr>
          <p:nvPr/>
        </p:nvSpPr>
        <p:spPr>
          <a:xfrm xmlns:a="http://schemas.openxmlformats.org/drawingml/2006/main">
            <a:off x="762000" y="3533775"/>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7F4EE"/>
                </a:solidFill>
              </a:defRPr>
            </a:defPPr>
            <a:lvl1pPr>
              <a:defRPr sz="2325" b="1">
                <a:solidFill>
                  <a:srgbClr val="F7F4EE"/>
                </a:solidFill>
              </a:defRPr>
            </a:lvl1pPr>
            <a:lvl2pPr>
              <a:defRPr sz="2325" b="1">
                <a:solidFill>
                  <a:srgbClr val="F7F4EE"/>
                </a:solidFill>
              </a:defRPr>
            </a:lvl2pPr>
            <a:lvl3pPr>
              <a:defRPr sz="2325" b="1">
                <a:solidFill>
                  <a:srgbClr val="F7F4EE"/>
                </a:solidFill>
              </a:defRPr>
            </a:lvl3pPr>
            <a:lvl4pPr>
              <a:defRPr sz="2325" b="1">
                <a:solidFill>
                  <a:srgbClr val="F7F4EE"/>
                </a:solidFill>
              </a:defRPr>
            </a:lvl4pPr>
            <a:lvl5pPr>
              <a:defRPr sz="2325" b="1">
                <a:solidFill>
                  <a:srgbClr val="F7F4EE"/>
                </a:solidFill>
              </a:defRPr>
            </a:lvl5pPr>
            <a:lvl6pPr>
              <a:defRPr sz="2325" b="1">
                <a:solidFill>
                  <a:srgbClr val="F7F4EE"/>
                </a:solidFill>
              </a:defRPr>
            </a:lvl6pPr>
            <a:lvl7pPr>
              <a:defRPr sz="2325" b="1">
                <a:solidFill>
                  <a:srgbClr val="F7F4EE"/>
                </a:solidFill>
              </a:defRPr>
            </a:lvl7pPr>
            <a:lvl8pPr>
              <a:defRPr sz="2325" b="1">
                <a:solidFill>
                  <a:srgbClr val="F7F4EE"/>
                </a:solidFill>
              </a:defRPr>
            </a:lvl8pPr>
            <a:lvl9pPr>
              <a:defRPr sz="2325" b="1">
                <a:solidFill>
                  <a:srgbClr val="F7F4EE"/>
                </a:solidFill>
              </a:defRPr>
            </a:lvl9pPr>
          </a:lstStyle>
          <a:p xmlns:a="http://schemas.openxmlformats.org/drawingml/2006/main">
            <a:pPr>
              <a:defRPr sz="2325" b="1">
                <a:solidFill>
                  <a:srgbClr val="F7F4EE"/>
                </a:solidFill>
              </a:defRPr>
            </a:pPr>
            <a:r>
              <a:rPr sz="2325" b="1">
                <a:solidFill>
                  <a:srgbClr val="F7F4EE"/>
                </a:solidFill>
              </a:rPr>
              <a:t>concurrent proxy sessions</a:t>
            </a:r>
          </a:p>
        </p:txBody>
      </p:sp>
      <p:sp>
        <p:nvSpPr>
          <p:cNvPr id="7" name="MAX_CLIENTS in this firmware">
            <a:extLst xmlns:a="http://schemas.openxmlformats.org/drawingml/2006/main">
              <a:ext uri="{FF2B5EF4-FFF2-40B4-BE49-F238E27FC236}">
                <a16:creationId xmlns:a16="http://schemas.microsoft.com/office/drawing/2014/main" id="{92F024EE-DCD9-4DCE-ACC5-FB26056EE7DB}"/>
              </a:ext>
            </a:extLst>
          </p:cNvPr>
          <p:cNvSpPr>
            <a:spLocks xmlns:a="http://schemas.openxmlformats.org/drawingml/2006/main" noGrp="1"/>
          </p:cNvSpPr>
          <p:nvPr/>
        </p:nvSpPr>
        <p:spPr>
          <a:xfrm xmlns:a="http://schemas.openxmlformats.org/drawingml/2006/main">
            <a:off x="762000" y="455295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A0ABB5"/>
                </a:solidFill>
              </a:defRPr>
            </a:defPPr>
            <a:lvl1pPr>
              <a:defRPr sz="1800" b="0">
                <a:solidFill>
                  <a:srgbClr val="A0ABB5"/>
                </a:solidFill>
              </a:defRPr>
            </a:lvl1pPr>
            <a:lvl2pPr>
              <a:defRPr sz="1800" b="0">
                <a:solidFill>
                  <a:srgbClr val="A0ABB5"/>
                </a:solidFill>
              </a:defRPr>
            </a:lvl2pPr>
            <a:lvl3pPr>
              <a:defRPr sz="1800" b="0">
                <a:solidFill>
                  <a:srgbClr val="A0ABB5"/>
                </a:solidFill>
              </a:defRPr>
            </a:lvl3pPr>
            <a:lvl4pPr>
              <a:defRPr sz="1800" b="0">
                <a:solidFill>
                  <a:srgbClr val="A0ABB5"/>
                </a:solidFill>
              </a:defRPr>
            </a:lvl4pPr>
            <a:lvl5pPr>
              <a:defRPr sz="1800" b="0">
                <a:solidFill>
                  <a:srgbClr val="A0ABB5"/>
                </a:solidFill>
              </a:defRPr>
            </a:lvl5pPr>
            <a:lvl6pPr>
              <a:defRPr sz="1800" b="0">
                <a:solidFill>
                  <a:srgbClr val="A0ABB5"/>
                </a:solidFill>
              </a:defRPr>
            </a:lvl6pPr>
            <a:lvl7pPr>
              <a:defRPr sz="1800" b="0">
                <a:solidFill>
                  <a:srgbClr val="A0ABB5"/>
                </a:solidFill>
              </a:defRPr>
            </a:lvl7pPr>
            <a:lvl8pPr>
              <a:defRPr sz="1800" b="0">
                <a:solidFill>
                  <a:srgbClr val="A0ABB5"/>
                </a:solidFill>
              </a:defRPr>
            </a:lvl8pPr>
            <a:lvl9pPr>
              <a:defRPr sz="1800" b="0">
                <a:solidFill>
                  <a:srgbClr val="A0ABB5"/>
                </a:solidFill>
              </a:defRPr>
            </a:lvl9pPr>
          </a:lstStyle>
          <a:p xmlns:a="http://schemas.openxmlformats.org/drawingml/2006/main">
            <a:pPr>
              <a:defRPr sz="1800" b="0">
                <a:solidFill>
                  <a:srgbClr val="A0ABB5"/>
                </a:solidFill>
              </a:defRPr>
            </a:pPr>
            <a:r>
              <a:rPr sz="1800" b="0">
                <a:solidFill>
                  <a:srgbClr val="A0ABB5"/>
                </a:solidFill>
              </a:rPr>
              <a:t>MAX_CLIENTS in this firmware</a:t>
            </a:r>
          </a:p>
        </p:txBody>
      </p:sp>
      <p:sp>
        <p:nvSpPr>
          <p:cNvPr id="8" name="One frontend and one backend socket per session">
            <a:extLst xmlns:a="http://schemas.openxmlformats.org/drawingml/2006/main">
              <a:ext uri="{FF2B5EF4-FFF2-40B4-BE49-F238E27FC236}">
                <a16:creationId xmlns:a16="http://schemas.microsoft.com/office/drawing/2014/main" id="{0C04521B-6DD7-4E38-B927-88F0E600900D}"/>
              </a:ext>
            </a:extLst>
          </p:cNvPr>
          <p:cNvSpPr>
            <a:spLocks xmlns:a="http://schemas.openxmlformats.org/drawingml/2006/main" noGrp="1"/>
          </p:cNvSpPr>
          <p:nvPr/>
        </p:nvSpPr>
        <p:spPr>
          <a:xfrm xmlns:a="http://schemas.openxmlformats.org/drawingml/2006/main">
            <a:off x="5905500" y="2162175"/>
            <a:ext cx="5476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7F4EE"/>
                </a:solidFill>
              </a:defRPr>
            </a:defPPr>
            <a:lvl1pPr>
              <a:defRPr sz="2175" b="1">
                <a:solidFill>
                  <a:srgbClr val="F7F4EE"/>
                </a:solidFill>
              </a:defRPr>
            </a:lvl1pPr>
            <a:lvl2pPr>
              <a:defRPr sz="2175" b="1">
                <a:solidFill>
                  <a:srgbClr val="F7F4EE"/>
                </a:solidFill>
              </a:defRPr>
            </a:lvl2pPr>
            <a:lvl3pPr>
              <a:defRPr sz="2175" b="1">
                <a:solidFill>
                  <a:srgbClr val="F7F4EE"/>
                </a:solidFill>
              </a:defRPr>
            </a:lvl3pPr>
            <a:lvl4pPr>
              <a:defRPr sz="2175" b="1">
                <a:solidFill>
                  <a:srgbClr val="F7F4EE"/>
                </a:solidFill>
              </a:defRPr>
            </a:lvl4pPr>
            <a:lvl5pPr>
              <a:defRPr sz="2175" b="1">
                <a:solidFill>
                  <a:srgbClr val="F7F4EE"/>
                </a:solidFill>
              </a:defRPr>
            </a:lvl5pPr>
            <a:lvl6pPr>
              <a:defRPr sz="2175" b="1">
                <a:solidFill>
                  <a:srgbClr val="F7F4EE"/>
                </a:solidFill>
              </a:defRPr>
            </a:lvl6pPr>
            <a:lvl7pPr>
              <a:defRPr sz="2175" b="1">
                <a:solidFill>
                  <a:srgbClr val="F7F4EE"/>
                </a:solidFill>
              </a:defRPr>
            </a:lvl7pPr>
            <a:lvl8pPr>
              <a:defRPr sz="2175" b="1">
                <a:solidFill>
                  <a:srgbClr val="F7F4EE"/>
                </a:solidFill>
              </a:defRPr>
            </a:lvl8pPr>
            <a:lvl9pPr>
              <a:defRPr sz="2175" b="1">
                <a:solidFill>
                  <a:srgbClr val="F7F4EE"/>
                </a:solidFill>
              </a:defRPr>
            </a:lvl9pPr>
          </a:lstStyle>
          <a:p xmlns:a="http://schemas.openxmlformats.org/drawingml/2006/main">
            <a:pPr>
              <a:defRPr sz="2175" b="1">
                <a:solidFill>
                  <a:srgbClr val="F7F4EE"/>
                </a:solidFill>
              </a:defRPr>
            </a:pPr>
            <a:r>
              <a:rPr sz="2175" b="1">
                <a:solidFill>
                  <a:srgbClr val="F7F4EE"/>
                </a:solidFill>
              </a:rPr>
              <a:t>One frontend and one backend socket per session</a:t>
            </a:r>
          </a:p>
        </p:txBody>
      </p:sp>
      <p:sp>
        <p:nvSpPr>
          <p:cNvPr id="9" name="The main loop services active sessions with a shared 1,024-b">
            <a:extLst xmlns:a="http://schemas.openxmlformats.org/drawingml/2006/main">
              <a:ext uri="{FF2B5EF4-FFF2-40B4-BE49-F238E27FC236}">
                <a16:creationId xmlns:a16="http://schemas.microsoft.com/office/drawing/2014/main" id="{FB3AE53D-633A-44D0-A7FD-B50EE8A41A6E}"/>
              </a:ext>
            </a:extLst>
          </p:cNvPr>
          <p:cNvSpPr>
            <a:spLocks xmlns:a="http://schemas.openxmlformats.org/drawingml/2006/main" noGrp="1"/>
          </p:cNvSpPr>
          <p:nvPr/>
        </p:nvSpPr>
        <p:spPr>
          <a:xfrm xmlns:a="http://schemas.openxmlformats.org/drawingml/2006/main">
            <a:off x="5905500" y="319087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The main loop services active sessions with a shared 1,024-byte buffer.</a:t>
            </a:r>
          </a:p>
        </p:txBody>
      </p:sp>
      <p:sp>
        <p:nvSpPr>
          <p:cNvPr id="10" name="WiFiManager handles setup. Preferences retains the configure">
            <a:extLst xmlns:a="http://schemas.openxmlformats.org/drawingml/2006/main">
              <a:ext uri="{FF2B5EF4-FFF2-40B4-BE49-F238E27FC236}">
                <a16:creationId xmlns:a16="http://schemas.microsoft.com/office/drawing/2014/main" id="{F03CCD82-8F08-4EAA-86D8-3378262A83AC}"/>
              </a:ext>
            </a:extLst>
          </p:cNvPr>
          <p:cNvSpPr>
            <a:spLocks xmlns:a="http://schemas.openxmlformats.org/drawingml/2006/main" noGrp="1"/>
          </p:cNvSpPr>
          <p:nvPr/>
        </p:nvSpPr>
        <p:spPr>
          <a:xfrm xmlns:a="http://schemas.openxmlformats.org/drawingml/2006/main">
            <a:off x="5905500" y="4295775"/>
            <a:ext cx="547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WiFiManager handles setup. Preferences retains the configured laptop IP.</a:t>
            </a:r>
          </a:p>
        </p:txBody>
      </p:sp>
    </p:spTree>
    <p:extLst>
      <p:ext uri="{BB962C8B-B14F-4D97-AF65-F5344CB8AC3E}">
        <p14:creationId xmlns:p14="http://schemas.microsoft.com/office/powerpoint/2010/main" val="298335255"/>
      </p:ext>
    </p:extLst>
  </p:cSld>
</p:sld>
</file>

<file path=ppt/slides/slide7.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COST SCOPE">
            <a:extLst xmlns:a="http://schemas.openxmlformats.org/drawingml/2006/main">
              <a:ext uri="{FF2B5EF4-FFF2-40B4-BE49-F238E27FC236}">
                <a16:creationId xmlns:a16="http://schemas.microsoft.com/office/drawing/2014/main" id="{755FC44B-1EA6-4866-B831-BB75A1BC404D}"/>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COST SCOPE</a:t>
            </a:r>
          </a:p>
        </p:txBody>
      </p:sp>
      <p:sp>
        <p:nvSpPr>
          <p:cNvPr id="3" name="Incremental prototype cost">
            <a:extLst xmlns:a="http://schemas.openxmlformats.org/drawingml/2006/main">
              <a:ext uri="{FF2B5EF4-FFF2-40B4-BE49-F238E27FC236}">
                <a16:creationId xmlns:a16="http://schemas.microsoft.com/office/drawing/2014/main" id="{2763AB99-70EE-40B7-8A3B-F560AF39C4A4}"/>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Incremental prototype cost</a:t>
            </a:r>
          </a:p>
        </p:txBody>
      </p:sp>
      <p:sp>
        <p:nvSpPr>
          <p:cNvPr id="4" name="00">
            <a:extLst xmlns:a="http://schemas.openxmlformats.org/drawingml/2006/main">
              <a:ext uri="{FF2B5EF4-FFF2-40B4-BE49-F238E27FC236}">
                <a16:creationId xmlns:a16="http://schemas.microsoft.com/office/drawing/2014/main" id="{E3E50BA5-0062-4CDA-B7CD-BFC7DFBE38EC}"/>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07</a:t>
            </a:r>
          </a:p>
        </p:txBody>
      </p:sp>
      <p:sp>
        <p:nvSpPr>
          <p:cNvPr id="5" name="Reference budget with existing laptop, Wi-Fi and USB power">
            <a:extLst xmlns:a="http://schemas.openxmlformats.org/drawingml/2006/main">
              <a:ext uri="{FF2B5EF4-FFF2-40B4-BE49-F238E27FC236}">
                <a16:creationId xmlns:a16="http://schemas.microsoft.com/office/drawing/2014/main" id="{9F69E4E2-7F4B-4D41-BCF0-A5092C86AB10}"/>
              </a:ext>
            </a:extLst>
          </p:cNvPr>
          <p:cNvSpPr>
            <a:spLocks xmlns:a="http://schemas.openxmlformats.org/drawingml/2006/main" noGrp="1"/>
          </p:cNvSpPr>
          <p:nvPr/>
        </p:nvSpPr>
        <p:spPr>
          <a:xfrm xmlns:a="http://schemas.openxmlformats.org/drawingml/2006/main">
            <a:off x="762000" y="19812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E16A3D"/>
                </a:solidFill>
              </a:defRPr>
            </a:defPPr>
            <a:lvl1pPr>
              <a:defRPr sz="2100" b="1">
                <a:solidFill>
                  <a:srgbClr val="E16A3D"/>
                </a:solidFill>
              </a:defRPr>
            </a:lvl1pPr>
            <a:lvl2pPr>
              <a:defRPr sz="2100" b="1">
                <a:solidFill>
                  <a:srgbClr val="E16A3D"/>
                </a:solidFill>
              </a:defRPr>
            </a:lvl2pPr>
            <a:lvl3pPr>
              <a:defRPr sz="2100" b="1">
                <a:solidFill>
                  <a:srgbClr val="E16A3D"/>
                </a:solidFill>
              </a:defRPr>
            </a:lvl3pPr>
            <a:lvl4pPr>
              <a:defRPr sz="2100" b="1">
                <a:solidFill>
                  <a:srgbClr val="E16A3D"/>
                </a:solidFill>
              </a:defRPr>
            </a:lvl4pPr>
            <a:lvl5pPr>
              <a:defRPr sz="2100" b="1">
                <a:solidFill>
                  <a:srgbClr val="E16A3D"/>
                </a:solidFill>
              </a:defRPr>
            </a:lvl5pPr>
            <a:lvl6pPr>
              <a:defRPr sz="2100" b="1">
                <a:solidFill>
                  <a:srgbClr val="E16A3D"/>
                </a:solidFill>
              </a:defRPr>
            </a:lvl6pPr>
            <a:lvl7pPr>
              <a:defRPr sz="2100" b="1">
                <a:solidFill>
                  <a:srgbClr val="E16A3D"/>
                </a:solidFill>
              </a:defRPr>
            </a:lvl7pPr>
            <a:lvl8pPr>
              <a:defRPr sz="2100" b="1">
                <a:solidFill>
                  <a:srgbClr val="E16A3D"/>
                </a:solidFill>
              </a:defRPr>
            </a:lvl8pPr>
            <a:lvl9pPr>
              <a:defRPr sz="2100" b="1">
                <a:solidFill>
                  <a:srgbClr val="E16A3D"/>
                </a:solidFill>
              </a:defRPr>
            </a:lvl9pPr>
          </a:lstStyle>
          <a:p xmlns:a="http://schemas.openxmlformats.org/drawingml/2006/main">
            <a:pPr>
              <a:defRPr sz="2100" b="1">
                <a:solidFill>
                  <a:srgbClr val="E16A3D"/>
                </a:solidFill>
              </a:defRPr>
            </a:pPr>
            <a:r>
              <a:rPr sz="2100" b="1">
                <a:solidFill>
                  <a:srgbClr val="E16A3D"/>
                </a:solidFill>
              </a:rPr>
              <a:t>Reference budget with existing laptop, Wi-Fi and USB power</a:t>
            </a:r>
          </a:p>
        </p:txBody>
      </p:sp>
      <p:graphicFrame>
        <p:nvGraphicFramePr>
          <p:cNvPr id="6" name="">
            <a:extLst xmlns:a="http://schemas.openxmlformats.org/drawingml/2006/main">
              <a:ext uri="{FF2B5EF4-FFF2-40B4-BE49-F238E27FC236}">
                <a16:creationId xmlns:a16="http://schemas.microsoft.com/office/drawing/2014/main" id="{EB1AC73E-682D-4831-8AC5-872B8F7849BE}"/>
              </a:ext>
            </a:extLst>
          </p:cNvPr>
          <p:cNvGraphicFramePr/>
          <p:nvPr/>
        </p:nvGraphicFramePr>
        <p:xfrm>
          <a:off xmlns:a="http://schemas.openxmlformats.org/drawingml/2006/main" x="762000" y="2609850"/>
          <a:ext xmlns:a="http://schemas.openxmlformats.org/drawingml/2006/main" cx="10668000" cy="3257550"/>
        </p:xfrm>
        <a:graphic xmlns:a="http://schemas.openxmlformats.org/drawingml/2006/main">
          <a:graphicData uri="http://schemas.openxmlformats.org/drawingml/2006/table">
            <a:tbl>
              <a:tblPr/>
              <a:tblGrid>
                <a:gridCol w="3333750"/>
                <a:gridCol w="4619625"/>
                <a:gridCol w="2714625"/>
              </a:tblGrid>
              <a:tr h="542925">
                <a:tc>
                  <a:txBody>
                    <a:bodyPr/>
                    <a:lstStyle/>
                    <a:p>
                      <a:r>
                        <a:rPr sz="1875" b="1">
                          <a:solidFill>
                            <a:srgbClr val="F7F4EE"/>
                          </a:solidFill>
                        </a:rPr>
                        <a:t>Item</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Cost treatment</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Added purchase</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42925">
                <a:tc>
                  <a:txBody>
                    <a:bodyPr/>
                    <a:lstStyle/>
                    <a:p>
                      <a:r>
                        <a:rPr sz="1875" b="0">
                          <a:solidFill>
                            <a:srgbClr val="F7F4EE"/>
                          </a:solidFill>
                        </a:rPr>
                        <a:t>ESP32 development board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1 comparable board at list price</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₹425</a:t>
                      </a:r>
                    </a:p>
                  </a:txBody>
                  <a:tcPr marL="91440" marR="91440" marT="45720" marB="45720">
                    <a:lnR w="9525">
                      <a:solidFill>
                        <a:srgbClr val="0E1822"/>
                      </a:solidFill>
                      <a:prstDash val="solid"/>
                    </a:lnR>
                    <a:lnB w="9525">
                      <a:solidFill>
                        <a:srgbClr val="0E1822"/>
                      </a:solidFill>
                      <a:prstDash val="solid"/>
                    </a:lnB>
                    <a:solidFill>
                      <a:srgbClr val="0E1822"/>
                    </a:solidFill>
                  </a:tcPr>
                </a:tc>
              </a:tr>
              <a:tr h="542925">
                <a:tc>
                  <a:txBody>
                    <a:bodyPr/>
                    <a:lstStyle/>
                    <a:p>
                      <a:r>
                        <a:rPr sz="1875" b="0">
                          <a:solidFill>
                            <a:srgbClr val="F7F4EE"/>
                          </a:solidFill>
                        </a:rPr>
                        <a:t>USB cable and power</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Reuse existing equipment</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₹0 new</a:t>
                      </a:r>
                    </a:p>
                  </a:txBody>
                  <a:tcPr marL="91440" marR="91440" marT="45720" marB="45720">
                    <a:lnR w="9525">
                      <a:solidFill>
                        <a:srgbClr val="0E1822"/>
                      </a:solidFill>
                      <a:prstDash val="solid"/>
                    </a:lnR>
                    <a:lnB w="9525">
                      <a:solidFill>
                        <a:srgbClr val="0E1822"/>
                      </a:solidFill>
                      <a:prstDash val="solid"/>
                    </a:lnB>
                    <a:solidFill>
                      <a:srgbClr val="14202C"/>
                    </a:solidFill>
                  </a:tcPr>
                </a:tc>
              </a:tr>
              <a:tr h="542925">
                <a:tc>
                  <a:txBody>
                    <a:bodyPr/>
                    <a:lstStyle/>
                    <a:p>
                      <a:r>
                        <a:rPr sz="1875" b="0">
                          <a:solidFill>
                            <a:srgbClr val="F7F4EE"/>
                          </a:solidFill>
                        </a:rPr>
                        <a:t>Laptop and backend pool</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Existing shared equipment</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Excluded</a:t>
                      </a:r>
                    </a:p>
                  </a:txBody>
                  <a:tcPr marL="91440" marR="91440" marT="45720" marB="45720">
                    <a:lnR w="9525">
                      <a:solidFill>
                        <a:srgbClr val="0E1822"/>
                      </a:solidFill>
                      <a:prstDash val="solid"/>
                    </a:lnR>
                    <a:lnB w="9525">
                      <a:solidFill>
                        <a:srgbClr val="0E1822"/>
                      </a:solidFill>
                      <a:prstDash val="solid"/>
                    </a:lnB>
                    <a:solidFill>
                      <a:srgbClr val="0E1822"/>
                    </a:solidFill>
                  </a:tcPr>
                </a:tc>
              </a:tr>
              <a:tr h="542925">
                <a:tc>
                  <a:txBody>
                    <a:bodyPr/>
                    <a:lstStyle/>
                    <a:p>
                      <a:r>
                        <a:rPr sz="1875" b="0">
                          <a:solidFill>
                            <a:srgbClr val="F7F4EE"/>
                          </a:solidFill>
                        </a:rPr>
                        <a:t>Wi-Fi router and LAN</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Existing shared equipment</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Excluded</a:t>
                      </a:r>
                    </a:p>
                  </a:txBody>
                  <a:tcPr marL="91440" marR="91440" marT="45720" marB="45720">
                    <a:lnR w="9525">
                      <a:solidFill>
                        <a:srgbClr val="0E1822"/>
                      </a:solidFill>
                      <a:prstDash val="solid"/>
                    </a:lnR>
                    <a:lnB w="9525">
                      <a:solidFill>
                        <a:srgbClr val="0E1822"/>
                      </a:solidFill>
                      <a:prstDash val="solid"/>
                    </a:lnB>
                    <a:solidFill>
                      <a:srgbClr val="14202C"/>
                    </a:solidFill>
                  </a:tcPr>
                </a:tc>
              </a:tr>
              <a:tr h="542925">
                <a:tc>
                  <a:txBody>
                    <a:bodyPr/>
                    <a:lstStyle/>
                    <a:p>
                      <a:r>
                        <a:rPr sz="1875" b="0">
                          <a:solidFill>
                            <a:srgbClr val="F7F4EE"/>
                          </a:solidFill>
                        </a:rPr>
                        <a:t>Incremental subtotal</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Board with reused accessories</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₹425 + delivery</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Tree>
    <p:extLst>
      <p:ext uri="{BB962C8B-B14F-4D97-AF65-F5344CB8AC3E}">
        <p14:creationId xmlns:p14="http://schemas.microsoft.com/office/powerpoint/2010/main" val="1460116587"/>
      </p:ext>
    </p:extLst>
  </p:cSld>
</p:sld>
</file>

<file path=ppt/slides/slide8.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DA2 BUDGET AND DA3 REFERENCE PRICES">
            <a:extLst xmlns:a="http://schemas.openxmlformats.org/drawingml/2006/main">
              <a:ext uri="{FF2B5EF4-FFF2-40B4-BE49-F238E27FC236}">
                <a16:creationId xmlns:a16="http://schemas.microsoft.com/office/drawing/2014/main" id="{AD31E87D-F07E-4352-BEB8-E45FD901D450}"/>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DA2 BUDGET AND DA3 REFERENCE PRICES</a:t>
            </a:r>
          </a:p>
        </p:txBody>
      </p:sp>
      <p:sp>
        <p:nvSpPr>
          <p:cNvPr id="3" name="Dedicated gateway hardware comparison">
            <a:extLst xmlns:a="http://schemas.openxmlformats.org/drawingml/2006/main">
              <a:ext uri="{FF2B5EF4-FFF2-40B4-BE49-F238E27FC236}">
                <a16:creationId xmlns:a16="http://schemas.microsoft.com/office/drawing/2014/main" id="{A5F2E7A3-D503-4284-BD2A-E87DE2504601}"/>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Dedicated gateway hardware comparison</a:t>
            </a:r>
          </a:p>
        </p:txBody>
      </p:sp>
      <p:sp>
        <p:nvSpPr>
          <p:cNvPr id="4" name="00">
            <a:extLst xmlns:a="http://schemas.openxmlformats.org/drawingml/2006/main">
              <a:ext uri="{FF2B5EF4-FFF2-40B4-BE49-F238E27FC236}">
                <a16:creationId xmlns:a16="http://schemas.microsoft.com/office/drawing/2014/main" id="{63E7F45E-8F25-4F78-BE0A-E666210ED77D}"/>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08</a:t>
            </a:r>
          </a:p>
        </p:txBody>
      </p:sp>
      <p:sp>
        <p:nvSpPr>
          <p:cNvPr id="5" name="DA3 listings: GST included, delivery excluded, both sold out&#10;Refe">
            <a:extLst xmlns:a="http://schemas.openxmlformats.org/drawingml/2006/main">
              <a:ext uri="{FF2B5EF4-FFF2-40B4-BE49-F238E27FC236}">
                <a16:creationId xmlns:a16="http://schemas.microsoft.com/office/drawing/2014/main" id="{966C9040-3064-4D8C-91AC-52648CCA95DC}"/>
              </a:ext>
            </a:extLst>
          </p:cNvPr>
          <p:cNvSpPr>
            <a:spLocks xmlns:a="http://schemas.openxmlformats.org/drawingml/2006/main" noGrp="1"/>
          </p:cNvSpPr>
          <p:nvPr/>
        </p:nvSpPr>
        <p:spPr>
          <a:xfrm xmlns:a="http://schemas.openxmlformats.org/drawingml/2006/main">
            <a:off x="762000" y="19812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DA3 listings: GST included, delivery excluded, both sold out</a:t>
            </a:r>
          </a:p>
          <a:p xmlns:a="http://schemas.openxmlformats.org/drawingml/2006/main">
            <a:pPr>
              <a:defRPr sz="1950" b="0">
                <a:solidFill>
                  <a:srgbClr val="D8D3CB"/>
                </a:solidFill>
              </a:defRPr>
            </a:pPr>
            <a:r>
              <a:rPr sz="1950" b="0">
                <a:solidFill>
                  <a:srgbClr val="D8D3CB"/>
                </a:solidFill>
              </a:rPr>
              <a:t>Reference date: 28 October 2026</a:t>
            </a:r>
          </a:p>
        </p:txBody>
      </p:sp>
      <p:graphicFrame>
        <p:nvGraphicFramePr>
          <p:cNvPr id="6" name="">
            <a:extLst xmlns:a="http://schemas.openxmlformats.org/drawingml/2006/main">
              <a:ext uri="{FF2B5EF4-FFF2-40B4-BE49-F238E27FC236}">
                <a16:creationId xmlns:a16="http://schemas.microsoft.com/office/drawing/2014/main" id="{AD00D4C6-B142-41EE-921B-EF64A39CA3D0}"/>
              </a:ext>
            </a:extLst>
          </p:cNvPr>
          <p:cNvGraphicFramePr/>
          <p:nvPr/>
        </p:nvGraphicFramePr>
        <p:xfrm>
          <a:off xmlns:a="http://schemas.openxmlformats.org/drawingml/2006/main" x="762000" y="3019425"/>
          <a:ext xmlns:a="http://schemas.openxmlformats.org/drawingml/2006/main" cx="10668000" cy="1695450"/>
        </p:xfrm>
        <a:graphic xmlns:a="http://schemas.openxmlformats.org/drawingml/2006/main">
          <a:graphicData uri="http://schemas.openxmlformats.org/drawingml/2006/table">
            <a:tbl>
              <a:tblPr/>
              <a:tblGrid>
                <a:gridCol w="4572000"/>
                <a:gridCol w="3143250"/>
                <a:gridCol w="2952750"/>
              </a:tblGrid>
              <a:tr h="565150">
                <a:tc>
                  <a:txBody>
                    <a:bodyPr/>
                    <a:lstStyle/>
                    <a:p>
                      <a:r>
                        <a:rPr sz="2025" b="1">
                          <a:solidFill>
                            <a:srgbClr val="F7F4EE"/>
                          </a:solidFill>
                        </a:rPr>
                        <a:t>Gateway board</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2025" b="1">
                          <a:solidFill>
                            <a:srgbClr val="F7F4EE"/>
                          </a:solidFill>
                        </a:rPr>
                        <a:t>DA2 budget estimate</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2025" b="1">
                          <a:solidFill>
                            <a:srgbClr val="F7F4EE"/>
                          </a:solidFill>
                        </a:rPr>
                        <a:t>DA3 listed price</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65150">
                <a:tc>
                  <a:txBody>
                    <a:bodyPr/>
                    <a:lstStyle/>
                    <a:p>
                      <a:r>
                        <a:rPr sz="2025" b="0">
                          <a:solidFill>
                            <a:srgbClr val="F7F4EE"/>
                          </a:solidFill>
                        </a:rPr>
                        <a:t>ESP32 development board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₹350</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₹425</a:t>
                      </a:r>
                    </a:p>
                  </a:txBody>
                  <a:tcPr marL="91440" marR="91440" marT="45720" marB="45720">
                    <a:lnR w="9525">
                      <a:solidFill>
                        <a:srgbClr val="0E1822"/>
                      </a:solidFill>
                      <a:prstDash val="solid"/>
                    </a:lnR>
                    <a:lnB w="9525">
                      <a:solidFill>
                        <a:srgbClr val="0E1822"/>
                      </a:solidFill>
                      <a:prstDash val="solid"/>
                    </a:lnB>
                    <a:solidFill>
                      <a:srgbClr val="0E1822"/>
                    </a:solidFill>
                  </a:tcPr>
                </a:tc>
              </a:tr>
              <a:tr h="565150">
                <a:tc>
                  <a:txBody>
                    <a:bodyPr/>
                    <a:lstStyle/>
                    <a:p>
                      <a:r>
                        <a:rPr sz="2025" b="0">
                          <a:solidFill>
                            <a:srgbClr val="F7F4EE"/>
                          </a:solidFill>
                        </a:rPr>
                        <a:t>Raspberry Pi 4, 2 GB</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2025" b="0">
                          <a:solidFill>
                            <a:srgbClr val="D8D3CB"/>
                          </a:solidFill>
                        </a:rPr>
                        <a:t>₹4,200</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2025" b="0">
                          <a:solidFill>
                            <a:srgbClr val="D8D3CB"/>
                          </a:solidFill>
                        </a:rPr>
                        <a:t>₹7,091</a:t>
                      </a:r>
                    </a:p>
                  </a:txBody>
                  <a:tcPr marL="91440" marR="91440" marT="45720" marB="45720">
                    <a:lnR w="9525">
                      <a:solidFill>
                        <a:srgbClr val="0E1822"/>
                      </a:solidFill>
                      <a:prstDash val="solid"/>
                    </a:lnR>
                    <a:lnB w="9525">
                      <a:solidFill>
                        <a:srgbClr val="0E1822"/>
                      </a:solidFill>
                      <a:prstDash val="solid"/>
                    </a:lnB>
                    <a:solidFill>
                      <a:srgbClr val="14202C"/>
                    </a:solidFill>
                  </a:tcPr>
                </a:tc>
              </a:tr>
            </a:tbl>
          </a:graphicData>
        </a:graphic>
      </p:graphicFrame>
      <p:sp>
        <p:nvSpPr>
          <p:cNvPr id="7" name="₹6,666">
            <a:extLst xmlns:a="http://schemas.openxmlformats.org/drawingml/2006/main">
              <a:ext uri="{FF2B5EF4-FFF2-40B4-BE49-F238E27FC236}">
                <a16:creationId xmlns:a16="http://schemas.microsoft.com/office/drawing/2014/main" id="{85F0D28B-635E-4CB3-8CC1-F10B5579FB4A}"/>
              </a:ext>
            </a:extLst>
          </p:cNvPr>
          <p:cNvSpPr>
            <a:spLocks xmlns:a="http://schemas.openxmlformats.org/drawingml/2006/main" noGrp="1"/>
          </p:cNvSpPr>
          <p:nvPr/>
        </p:nvSpPr>
        <p:spPr>
          <a:xfrm xmlns:a="http://schemas.openxmlformats.org/drawingml/2006/main">
            <a:off x="762000" y="50958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425" b="1">
                <a:solidFill>
                  <a:srgbClr val="E16A3D"/>
                </a:solidFill>
              </a:defRPr>
            </a:defPPr>
            <a:lvl1pPr>
              <a:defRPr sz="4425" b="1">
                <a:solidFill>
                  <a:srgbClr val="E16A3D"/>
                </a:solidFill>
              </a:defRPr>
            </a:lvl1pPr>
            <a:lvl2pPr>
              <a:defRPr sz="4425" b="1">
                <a:solidFill>
                  <a:srgbClr val="E16A3D"/>
                </a:solidFill>
              </a:defRPr>
            </a:lvl2pPr>
            <a:lvl3pPr>
              <a:defRPr sz="4425" b="1">
                <a:solidFill>
                  <a:srgbClr val="E16A3D"/>
                </a:solidFill>
              </a:defRPr>
            </a:lvl3pPr>
            <a:lvl4pPr>
              <a:defRPr sz="4425" b="1">
                <a:solidFill>
                  <a:srgbClr val="E16A3D"/>
                </a:solidFill>
              </a:defRPr>
            </a:lvl4pPr>
            <a:lvl5pPr>
              <a:defRPr sz="4425" b="1">
                <a:solidFill>
                  <a:srgbClr val="E16A3D"/>
                </a:solidFill>
              </a:defRPr>
            </a:lvl5pPr>
            <a:lvl6pPr>
              <a:defRPr sz="4425" b="1">
                <a:solidFill>
                  <a:srgbClr val="E16A3D"/>
                </a:solidFill>
              </a:defRPr>
            </a:lvl6pPr>
            <a:lvl7pPr>
              <a:defRPr sz="4425" b="1">
                <a:solidFill>
                  <a:srgbClr val="E16A3D"/>
                </a:solidFill>
              </a:defRPr>
            </a:lvl7pPr>
            <a:lvl8pPr>
              <a:defRPr sz="4425" b="1">
                <a:solidFill>
                  <a:srgbClr val="E16A3D"/>
                </a:solidFill>
              </a:defRPr>
            </a:lvl8pPr>
            <a:lvl9pPr>
              <a:defRPr sz="4425" b="1">
                <a:solidFill>
                  <a:srgbClr val="E16A3D"/>
                </a:solidFill>
              </a:defRPr>
            </a:lvl9pPr>
          </a:lstStyle>
          <a:p xmlns:a="http://schemas.openxmlformats.org/drawingml/2006/main">
            <a:pPr>
              <a:defRPr sz="4425" b="1">
                <a:solidFill>
                  <a:srgbClr val="E16A3D"/>
                </a:solidFill>
              </a:defRPr>
            </a:pPr>
            <a:r>
              <a:rPr sz="4425" b="1">
                <a:solidFill>
                  <a:srgbClr val="E16A3D"/>
                </a:solidFill>
              </a:rPr>
              <a:t>₹6,666</a:t>
            </a:r>
          </a:p>
        </p:txBody>
      </p:sp>
      <p:sp>
        <p:nvSpPr>
          <p:cNvPr id="8" name="94.0% lower board price than the Pi reference&#10;DA2 budget comparis">
            <a:extLst xmlns:a="http://schemas.openxmlformats.org/drawingml/2006/main">
              <a:ext uri="{FF2B5EF4-FFF2-40B4-BE49-F238E27FC236}">
                <a16:creationId xmlns:a16="http://schemas.microsoft.com/office/drawing/2014/main" id="{4DAE0145-7394-4197-B0EF-E300CD61F9A7}"/>
              </a:ext>
            </a:extLst>
          </p:cNvPr>
          <p:cNvSpPr>
            <a:spLocks xmlns:a="http://schemas.openxmlformats.org/drawingml/2006/main" noGrp="1"/>
          </p:cNvSpPr>
          <p:nvPr/>
        </p:nvSpPr>
        <p:spPr>
          <a:xfrm xmlns:a="http://schemas.openxmlformats.org/drawingml/2006/main">
            <a:off x="4572000" y="5153025"/>
            <a:ext cx="685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F7F4EE"/>
                </a:solidFill>
              </a:defRPr>
            </a:defPPr>
            <a:lvl1pPr>
              <a:defRPr sz="2100" b="1">
                <a:solidFill>
                  <a:srgbClr val="F7F4EE"/>
                </a:solidFill>
              </a:defRPr>
            </a:lvl1pPr>
            <a:lvl2pPr>
              <a:defRPr sz="2100" b="1">
                <a:solidFill>
                  <a:srgbClr val="F7F4EE"/>
                </a:solidFill>
              </a:defRPr>
            </a:lvl2pPr>
            <a:lvl3pPr>
              <a:defRPr sz="2100" b="1">
                <a:solidFill>
                  <a:srgbClr val="F7F4EE"/>
                </a:solidFill>
              </a:defRPr>
            </a:lvl3pPr>
            <a:lvl4pPr>
              <a:defRPr sz="2100" b="1">
                <a:solidFill>
                  <a:srgbClr val="F7F4EE"/>
                </a:solidFill>
              </a:defRPr>
            </a:lvl4pPr>
            <a:lvl5pPr>
              <a:defRPr sz="2100" b="1">
                <a:solidFill>
                  <a:srgbClr val="F7F4EE"/>
                </a:solidFill>
              </a:defRPr>
            </a:lvl5pPr>
            <a:lvl6pPr>
              <a:defRPr sz="2100" b="1">
                <a:solidFill>
                  <a:srgbClr val="F7F4EE"/>
                </a:solidFill>
              </a:defRPr>
            </a:lvl6pPr>
            <a:lvl7pPr>
              <a:defRPr sz="2100" b="1">
                <a:solidFill>
                  <a:srgbClr val="F7F4EE"/>
                </a:solidFill>
              </a:defRPr>
            </a:lvl7pPr>
            <a:lvl8pPr>
              <a:defRPr sz="2100" b="1">
                <a:solidFill>
                  <a:srgbClr val="F7F4EE"/>
                </a:solidFill>
              </a:defRPr>
            </a:lvl8pPr>
            <a:lvl9pPr>
              <a:defRPr sz="2100" b="1">
                <a:solidFill>
                  <a:srgbClr val="F7F4EE"/>
                </a:solidFill>
              </a:defRPr>
            </a:lvl9pPr>
          </a:lstStyle>
          <a:p xmlns:a="http://schemas.openxmlformats.org/drawingml/2006/main">
            <a:pPr>
              <a:defRPr sz="2100" b="1">
                <a:solidFill>
                  <a:srgbClr val="F7F4EE"/>
                </a:solidFill>
              </a:defRPr>
            </a:pPr>
            <a:r>
              <a:rPr sz="2100" b="1">
                <a:solidFill>
                  <a:srgbClr val="F7F4EE"/>
                </a:solidFill>
              </a:rPr>
              <a:t>94.0% lower board price than the Pi reference</a:t>
            </a:r>
          </a:p>
          <a:p xmlns:a="http://schemas.openxmlformats.org/drawingml/2006/main">
            <a:pPr>
              <a:defRPr sz="2100" b="1">
                <a:solidFill>
                  <a:srgbClr val="F7F4EE"/>
                </a:solidFill>
              </a:defRPr>
            </a:pPr>
            <a:r>
              <a:rPr sz="2100" b="1">
                <a:solidFill>
                  <a:srgbClr val="F7F4EE"/>
                </a:solidFill>
              </a:rPr>
              <a:t>DA2 budget comparison: 91.7% lower</a:t>
            </a:r>
          </a:p>
        </p:txBody>
      </p:sp>
    </p:spTree>
    <p:extLst>
      <p:ext uri="{BB962C8B-B14F-4D97-AF65-F5344CB8AC3E}">
        <p14:creationId xmlns:p14="http://schemas.microsoft.com/office/powerpoint/2010/main" val="287354211"/>
      </p:ext>
    </p:extLst>
  </p:cSld>
</p:sld>
</file>

<file path=ppt/slides/slide9.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ILLUSTRATIVE OPERATING-COST MODEL">
            <a:extLst xmlns:a="http://schemas.openxmlformats.org/drawingml/2006/main">
              <a:ext uri="{FF2B5EF4-FFF2-40B4-BE49-F238E27FC236}">
                <a16:creationId xmlns:a16="http://schemas.microsoft.com/office/drawing/2014/main" id="{53EC5F5A-2433-4E26-921E-EC396996D6D2}"/>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ILLUSTRATIVE OPERATING-COST MODEL</a:t>
            </a:r>
          </a:p>
        </p:txBody>
      </p:sp>
      <p:sp>
        <p:nvSpPr>
          <p:cNvPr id="3" name="Electricity and three-year gateway cost">
            <a:extLst xmlns:a="http://schemas.openxmlformats.org/drawingml/2006/main">
              <a:ext uri="{FF2B5EF4-FFF2-40B4-BE49-F238E27FC236}">
                <a16:creationId xmlns:a16="http://schemas.microsoft.com/office/drawing/2014/main" id="{469125C9-EF79-4BA5-92AF-E2694DEBAF51}"/>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Electricity and three-year gateway cost</a:t>
            </a:r>
          </a:p>
        </p:txBody>
      </p:sp>
      <p:sp>
        <p:nvSpPr>
          <p:cNvPr id="4" name="00">
            <a:extLst xmlns:a="http://schemas.openxmlformats.org/drawingml/2006/main">
              <a:ext uri="{FF2B5EF4-FFF2-40B4-BE49-F238E27FC236}">
                <a16:creationId xmlns:a16="http://schemas.microsoft.com/office/drawing/2014/main" id="{0BBAE102-5952-4F4C-BB25-B0B4B546BE72}"/>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09</a:t>
            </a:r>
          </a:p>
        </p:txBody>
      </p:sp>
      <p:sp>
        <p:nvSpPr>
          <p:cNvPr id="5" name="24/7 operation at an assumed ₹8/kWh. Board + electricity only.">
            <a:extLst xmlns:a="http://schemas.openxmlformats.org/drawingml/2006/main">
              <a:ext uri="{FF2B5EF4-FFF2-40B4-BE49-F238E27FC236}">
                <a16:creationId xmlns:a16="http://schemas.microsoft.com/office/drawing/2014/main" id="{339A7085-D8E7-4E5A-B33B-607510154145}"/>
              </a:ext>
            </a:extLst>
          </p:cNvPr>
          <p:cNvSpPr>
            <a:spLocks xmlns:a="http://schemas.openxmlformats.org/drawingml/2006/main" noGrp="1"/>
          </p:cNvSpPr>
          <p:nvPr/>
        </p:nvSpPr>
        <p:spPr>
          <a:xfrm xmlns:a="http://schemas.openxmlformats.org/drawingml/2006/main">
            <a:off x="762000" y="198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24/7 operation at an assumed ₹8/kWh. Board + electricity only.</a:t>
            </a:r>
          </a:p>
        </p:txBody>
      </p:sp>
      <p:sp>
        <p:nvSpPr>
          <p:cNvPr id="6" name="ESP32 power is unmeasured. Pi inputs span idle to CPU stress.">
            <a:extLst xmlns:a="http://schemas.openxmlformats.org/drawingml/2006/main">
              <a:ext uri="{FF2B5EF4-FFF2-40B4-BE49-F238E27FC236}">
                <a16:creationId xmlns:a16="http://schemas.microsoft.com/office/drawing/2014/main" id="{4AE3B28E-8B5C-4FA2-9BF6-350A31ABD482}"/>
              </a:ext>
            </a:extLst>
          </p:cNvPr>
          <p:cNvSpPr>
            <a:spLocks xmlns:a="http://schemas.openxmlformats.org/drawingml/2006/main" noGrp="1"/>
          </p:cNvSpPr>
          <p:nvPr/>
        </p:nvSpPr>
        <p:spPr>
          <a:xfrm xmlns:a="http://schemas.openxmlformats.org/drawingml/2006/main">
            <a:off x="762000" y="24574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ESP32 power is unmeasured. Pi inputs span idle to CPU stress.</a:t>
            </a:r>
          </a:p>
        </p:txBody>
      </p:sp>
      <p:graphicFrame>
        <p:nvGraphicFramePr>
          <p:cNvPr id="7" name="">
            <a:extLst xmlns:a="http://schemas.openxmlformats.org/drawingml/2006/main">
              <a:ext uri="{FF2B5EF4-FFF2-40B4-BE49-F238E27FC236}">
                <a16:creationId xmlns:a16="http://schemas.microsoft.com/office/drawing/2014/main" id="{5E47695A-FE41-43DE-8937-1217D8A2AA11}"/>
              </a:ext>
            </a:extLst>
          </p:cNvPr>
          <p:cNvGraphicFramePr/>
          <p:nvPr/>
        </p:nvGraphicFramePr>
        <p:xfrm>
          <a:off xmlns:a="http://schemas.openxmlformats.org/drawingml/2006/main" x="762000" y="3095625"/>
          <a:ext xmlns:a="http://schemas.openxmlformats.org/drawingml/2006/main" cx="10668000" cy="2714625"/>
        </p:xfrm>
        <a:graphic xmlns:a="http://schemas.openxmlformats.org/drawingml/2006/main">
          <a:graphicData uri="http://schemas.openxmlformats.org/drawingml/2006/table">
            <a:tbl>
              <a:tblPr/>
              <a:tblGrid>
                <a:gridCol w="4095750"/>
                <a:gridCol w="3143250"/>
                <a:gridCol w="3429000"/>
              </a:tblGrid>
              <a:tr h="542925">
                <a:tc>
                  <a:txBody>
                    <a:bodyPr/>
                    <a:lstStyle/>
                    <a:p>
                      <a:r>
                        <a:rPr sz="1875" b="1">
                          <a:solidFill>
                            <a:srgbClr val="F7F4EE"/>
                          </a:solidFill>
                        </a:rPr>
                        <a:t>Metric</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ESP32 planning case</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Pi 4 sensitivity range</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42925">
                <a:tc>
                  <a:txBody>
                    <a:bodyPr/>
                    <a:lstStyle/>
                    <a:p>
                      <a:r>
                        <a:rPr sz="1875" b="0">
                          <a:solidFill>
                            <a:srgbClr val="F7F4EE"/>
                          </a:solidFill>
                        </a:rPr>
                        <a:t>Power input</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0.79 W, DA2 estimate</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2.7 W idle to 6.4 W stress</a:t>
                      </a:r>
                    </a:p>
                  </a:txBody>
                  <a:tcPr marL="91440" marR="91440" marT="45720" marB="45720">
                    <a:lnR w="9525">
                      <a:solidFill>
                        <a:srgbClr val="0E1822"/>
                      </a:solidFill>
                      <a:prstDash val="solid"/>
                    </a:lnR>
                    <a:lnB w="9525">
                      <a:solidFill>
                        <a:srgbClr val="0E1822"/>
                      </a:solidFill>
                      <a:prstDash val="solid"/>
                    </a:lnB>
                    <a:solidFill>
                      <a:srgbClr val="0E1822"/>
                    </a:solidFill>
                  </a:tcPr>
                </a:tc>
              </a:tr>
              <a:tr h="542925">
                <a:tc>
                  <a:txBody>
                    <a:bodyPr/>
                    <a:lstStyle/>
                    <a:p>
                      <a:r>
                        <a:rPr sz="1875" b="0">
                          <a:solidFill>
                            <a:srgbClr val="F7F4EE"/>
                          </a:solidFill>
                        </a:rPr>
                        <a:t>Energy per year</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6.9 kWh</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23.7–56.1 kWh</a:t>
                      </a:r>
                    </a:p>
                  </a:txBody>
                  <a:tcPr marL="91440" marR="91440" marT="45720" marB="45720">
                    <a:lnR w="9525">
                      <a:solidFill>
                        <a:srgbClr val="0E1822"/>
                      </a:solidFill>
                      <a:prstDash val="solid"/>
                    </a:lnR>
                    <a:lnB w="9525">
                      <a:solidFill>
                        <a:srgbClr val="0E1822"/>
                      </a:solidFill>
                      <a:prstDash val="solid"/>
                    </a:lnB>
                    <a:solidFill>
                      <a:srgbClr val="14202C"/>
                    </a:solidFill>
                  </a:tcPr>
                </a:tc>
              </a:tr>
              <a:tr h="542925">
                <a:tc>
                  <a:txBody>
                    <a:bodyPr/>
                    <a:lstStyle/>
                    <a:p>
                      <a:r>
                        <a:rPr sz="1875" b="0">
                          <a:solidFill>
                            <a:srgbClr val="F7F4EE"/>
                          </a:solidFill>
                        </a:rPr>
                        <a:t>Electricity per year</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₹55</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₹189–449</a:t>
                      </a:r>
                    </a:p>
                  </a:txBody>
                  <a:tcPr marL="91440" marR="91440" marT="45720" marB="45720">
                    <a:lnR w="9525">
                      <a:solidFill>
                        <a:srgbClr val="0E1822"/>
                      </a:solidFill>
                      <a:prstDash val="solid"/>
                    </a:lnR>
                    <a:lnB w="9525">
                      <a:solidFill>
                        <a:srgbClr val="0E1822"/>
                      </a:solidFill>
                      <a:prstDash val="solid"/>
                    </a:lnB>
                    <a:solidFill>
                      <a:srgbClr val="0E1822"/>
                    </a:solidFill>
                  </a:tcPr>
                </a:tc>
              </a:tr>
              <a:tr h="542925">
                <a:tc>
                  <a:txBody>
                    <a:bodyPr/>
                    <a:lstStyle/>
                    <a:p>
                      <a:r>
                        <a:rPr sz="1875" b="0">
                          <a:solidFill>
                            <a:srgbClr val="F7F4EE"/>
                          </a:solidFill>
                        </a:rPr>
                        <a:t>3-year board + electricity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₹591</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₹7,659–8,437</a:t>
                      </a:r>
                    </a:p>
                  </a:txBody>
                  <a:tcPr marL="91440" marR="91440" marT="45720" marB="45720">
                    <a:lnR w="9525">
                      <a:solidFill>
                        <a:srgbClr val="0E1822"/>
                      </a:solidFill>
                      <a:prstDash val="solid"/>
                    </a:lnR>
                    <a:lnB w="9525">
                      <a:solidFill>
                        <a:srgbClr val="0E1822"/>
                      </a:solidFill>
                      <a:prstDash val="solid"/>
                    </a:lnB>
                    <a:solidFill>
                      <a:srgbClr val="14202C"/>
                    </a:solidFill>
                  </a:tcPr>
                </a:tc>
              </a:tr>
            </a:tbl>
          </a:graphicData>
        </a:graphic>
      </p:graphicFrame>
    </p:spTree>
    <p:extLst>
      <p:ext uri="{BB962C8B-B14F-4D97-AF65-F5344CB8AC3E}">
        <p14:creationId xmlns:p14="http://schemas.microsoft.com/office/powerpoint/2010/main" val="948487676"/>
      </p:ext>
    </p:extLst>
  </p:cSld>
</p:sld>
</file>

<file path=ppt/slides/slide10.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COST REDUCTION MECHANISM">
            <a:extLst xmlns:a="http://schemas.openxmlformats.org/drawingml/2006/main">
              <a:ext uri="{FF2B5EF4-FFF2-40B4-BE49-F238E27FC236}">
                <a16:creationId xmlns:a16="http://schemas.microsoft.com/office/drawing/2014/main" id="{6607A179-B16A-4D05-8E7F-9FCDD61CBF31}"/>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COST REDUCTION MECHANISM</a:t>
            </a:r>
          </a:p>
        </p:txBody>
      </p:sp>
      <p:sp>
        <p:nvSpPr>
          <p:cNvPr id="3" name="Where the savings come from">
            <a:extLst xmlns:a="http://schemas.openxmlformats.org/drawingml/2006/main">
              <a:ext uri="{FF2B5EF4-FFF2-40B4-BE49-F238E27FC236}">
                <a16:creationId xmlns:a16="http://schemas.microsoft.com/office/drawing/2014/main" id="{60370DD5-D410-4F93-8CB8-2A33988FE9F8}"/>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Where the savings come from</a:t>
            </a:r>
          </a:p>
        </p:txBody>
      </p:sp>
      <p:sp>
        <p:nvSpPr>
          <p:cNvPr id="4" name="00">
            <a:extLst xmlns:a="http://schemas.openxmlformats.org/drawingml/2006/main">
              <a:ext uri="{FF2B5EF4-FFF2-40B4-BE49-F238E27FC236}">
                <a16:creationId xmlns:a16="http://schemas.microsoft.com/office/drawing/2014/main" id="{98D1F498-5FBA-4E06-A9FA-6B05EFBC0BFF}"/>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10</a:t>
            </a:r>
          </a:p>
        </p:txBody>
      </p:sp>
      <p:sp>
        <p:nvSpPr>
          <p:cNvPr id="5" name="Smaller dedicated hardware">
            <a:extLst xmlns:a="http://schemas.openxmlformats.org/drawingml/2006/main">
              <a:ext uri="{FF2B5EF4-FFF2-40B4-BE49-F238E27FC236}">
                <a16:creationId xmlns:a16="http://schemas.microsoft.com/office/drawing/2014/main" id="{4279580A-B0C8-45BF-8F1D-E4B207A28234}"/>
              </a:ext>
            </a:extLst>
          </p:cNvPr>
          <p:cNvSpPr>
            <a:spLocks xmlns:a="http://schemas.openxmlformats.org/drawingml/2006/main" noGrp="1"/>
          </p:cNvSpPr>
          <p:nvPr/>
        </p:nvSpPr>
        <p:spPr>
          <a:xfrm xmlns:a="http://schemas.openxmlformats.org/drawingml/2006/main">
            <a:off x="762000" y="2000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Smaller dedicated hardware</a:t>
            </a:r>
          </a:p>
        </p:txBody>
      </p:sp>
      <p:sp>
        <p:nvSpPr>
          <p:cNvPr id="6" name="The ESP32 handles the prototype’s gateway duties without buying a">
            <a:extLst xmlns:a="http://schemas.openxmlformats.org/drawingml/2006/main">
              <a:ext uri="{FF2B5EF4-FFF2-40B4-BE49-F238E27FC236}">
                <a16:creationId xmlns:a16="http://schemas.microsoft.com/office/drawing/2014/main" id="{D501F531-0315-4A77-AA63-F79CB2AD7FB9}"/>
              </a:ext>
            </a:extLst>
          </p:cNvPr>
          <p:cNvSpPr>
            <a:spLocks xmlns:a="http://schemas.openxmlformats.org/drawingml/2006/main" noGrp="1"/>
          </p:cNvSpPr>
          <p:nvPr/>
        </p:nvSpPr>
        <p:spPr>
          <a:xfrm xmlns:a="http://schemas.openxmlformats.org/drawingml/2006/main">
            <a:off x="762000" y="24003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The ESP32 handles the prototype’s gateway duties without buying a separate Linux computer.</a:t>
            </a:r>
          </a:p>
        </p:txBody>
      </p:sp>
      <p:sp>
        <p:nvSpPr>
          <p:cNvPr id="7" name="No managed-balancer subscription">
            <a:extLst xmlns:a="http://schemas.openxmlformats.org/drawingml/2006/main">
              <a:ext uri="{FF2B5EF4-FFF2-40B4-BE49-F238E27FC236}">
                <a16:creationId xmlns:a16="http://schemas.microsoft.com/office/drawing/2014/main" id="{273E6DDA-E446-44D2-9B7B-8D95C5A469A7}"/>
              </a:ext>
            </a:extLst>
          </p:cNvPr>
          <p:cNvSpPr>
            <a:spLocks xmlns:a="http://schemas.openxmlformats.org/drawingml/2006/main" noGrp="1"/>
          </p:cNvSpPr>
          <p:nvPr/>
        </p:nvSpPr>
        <p:spPr>
          <a:xfrm xmlns:a="http://schemas.openxmlformats.org/drawingml/2006/main">
            <a:off x="762000" y="30670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No managed-balancer subscription</a:t>
            </a:r>
          </a:p>
        </p:txBody>
      </p:sp>
      <p:sp>
        <p:nvSpPr>
          <p:cNvPr id="8" name="AWS ALB example base charge: $197.10/year before usage and tax. O">
            <a:extLst xmlns:a="http://schemas.openxmlformats.org/drawingml/2006/main">
              <a:ext uri="{FF2B5EF4-FFF2-40B4-BE49-F238E27FC236}">
                <a16:creationId xmlns:a16="http://schemas.microsoft.com/office/drawing/2014/main" id="{24E985E8-1805-46C8-96A2-A4CD4602272A}"/>
              </a:ext>
            </a:extLst>
          </p:cNvPr>
          <p:cNvSpPr>
            <a:spLocks xmlns:a="http://schemas.openxmlformats.org/drawingml/2006/main" noGrp="1"/>
          </p:cNvSpPr>
          <p:nvPr/>
        </p:nvSpPr>
        <p:spPr>
          <a:xfrm xmlns:a="http://schemas.openxmlformats.org/drawingml/2006/main">
            <a:off x="762000" y="34671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AWS ALB example base charge: $197.10/year before usage and tax. Our local firmware has no such service fee.</a:t>
            </a:r>
          </a:p>
        </p:txBody>
      </p:sp>
      <p:sp>
        <p:nvSpPr>
          <p:cNvPr id="9" name="Learning on the existing board">
            <a:extLst xmlns:a="http://schemas.openxmlformats.org/drawingml/2006/main">
              <a:ext uri="{FF2B5EF4-FFF2-40B4-BE49-F238E27FC236}">
                <a16:creationId xmlns:a16="http://schemas.microsoft.com/office/drawing/2014/main" id="{89A2650F-FC3C-414F-AEA3-F2990C4D9813}"/>
              </a:ext>
            </a:extLst>
          </p:cNvPr>
          <p:cNvSpPr>
            <a:spLocks xmlns:a="http://schemas.openxmlformats.org/drawingml/2006/main" noGrp="1"/>
          </p:cNvSpPr>
          <p:nvPr/>
        </p:nvSpPr>
        <p:spPr>
          <a:xfrm xmlns:a="http://schemas.openxmlformats.org/drawingml/2006/main">
            <a:off x="762000" y="41338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Learning on the existing board</a:t>
            </a:r>
          </a:p>
        </p:txBody>
      </p:sp>
      <p:sp>
        <p:nvSpPr>
          <p:cNvPr id="10" name="Q-learning and flash persistence reuse the same hardware. Lower l">
            <a:extLst xmlns:a="http://schemas.openxmlformats.org/drawingml/2006/main">
              <a:ext uri="{FF2B5EF4-FFF2-40B4-BE49-F238E27FC236}">
                <a16:creationId xmlns:a16="http://schemas.microsoft.com/office/drawing/2014/main" id="{1B596F9A-25FB-4405-B791-5E360EED9F6B}"/>
              </a:ext>
            </a:extLst>
          </p:cNvPr>
          <p:cNvSpPr>
            <a:spLocks xmlns:a="http://schemas.openxmlformats.org/drawingml/2006/main" noGrp="1"/>
          </p:cNvSpPr>
          <p:nvPr/>
        </p:nvSpPr>
        <p:spPr>
          <a:xfrm xmlns:a="http://schemas.openxmlformats.org/drawingml/2006/main">
            <a:off x="762000" y="45339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Q-learning and flash persistence reuse the same hardware. Lower latency does not prove lower backend spending.</a:t>
            </a:r>
          </a:p>
        </p:txBody>
      </p:sp>
      <p:sp>
        <p:nvSpPr>
          <p:cNvPr id="11" name="The saving depends on the starting point">
            <a:extLst xmlns:a="http://schemas.openxmlformats.org/drawingml/2006/main">
              <a:ext uri="{FF2B5EF4-FFF2-40B4-BE49-F238E27FC236}">
                <a16:creationId xmlns:a16="http://schemas.microsoft.com/office/drawing/2014/main" id="{1ACFCCC1-D669-46A4-9B1F-C206EB4024CC}"/>
              </a:ext>
            </a:extLst>
          </p:cNvPr>
          <p:cNvSpPr>
            <a:spLocks xmlns:a="http://schemas.openxmlformats.org/drawingml/2006/main" noGrp="1"/>
          </p:cNvSpPr>
          <p:nvPr/>
        </p:nvSpPr>
        <p:spPr>
          <a:xfrm xmlns:a="http://schemas.openxmlformats.org/drawingml/2006/main">
            <a:off x="762000" y="5200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The saving depends on the starting point</a:t>
            </a:r>
          </a:p>
        </p:txBody>
      </p:sp>
      <p:sp>
        <p:nvSpPr>
          <p:cNvPr id="12" name="A free proxy on an existing server may need ₹0 in new gateway har">
            <a:extLst xmlns:a="http://schemas.openxmlformats.org/drawingml/2006/main">
              <a:ext uri="{FF2B5EF4-FFF2-40B4-BE49-F238E27FC236}">
                <a16:creationId xmlns:a16="http://schemas.microsoft.com/office/drawing/2014/main" id="{F3226C81-3D05-41AF-AAE3-80089A8D3DD9}"/>
              </a:ext>
            </a:extLst>
          </p:cNvPr>
          <p:cNvSpPr>
            <a:spLocks xmlns:a="http://schemas.openxmlformats.org/drawingml/2006/main" noGrp="1"/>
          </p:cNvSpPr>
          <p:nvPr/>
        </p:nvSpPr>
        <p:spPr>
          <a:xfrm xmlns:a="http://schemas.openxmlformats.org/drawingml/2006/main">
            <a:off x="762000" y="56007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A free proxy on an existing server may need ₹0 in new gateway hardware. Backend, network and power costs remain.</a:t>
            </a:r>
          </a:p>
        </p:txBody>
      </p:sp>
    </p:spTree>
    <p:extLst>
      <p:ext uri="{BB962C8B-B14F-4D97-AF65-F5344CB8AC3E}">
        <p14:creationId xmlns:p14="http://schemas.microsoft.com/office/powerpoint/2010/main" val="1018941737"/>
      </p:ext>
    </p:extLst>
  </p:cSld>
</p:sld>
</file>

<file path=ppt/slides/slide11.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ROUTING ALGORITHM">
            <a:extLst xmlns:a="http://schemas.openxmlformats.org/drawingml/2006/main">
              <a:ext uri="{FF2B5EF4-FFF2-40B4-BE49-F238E27FC236}">
                <a16:creationId xmlns:a16="http://schemas.microsoft.com/office/drawing/2014/main" id="{7BBCF56D-8CF1-48C0-A0DB-1F702F17ED30}"/>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ROUTING ALGORITHM</a:t>
            </a:r>
          </a:p>
        </p:txBody>
      </p:sp>
      <p:sp>
        <p:nvSpPr>
          <p:cNvPr id="3" name="Q-learning policy">
            <a:extLst xmlns:a="http://schemas.openxmlformats.org/drawingml/2006/main">
              <a:ext uri="{FF2B5EF4-FFF2-40B4-BE49-F238E27FC236}">
                <a16:creationId xmlns:a16="http://schemas.microsoft.com/office/drawing/2014/main" id="{44B3FA63-B701-4233-A023-64082CFC79D1}"/>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Q-learning policy</a:t>
            </a:r>
          </a:p>
        </p:txBody>
      </p:sp>
      <p:sp>
        <p:nvSpPr>
          <p:cNvPr id="4" name="07">
            <a:extLst xmlns:a="http://schemas.openxmlformats.org/drawingml/2006/main">
              <a:ext uri="{FF2B5EF4-FFF2-40B4-BE49-F238E27FC236}">
                <a16:creationId xmlns:a16="http://schemas.microsoft.com/office/drawing/2014/main" id="{A03A12C8-9311-4150-88E2-54D6528CE3D1}"/>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11</a:t>
            </a:r>
          </a:p>
        </p:txBody>
      </p:sp>
      <p:graphicFrame>
        <p:nvGraphicFramePr>
          <p:cNvPr id="5" name="">
            <a:extLst xmlns:a="http://schemas.openxmlformats.org/drawingml/2006/main">
              <a:ext uri="{FF2B5EF4-FFF2-40B4-BE49-F238E27FC236}">
                <a16:creationId xmlns:a16="http://schemas.microsoft.com/office/drawing/2014/main" id="{49258E75-C7FF-40AA-9E76-9ED7AEFB05DD}"/>
              </a:ext>
            </a:extLst>
          </p:cNvPr>
          <p:cNvGraphicFramePr/>
          <p:nvPr/>
        </p:nvGraphicFramePr>
        <p:xfrm>
          <a:off xmlns:a="http://schemas.openxmlformats.org/drawingml/2006/main" x="762000" y="2000250"/>
          <a:ext xmlns:a="http://schemas.openxmlformats.org/drawingml/2006/main" cx="10668000" cy="2647950"/>
        </p:xfrm>
        <a:graphic xmlns:a="http://schemas.openxmlformats.org/drawingml/2006/main">
          <a:graphicData uri="http://schemas.openxmlformats.org/drawingml/2006/table">
            <a:tbl>
              <a:tblPr/>
              <a:tblGrid>
                <a:gridCol w="2667000"/>
                <a:gridCol w="8001000"/>
              </a:tblGrid>
              <a:tr h="529590">
                <a:tc>
                  <a:txBody>
                    <a:bodyPr/>
                    <a:lstStyle/>
                    <a:p>
                      <a:r>
                        <a:rPr sz="1725" b="1">
                          <a:solidFill>
                            <a:srgbClr val="F7F4EE"/>
                          </a:solidFill>
                        </a:rPr>
                        <a:t>Component</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725" b="1">
                          <a:solidFill>
                            <a:srgbClr val="F7F4EE"/>
                          </a:solidFill>
                        </a:rPr>
                        <a:t>Firmware behavior</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29590">
                <a:tc>
                  <a:txBody>
                    <a:bodyPr/>
                    <a:lstStyle/>
                    <a:p>
                      <a:r>
                        <a:rPr sz="1725" b="0">
                          <a:solidFill>
                            <a:srgbClr val="F7F4EE"/>
                          </a:solidFill>
                        </a:rPr>
                        <a:t>State and action</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Active-session count (0–7), then a backend index</a:t>
                      </a:r>
                    </a:p>
                  </a:txBody>
                  <a:tcPr marL="91440" marR="91440" marT="45720" marB="45720">
                    <a:lnR w="9525">
                      <a:solidFill>
                        <a:srgbClr val="0E1822"/>
                      </a:solidFill>
                      <a:prstDash val="solid"/>
                    </a:lnR>
                    <a:lnB w="9525">
                      <a:solidFill>
                        <a:srgbClr val="0E1822"/>
                      </a:solidFill>
                      <a:prstDash val="solid"/>
                    </a:lnB>
                    <a:solidFill>
                      <a:srgbClr val="0E1822"/>
                    </a:solidFill>
                  </a:tcPr>
                </a:tc>
              </a:tr>
              <a:tr h="529590">
                <a:tc>
                  <a:txBody>
                    <a:bodyPr/>
                    <a:lstStyle/>
                    <a:p>
                      <a:r>
                        <a:rPr sz="1725" b="0">
                          <a:solidFill>
                            <a:srgbClr val="F7F4EE"/>
                          </a:solidFill>
                        </a:rPr>
                        <a:t>Selection</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Epsilon-greedy exploration or highest Q-value</a:t>
                      </a:r>
                    </a:p>
                  </a:txBody>
                  <a:tcPr marL="91440" marR="91440" marT="45720" marB="45720">
                    <a:lnR w="9525">
                      <a:solidFill>
                        <a:srgbClr val="0E1822"/>
                      </a:solidFill>
                      <a:prstDash val="solid"/>
                    </a:lnR>
                    <a:lnB w="9525">
                      <a:solidFill>
                        <a:srgbClr val="0E1822"/>
                      </a:solidFill>
                      <a:prstDash val="solid"/>
                    </a:lnB>
                    <a:solidFill>
                      <a:srgbClr val="14202C"/>
                    </a:solidFill>
                  </a:tcPr>
                </a:tc>
              </a:tr>
              <a:tr h="529590">
                <a:tc>
                  <a:txBody>
                    <a:bodyPr/>
                    <a:lstStyle/>
                    <a:p>
                      <a:r>
                        <a:rPr sz="1725" b="0">
                          <a:solidFill>
                            <a:srgbClr val="F7F4EE"/>
                          </a:solidFill>
                        </a:rPr>
                        <a:t>Reward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1000 / (duration_ms + 1), or −50 for duration ≥ 2000 ms</a:t>
                      </a:r>
                    </a:p>
                  </a:txBody>
                  <a:tcPr marL="91440" marR="91440" marT="45720" marB="45720">
                    <a:lnR w="9525">
                      <a:solidFill>
                        <a:srgbClr val="0E1822"/>
                      </a:solidFill>
                      <a:prstDash val="solid"/>
                    </a:lnR>
                    <a:lnB w="9525">
                      <a:solidFill>
                        <a:srgbClr val="0E1822"/>
                      </a:solidFill>
                      <a:prstDash val="solid"/>
                    </a:lnB>
                    <a:solidFill>
                      <a:srgbClr val="0E1822"/>
                    </a:solidFill>
                  </a:tcPr>
                </a:tc>
              </a:tr>
              <a:tr h="529590">
                <a:tc>
                  <a:txBody>
                    <a:bodyPr/>
                    <a:lstStyle/>
                    <a:p>
                      <a:r>
                        <a:rPr sz="1725" b="0">
                          <a:solidFill>
                            <a:srgbClr val="F7F4EE"/>
                          </a:solidFill>
                        </a:rPr>
                        <a:t>Parameters</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α = 0.3, γ = 0.5. ε decays from 1.0 to a 0.05 floor</a:t>
                      </a:r>
                    </a:p>
                  </a:txBody>
                  <a:tcPr marL="91440" marR="91440" marT="45720" marB="45720">
                    <a:lnR w="9525">
                      <a:solidFill>
                        <a:srgbClr val="0E1822"/>
                      </a:solidFill>
                      <a:prstDash val="solid"/>
                    </a:lnR>
                    <a:lnB w="9525">
                      <a:solidFill>
                        <a:srgbClr val="0E1822"/>
                      </a:solidFill>
                      <a:prstDash val="solid"/>
                    </a:lnB>
                    <a:solidFill>
                      <a:srgbClr val="14202C"/>
                    </a:solidFill>
                  </a:tcPr>
                </a:tc>
              </a:tr>
            </a:tbl>
          </a:graphicData>
        </a:graphic>
      </p:graphicFrame>
      <p:sp>
        <p:nvSpPr>
          <p:cNvPr id="6" name="Q(s,a) = Q(s,a) + α [r + γ max Q(s′,a′) − Q(s,a)]">
            <a:extLst xmlns:a="http://schemas.openxmlformats.org/drawingml/2006/main">
              <a:ext uri="{FF2B5EF4-FFF2-40B4-BE49-F238E27FC236}">
                <a16:creationId xmlns:a16="http://schemas.microsoft.com/office/drawing/2014/main" id="{BF42D364-EA74-43DD-9C99-44C9AAC0F043}"/>
              </a:ext>
            </a:extLst>
          </p:cNvPr>
          <p:cNvSpPr>
            <a:spLocks xmlns:a="http://schemas.openxmlformats.org/drawingml/2006/main" noGrp="1"/>
          </p:cNvSpPr>
          <p:nvPr/>
        </p:nvSpPr>
        <p:spPr>
          <a:xfrm xmlns:a="http://schemas.openxmlformats.org/drawingml/2006/main">
            <a:off x="762000" y="50958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E16A3D"/>
                </a:solidFill>
              </a:defRPr>
            </a:defPPr>
            <a:lvl1pPr>
              <a:defRPr sz="2025" b="0">
                <a:solidFill>
                  <a:srgbClr val="E16A3D"/>
                </a:solidFill>
              </a:defRPr>
            </a:lvl1pPr>
            <a:lvl2pPr>
              <a:defRPr sz="2025" b="0">
                <a:solidFill>
                  <a:srgbClr val="E16A3D"/>
                </a:solidFill>
              </a:defRPr>
            </a:lvl2pPr>
            <a:lvl3pPr>
              <a:defRPr sz="2025" b="0">
                <a:solidFill>
                  <a:srgbClr val="E16A3D"/>
                </a:solidFill>
              </a:defRPr>
            </a:lvl3pPr>
            <a:lvl4pPr>
              <a:defRPr sz="2025" b="0">
                <a:solidFill>
                  <a:srgbClr val="E16A3D"/>
                </a:solidFill>
              </a:defRPr>
            </a:lvl4pPr>
            <a:lvl5pPr>
              <a:defRPr sz="2025" b="0">
                <a:solidFill>
                  <a:srgbClr val="E16A3D"/>
                </a:solidFill>
              </a:defRPr>
            </a:lvl5pPr>
            <a:lvl6pPr>
              <a:defRPr sz="2025" b="0">
                <a:solidFill>
                  <a:srgbClr val="E16A3D"/>
                </a:solidFill>
              </a:defRPr>
            </a:lvl6pPr>
            <a:lvl7pPr>
              <a:defRPr sz="2025" b="0">
                <a:solidFill>
                  <a:srgbClr val="E16A3D"/>
                </a:solidFill>
              </a:defRPr>
            </a:lvl7pPr>
            <a:lvl8pPr>
              <a:defRPr sz="2025" b="0">
                <a:solidFill>
                  <a:srgbClr val="E16A3D"/>
                </a:solidFill>
              </a:defRPr>
            </a:lvl8pPr>
            <a:lvl9pPr>
              <a:defRPr sz="2025" b="0">
                <a:solidFill>
                  <a:srgbClr val="E16A3D"/>
                </a:solidFill>
              </a:defRPr>
            </a:lvl9pPr>
          </a:lstStyle>
          <a:p xmlns:a="http://schemas.openxmlformats.org/drawingml/2006/main">
            <a:pPr>
              <a:defRPr sz="2025" b="0">
                <a:solidFill>
                  <a:srgbClr val="E16A3D"/>
                </a:solidFill>
              </a:defRPr>
            </a:pPr>
            <a:r>
              <a:rPr sz="2025" b="0">
                <a:solidFill>
                  <a:srgbClr val="E16A3D"/>
                </a:solidFill>
              </a:rPr>
              <a:t>Q(s,a) = Q(s,a) + α [r + γ max Q(s′,a′) − Q(s,a)]</a:t>
            </a:r>
          </a:p>
        </p:txBody>
      </p:sp>
    </p:spTree>
    <p:extLst>
      <p:ext uri="{BB962C8B-B14F-4D97-AF65-F5344CB8AC3E}">
        <p14:creationId xmlns:p14="http://schemas.microsoft.com/office/powerpoint/2010/main" val="292367907"/>
      </p:ext>
    </p:extLst>
  </p:cSld>
</p:sld>
</file>

<file path=ppt/slides/slide12.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COMPARISON DESIGN">
            <a:extLst xmlns:a="http://schemas.openxmlformats.org/drawingml/2006/main">
              <a:ext uri="{FF2B5EF4-FFF2-40B4-BE49-F238E27FC236}">
                <a16:creationId xmlns:a16="http://schemas.microsoft.com/office/drawing/2014/main" id="{BA20D5E5-EB58-47E7-8D4D-F80320540EAB}"/>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COMPARISON DESIGN</a:t>
            </a:r>
          </a:p>
        </p:txBody>
      </p:sp>
      <p:sp>
        <p:nvSpPr>
          <p:cNvPr id="3" name="Baseline strategies">
            <a:extLst xmlns:a="http://schemas.openxmlformats.org/drawingml/2006/main">
              <a:ext uri="{FF2B5EF4-FFF2-40B4-BE49-F238E27FC236}">
                <a16:creationId xmlns:a16="http://schemas.microsoft.com/office/drawing/2014/main" id="{39D76A1F-AF75-4F06-B24F-7E3167E47A1D}"/>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Baseline strategies</a:t>
            </a:r>
          </a:p>
        </p:txBody>
      </p:sp>
      <p:sp>
        <p:nvSpPr>
          <p:cNvPr id="4" name="08">
            <a:extLst xmlns:a="http://schemas.openxmlformats.org/drawingml/2006/main">
              <a:ext uri="{FF2B5EF4-FFF2-40B4-BE49-F238E27FC236}">
                <a16:creationId xmlns:a16="http://schemas.microsoft.com/office/drawing/2014/main" id="{C043FEC1-2BB7-43D2-9F67-C7ED406D590E}"/>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12</a:t>
            </a:r>
          </a:p>
        </p:txBody>
      </p:sp>
      <p:graphicFrame>
        <p:nvGraphicFramePr>
          <p:cNvPr id="5" name="">
            <a:extLst xmlns:a="http://schemas.openxmlformats.org/drawingml/2006/main">
              <a:ext uri="{FF2B5EF4-FFF2-40B4-BE49-F238E27FC236}">
                <a16:creationId xmlns:a16="http://schemas.microsoft.com/office/drawing/2014/main" id="{12943532-3535-41E5-B95D-8ABE53ECD9A3}"/>
              </a:ext>
            </a:extLst>
          </p:cNvPr>
          <p:cNvGraphicFramePr/>
          <p:nvPr/>
        </p:nvGraphicFramePr>
        <p:xfrm>
          <a:off xmlns:a="http://schemas.openxmlformats.org/drawingml/2006/main" x="762000" y="2076450"/>
          <a:ext xmlns:a="http://schemas.openxmlformats.org/drawingml/2006/main" cx="10668000" cy="2914650"/>
        </p:xfrm>
        <a:graphic xmlns:a="http://schemas.openxmlformats.org/drawingml/2006/main">
          <a:graphicData uri="http://schemas.openxmlformats.org/drawingml/2006/table">
            <a:tbl>
              <a:tblPr/>
              <a:tblGrid>
                <a:gridCol w="2381250"/>
                <a:gridCol w="4095750"/>
                <a:gridCol w="4191000"/>
              </a:tblGrid>
              <a:tr h="728663">
                <a:tc>
                  <a:txBody>
                    <a:bodyPr/>
                    <a:lstStyle/>
                    <a:p>
                      <a:r>
                        <a:rPr sz="1800" b="1">
                          <a:solidFill>
                            <a:srgbClr val="F7F4EE"/>
                          </a:solidFill>
                        </a:rPr>
                        <a:t>Strategy</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00" b="1">
                          <a:solidFill>
                            <a:srgbClr val="F7F4EE"/>
                          </a:solidFill>
                        </a:rPr>
                        <a:t>Decision rule</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00" b="1">
                          <a:solidFill>
                            <a:srgbClr val="F7F4EE"/>
                          </a:solidFill>
                        </a:rPr>
                        <a:t>Practical tradeoff</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728663">
                <a:tc>
                  <a:txBody>
                    <a:bodyPr/>
                    <a:lstStyle/>
                    <a:p>
                      <a:r>
                        <a:rPr sz="1800" b="0">
                          <a:solidFill>
                            <a:srgbClr val="F7F4EE"/>
                          </a:solidFill>
                        </a:rPr>
                        <a:t>Round Robin</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Cycle through backends</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Low overhead, ignores backend delays</a:t>
                      </a:r>
                    </a:p>
                  </a:txBody>
                  <a:tcPr marL="91440" marR="91440" marT="45720" marB="45720">
                    <a:lnR w="9525">
                      <a:solidFill>
                        <a:srgbClr val="0E1822"/>
                      </a:solidFill>
                      <a:prstDash val="solid"/>
                    </a:lnR>
                    <a:lnB w="9525">
                      <a:solidFill>
                        <a:srgbClr val="0E1822"/>
                      </a:solidFill>
                      <a:prstDash val="solid"/>
                    </a:lnB>
                    <a:solidFill>
                      <a:srgbClr val="0E1822"/>
                    </a:solidFill>
                  </a:tcPr>
                </a:tc>
              </a:tr>
              <a:tr h="728663">
                <a:tc>
                  <a:txBody>
                    <a:bodyPr/>
                    <a:lstStyle/>
                    <a:p>
                      <a:r>
                        <a:rPr sz="1800" b="0">
                          <a:solidFill>
                            <a:srgbClr val="F7F4EE"/>
                          </a:solidFill>
                        </a:rPr>
                        <a:t>Q-learning</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00" b="0">
                          <a:solidFill>
                            <a:srgbClr val="D8D3CB"/>
                          </a:solidFill>
                        </a:rPr>
                        <a:t>Highest learned value for a state</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00" b="0">
                          <a:solidFill>
                            <a:srgbClr val="D8D3CB"/>
                          </a:solidFill>
                        </a:rPr>
                        <a:t>Learns from feedback, needs exploration</a:t>
                      </a:r>
                    </a:p>
                  </a:txBody>
                  <a:tcPr marL="91440" marR="91440" marT="45720" marB="45720">
                    <a:lnR w="9525">
                      <a:solidFill>
                        <a:srgbClr val="0E1822"/>
                      </a:solidFill>
                      <a:prstDash val="solid"/>
                    </a:lnR>
                    <a:lnB w="9525">
                      <a:solidFill>
                        <a:srgbClr val="0E1822"/>
                      </a:solidFill>
                      <a:prstDash val="solid"/>
                    </a:lnB>
                    <a:solidFill>
                      <a:srgbClr val="14202C"/>
                    </a:solidFill>
                  </a:tcPr>
                </a:tc>
              </a:tr>
              <a:tr h="728663">
                <a:tc>
                  <a:txBody>
                    <a:bodyPr/>
                    <a:lstStyle/>
                    <a:p>
                      <a:r>
                        <a:rPr sz="1800" b="0">
                          <a:solidFill>
                            <a:srgbClr val="F7F4EE"/>
                          </a:solidFill>
                        </a:rPr>
                        <a:t>EMA response time</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Highest smoothed reward</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Simple adaptation without a state table</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
        <p:nvSpPr>
          <p:cNvPr id="6" name="All three strategies run in the same firmware.">
            <a:extLst xmlns:a="http://schemas.openxmlformats.org/drawingml/2006/main">
              <a:ext uri="{FF2B5EF4-FFF2-40B4-BE49-F238E27FC236}">
                <a16:creationId xmlns:a16="http://schemas.microsoft.com/office/drawing/2014/main" id="{17DFD309-0DD4-4137-8FC7-8B11F5EE0E5D}"/>
              </a:ext>
            </a:extLst>
          </p:cNvPr>
          <p:cNvSpPr>
            <a:spLocks xmlns:a="http://schemas.openxmlformats.org/drawingml/2006/main" noGrp="1"/>
          </p:cNvSpPr>
          <p:nvPr/>
        </p:nvSpPr>
        <p:spPr>
          <a:xfrm xmlns:a="http://schemas.openxmlformats.org/drawingml/2006/main">
            <a:off x="762000" y="53054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E16A3D"/>
                </a:solidFill>
              </a:defRPr>
            </a:defPPr>
            <a:lvl1pPr>
              <a:defRPr sz="2100" b="1">
                <a:solidFill>
                  <a:srgbClr val="E16A3D"/>
                </a:solidFill>
              </a:defRPr>
            </a:lvl1pPr>
            <a:lvl2pPr>
              <a:defRPr sz="2100" b="1">
                <a:solidFill>
                  <a:srgbClr val="E16A3D"/>
                </a:solidFill>
              </a:defRPr>
            </a:lvl2pPr>
            <a:lvl3pPr>
              <a:defRPr sz="2100" b="1">
                <a:solidFill>
                  <a:srgbClr val="E16A3D"/>
                </a:solidFill>
              </a:defRPr>
            </a:lvl3pPr>
            <a:lvl4pPr>
              <a:defRPr sz="2100" b="1">
                <a:solidFill>
                  <a:srgbClr val="E16A3D"/>
                </a:solidFill>
              </a:defRPr>
            </a:lvl4pPr>
            <a:lvl5pPr>
              <a:defRPr sz="2100" b="1">
                <a:solidFill>
                  <a:srgbClr val="E16A3D"/>
                </a:solidFill>
              </a:defRPr>
            </a:lvl5pPr>
            <a:lvl6pPr>
              <a:defRPr sz="2100" b="1">
                <a:solidFill>
                  <a:srgbClr val="E16A3D"/>
                </a:solidFill>
              </a:defRPr>
            </a:lvl6pPr>
            <a:lvl7pPr>
              <a:defRPr sz="2100" b="1">
                <a:solidFill>
                  <a:srgbClr val="E16A3D"/>
                </a:solidFill>
              </a:defRPr>
            </a:lvl7pPr>
            <a:lvl8pPr>
              <a:defRPr sz="2100" b="1">
                <a:solidFill>
                  <a:srgbClr val="E16A3D"/>
                </a:solidFill>
              </a:defRPr>
            </a:lvl8pPr>
            <a:lvl9pPr>
              <a:defRPr sz="2100" b="1">
                <a:solidFill>
                  <a:srgbClr val="E16A3D"/>
                </a:solidFill>
              </a:defRPr>
            </a:lvl9pPr>
          </a:lstStyle>
          <a:p xmlns:a="http://schemas.openxmlformats.org/drawingml/2006/main">
            <a:pPr>
              <a:defRPr sz="2100" b="1">
                <a:solidFill>
                  <a:srgbClr val="E16A3D"/>
                </a:solidFill>
              </a:defRPr>
            </a:pPr>
            <a:r>
              <a:rPr sz="2100" b="1">
                <a:solidFill>
                  <a:srgbClr val="E16A3D"/>
                </a:solidFill>
              </a:rPr>
              <a:t>All three strategies run in the same firmware.</a:t>
            </a:r>
          </a:p>
        </p:txBody>
      </p:sp>
    </p:spTree>
    <p:extLst>
      <p:ext uri="{BB962C8B-B14F-4D97-AF65-F5344CB8AC3E}">
        <p14:creationId xmlns:p14="http://schemas.microsoft.com/office/powerpoint/2010/main" val="264490270"/>
      </p:ext>
    </p:extLst>
  </p:cSld>
</p:sld>
</file>

<file path=ppt/slides/slide13.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DA3 IMPROVEMENT">
            <a:extLst xmlns:a="http://schemas.openxmlformats.org/drawingml/2006/main">
              <a:ext uri="{FF2B5EF4-FFF2-40B4-BE49-F238E27FC236}">
                <a16:creationId xmlns:a16="http://schemas.microsoft.com/office/drawing/2014/main" id="{0CA6E7E2-BDCA-4DB3-9DAA-386B2B760AD1}"/>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DA3 IMPROVEMENT</a:t>
            </a:r>
          </a:p>
        </p:txBody>
      </p:sp>
      <p:sp>
        <p:nvSpPr>
          <p:cNvPr id="3" name="Q-table persistence across restarts">
            <a:extLst xmlns:a="http://schemas.openxmlformats.org/drawingml/2006/main">
              <a:ext uri="{FF2B5EF4-FFF2-40B4-BE49-F238E27FC236}">
                <a16:creationId xmlns:a16="http://schemas.microsoft.com/office/drawing/2014/main" id="{71CB5711-A533-4B13-B4C6-3F370FE5F8AD}"/>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Q-table persistence across restarts</a:t>
            </a:r>
          </a:p>
        </p:txBody>
      </p:sp>
      <p:sp>
        <p:nvSpPr>
          <p:cNvPr id="4" name="09">
            <a:extLst xmlns:a="http://schemas.openxmlformats.org/drawingml/2006/main">
              <a:ext uri="{FF2B5EF4-FFF2-40B4-BE49-F238E27FC236}">
                <a16:creationId xmlns:a16="http://schemas.microsoft.com/office/drawing/2014/main" id="{B3973369-CDC5-4984-A112-D6B423991F8E}"/>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13</a:t>
            </a:r>
          </a:p>
        </p:txBody>
      </p:sp>
      <p:sp>
        <p:nvSpPr>
          <p:cNvPr id="5" name="Previous behavior">
            <a:extLst xmlns:a="http://schemas.openxmlformats.org/drawingml/2006/main">
              <a:ext uri="{FF2B5EF4-FFF2-40B4-BE49-F238E27FC236}">
                <a16:creationId xmlns:a16="http://schemas.microsoft.com/office/drawing/2014/main" id="{24B49998-C754-4AD6-A22F-F00298F4557D}"/>
              </a:ext>
            </a:extLst>
          </p:cNvPr>
          <p:cNvSpPr>
            <a:spLocks xmlns:a="http://schemas.openxmlformats.org/drawingml/2006/main" noGrp="1"/>
          </p:cNvSpPr>
          <p:nvPr/>
        </p:nvSpPr>
        <p:spPr>
          <a:xfrm xmlns:a="http://schemas.openxmlformats.org/drawingml/2006/main">
            <a:off x="762000" y="20764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Previous behavior</a:t>
            </a:r>
          </a:p>
        </p:txBody>
      </p:sp>
      <p:sp>
        <p:nvSpPr>
          <p:cNvPr id="6" name="The committed Q-learning constructor creates a zero-filled t">
            <a:extLst xmlns:a="http://schemas.openxmlformats.org/drawingml/2006/main">
              <a:ext uri="{FF2B5EF4-FFF2-40B4-BE49-F238E27FC236}">
                <a16:creationId xmlns:a16="http://schemas.microsoft.com/office/drawing/2014/main" id="{349FAF1F-0212-4D62-A9BD-167DEA8E16E4}"/>
              </a:ext>
            </a:extLst>
          </p:cNvPr>
          <p:cNvSpPr>
            <a:spLocks xmlns:a="http://schemas.openxmlformats.org/drawingml/2006/main" noGrp="1"/>
          </p:cNvSpPr>
          <p:nvPr/>
        </p:nvSpPr>
        <p:spPr>
          <a:xfrm xmlns:a="http://schemas.openxmlformats.org/drawingml/2006/main">
            <a:off x="762000" y="24955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The committed Q-learning constructor creates a zero-filled table, so every reboot starts learning again.</a:t>
            </a:r>
          </a:p>
        </p:txBody>
      </p:sp>
      <p:sp>
        <p:nvSpPr>
          <p:cNvPr id="7" name="Implemented change">
            <a:extLst xmlns:a="http://schemas.openxmlformats.org/drawingml/2006/main">
              <a:ext uri="{FF2B5EF4-FFF2-40B4-BE49-F238E27FC236}">
                <a16:creationId xmlns:a16="http://schemas.microsoft.com/office/drawing/2014/main" id="{35394EEC-9DA0-4653-BB76-B89182E4CE93}"/>
              </a:ext>
            </a:extLst>
          </p:cNvPr>
          <p:cNvSpPr>
            <a:spLocks xmlns:a="http://schemas.openxmlformats.org/drawingml/2006/main" noGrp="1"/>
          </p:cNvSpPr>
          <p:nvPr/>
        </p:nvSpPr>
        <p:spPr>
          <a:xfrm xmlns:a="http://schemas.openxmlformats.org/drawingml/2006/main">
            <a:off x="762000" y="33718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Implemented change</a:t>
            </a:r>
          </a:p>
        </p:txBody>
      </p:sp>
      <p:sp>
        <p:nvSpPr>
          <p:cNvPr id="8" name="The team now stores learned Q-values in ESP32 nonvolatile fl">
            <a:extLst xmlns:a="http://schemas.openxmlformats.org/drawingml/2006/main">
              <a:ext uri="{FF2B5EF4-FFF2-40B4-BE49-F238E27FC236}">
                <a16:creationId xmlns:a16="http://schemas.microsoft.com/office/drawing/2014/main" id="{D65CBBD7-C310-48DD-A07B-AB8C5127A6AA}"/>
              </a:ext>
            </a:extLst>
          </p:cNvPr>
          <p:cNvSpPr>
            <a:spLocks xmlns:a="http://schemas.openxmlformats.org/drawingml/2006/main" noGrp="1"/>
          </p:cNvSpPr>
          <p:nvPr/>
        </p:nvSpPr>
        <p:spPr>
          <a:xfrm xmlns:a="http://schemas.openxmlformats.org/drawingml/2006/main">
            <a:off x="762000" y="37909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The team now stores learned Q-values in ESP32 nonvolatile flash and restores them after restart.</a:t>
            </a:r>
          </a:p>
        </p:txBody>
      </p:sp>
      <p:sp>
        <p:nvSpPr>
          <p:cNvPr id="9" name="Why it matters">
            <a:extLst xmlns:a="http://schemas.openxmlformats.org/drawingml/2006/main">
              <a:ext uri="{FF2B5EF4-FFF2-40B4-BE49-F238E27FC236}">
                <a16:creationId xmlns:a16="http://schemas.microsoft.com/office/drawing/2014/main" id="{4CD8CA1E-3CB0-4DC3-AD3F-11C3D72616BD}"/>
              </a:ext>
            </a:extLst>
          </p:cNvPr>
          <p:cNvSpPr>
            <a:spLocks xmlns:a="http://schemas.openxmlformats.org/drawingml/2006/main" noGrp="1"/>
          </p:cNvSpPr>
          <p:nvPr/>
        </p:nvSpPr>
        <p:spPr>
          <a:xfrm xmlns:a="http://schemas.openxmlformats.org/drawingml/2006/main">
            <a:off x="762000" y="46672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Why it matters</a:t>
            </a:r>
          </a:p>
        </p:txBody>
      </p:sp>
      <p:sp>
        <p:nvSpPr>
          <p:cNvPr id="10" name="The gateway can resume its learned policy instead of discard">
            <a:extLst xmlns:a="http://schemas.openxmlformats.org/drawingml/2006/main">
              <a:ext uri="{FF2B5EF4-FFF2-40B4-BE49-F238E27FC236}">
                <a16:creationId xmlns:a16="http://schemas.microsoft.com/office/drawing/2014/main" id="{4398CF04-3589-4796-8A4E-7623C9DE67F0}"/>
              </a:ext>
            </a:extLst>
          </p:cNvPr>
          <p:cNvSpPr>
            <a:spLocks xmlns:a="http://schemas.openxmlformats.org/drawingml/2006/main" noGrp="1"/>
          </p:cNvSpPr>
          <p:nvPr/>
        </p:nvSpPr>
        <p:spPr>
          <a:xfrm xmlns:a="http://schemas.openxmlformats.org/drawingml/2006/main">
            <a:off x="762000" y="50863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The gateway can resume its learned policy instead of discarding the table at every power cycle.</a:t>
            </a:r>
          </a:p>
        </p:txBody>
      </p:sp>
    </p:spTree>
    <p:extLst>
      <p:ext uri="{BB962C8B-B14F-4D97-AF65-F5344CB8AC3E}">
        <p14:creationId xmlns:p14="http://schemas.microsoft.com/office/powerpoint/2010/main" val="314274072"/>
      </p:ext>
    </p:extLst>
  </p:cSld>
</p:sld>
</file>

<file path=ppt/slides/slide14.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DA3 USER INTERFACE">
            <a:extLst xmlns:a="http://schemas.openxmlformats.org/drawingml/2006/main">
              <a:ext uri="{FF2B5EF4-FFF2-40B4-BE49-F238E27FC236}">
                <a16:creationId xmlns:a16="http://schemas.microsoft.com/office/drawing/2014/main" id="{0AC2B437-9397-4555-A9D7-E0CD52F11B0B}"/>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DA3 USER INTERFACE</a:t>
            </a:r>
          </a:p>
        </p:txBody>
      </p:sp>
      <p:sp>
        <p:nvSpPr>
          <p:cNvPr id="3" name="FlashPoint flash-sale use case">
            <a:extLst xmlns:a="http://schemas.openxmlformats.org/drawingml/2006/main">
              <a:ext uri="{FF2B5EF4-FFF2-40B4-BE49-F238E27FC236}">
                <a16:creationId xmlns:a16="http://schemas.microsoft.com/office/drawing/2014/main" id="{15C0B6F5-1B28-42F7-94DF-D864ED9AD701}"/>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FlashPoint flash-sale use case</a:t>
            </a:r>
          </a:p>
        </p:txBody>
      </p:sp>
      <p:sp>
        <p:nvSpPr>
          <p:cNvPr id="4" name="10">
            <a:extLst xmlns:a="http://schemas.openxmlformats.org/drawingml/2006/main">
              <a:ext uri="{FF2B5EF4-FFF2-40B4-BE49-F238E27FC236}">
                <a16:creationId xmlns:a16="http://schemas.microsoft.com/office/drawing/2014/main" id="{2663C63A-121B-4795-B11A-736AFFE3FA27}"/>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14</a:t>
            </a:r>
          </a:p>
        </p:txBody>
      </p:sp>
      <p:sp>
        <p:nvSpPr>
          <p:cNvPr id="5" name="Controlled demand bursts">
            <a:extLst xmlns:a="http://schemas.openxmlformats.org/drawingml/2006/main">
              <a:ext uri="{FF2B5EF4-FFF2-40B4-BE49-F238E27FC236}">
                <a16:creationId xmlns:a16="http://schemas.microsoft.com/office/drawing/2014/main" id="{A606C045-943E-4EE4-A2C4-B0900D5D2E96}"/>
              </a:ext>
            </a:extLst>
          </p:cNvPr>
          <p:cNvSpPr>
            <a:spLocks xmlns:a="http://schemas.openxmlformats.org/drawingml/2006/main" noGrp="1"/>
          </p:cNvSpPr>
          <p:nvPr/>
        </p:nvSpPr>
        <p:spPr>
          <a:xfrm xmlns:a="http://schemas.openxmlformats.org/drawingml/2006/main">
            <a:off x="5810250" y="207645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E16A3D"/>
                </a:solidFill>
              </a:defRPr>
            </a:defPPr>
            <a:lvl1pPr>
              <a:defRPr sz="2325" b="1">
                <a:solidFill>
                  <a:srgbClr val="E16A3D"/>
                </a:solidFill>
              </a:defRPr>
            </a:lvl1pPr>
            <a:lvl2pPr>
              <a:defRPr sz="2325" b="1">
                <a:solidFill>
                  <a:srgbClr val="E16A3D"/>
                </a:solidFill>
              </a:defRPr>
            </a:lvl2pPr>
            <a:lvl3pPr>
              <a:defRPr sz="2325" b="1">
                <a:solidFill>
                  <a:srgbClr val="E16A3D"/>
                </a:solidFill>
              </a:defRPr>
            </a:lvl3pPr>
            <a:lvl4pPr>
              <a:defRPr sz="2325" b="1">
                <a:solidFill>
                  <a:srgbClr val="E16A3D"/>
                </a:solidFill>
              </a:defRPr>
            </a:lvl4pPr>
            <a:lvl5pPr>
              <a:defRPr sz="2325" b="1">
                <a:solidFill>
                  <a:srgbClr val="E16A3D"/>
                </a:solidFill>
              </a:defRPr>
            </a:lvl5pPr>
            <a:lvl6pPr>
              <a:defRPr sz="2325" b="1">
                <a:solidFill>
                  <a:srgbClr val="E16A3D"/>
                </a:solidFill>
              </a:defRPr>
            </a:lvl6pPr>
            <a:lvl7pPr>
              <a:defRPr sz="2325" b="1">
                <a:solidFill>
                  <a:srgbClr val="E16A3D"/>
                </a:solidFill>
              </a:defRPr>
            </a:lvl7pPr>
            <a:lvl8pPr>
              <a:defRPr sz="2325" b="1">
                <a:solidFill>
                  <a:srgbClr val="E16A3D"/>
                </a:solidFill>
              </a:defRPr>
            </a:lvl8pPr>
            <a:lvl9pPr>
              <a:defRPr sz="2325" b="1">
                <a:solidFill>
                  <a:srgbClr val="E16A3D"/>
                </a:solidFill>
              </a:defRPr>
            </a:lvl9pPr>
          </a:lstStyle>
          <a:p xmlns:a="http://schemas.openxmlformats.org/drawingml/2006/main">
            <a:pPr>
              <a:defRPr sz="2325" b="1">
                <a:solidFill>
                  <a:srgbClr val="E16A3D"/>
                </a:solidFill>
              </a:defRPr>
            </a:pPr>
            <a:r>
              <a:rPr sz="2325" b="1">
                <a:solidFill>
                  <a:srgbClr val="E16A3D"/>
                </a:solidFill>
              </a:rPr>
              <a:t>Controlled demand bursts</a:t>
            </a:r>
          </a:p>
        </p:txBody>
      </p:sp>
      <p:sp>
        <p:nvSpPr>
          <p:cNvPr id="6" name="Start one mock request generator for each selected region, u">
            <a:extLst xmlns:a="http://schemas.openxmlformats.org/drawingml/2006/main">
              <a:ext uri="{FF2B5EF4-FFF2-40B4-BE49-F238E27FC236}">
                <a16:creationId xmlns:a16="http://schemas.microsoft.com/office/drawing/2014/main" id="{5FE1B888-6E64-4432-B13F-0C033C666B10}"/>
              </a:ext>
            </a:extLst>
          </p:cNvPr>
          <p:cNvSpPr>
            <a:spLocks xmlns:a="http://schemas.openxmlformats.org/drawingml/2006/main" noGrp="1"/>
          </p:cNvSpPr>
          <p:nvPr/>
        </p:nvSpPr>
        <p:spPr>
          <a:xfrm xmlns:a="http://schemas.openxmlformats.org/drawingml/2006/main">
            <a:off x="5810250" y="2705100"/>
            <a:ext cx="552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7F4EE"/>
                </a:solidFill>
              </a:defRPr>
            </a:defPPr>
            <a:lvl1pPr>
              <a:defRPr sz="2100" b="0">
                <a:solidFill>
                  <a:srgbClr val="F7F4EE"/>
                </a:solidFill>
              </a:defRPr>
            </a:lvl1pPr>
            <a:lvl2pPr>
              <a:defRPr sz="2100" b="0">
                <a:solidFill>
                  <a:srgbClr val="F7F4EE"/>
                </a:solidFill>
              </a:defRPr>
            </a:lvl2pPr>
            <a:lvl3pPr>
              <a:defRPr sz="2100" b="0">
                <a:solidFill>
                  <a:srgbClr val="F7F4EE"/>
                </a:solidFill>
              </a:defRPr>
            </a:lvl3pPr>
            <a:lvl4pPr>
              <a:defRPr sz="2100" b="0">
                <a:solidFill>
                  <a:srgbClr val="F7F4EE"/>
                </a:solidFill>
              </a:defRPr>
            </a:lvl4pPr>
            <a:lvl5pPr>
              <a:defRPr sz="2100" b="0">
                <a:solidFill>
                  <a:srgbClr val="F7F4EE"/>
                </a:solidFill>
              </a:defRPr>
            </a:lvl5pPr>
            <a:lvl6pPr>
              <a:defRPr sz="2100" b="0">
                <a:solidFill>
                  <a:srgbClr val="F7F4EE"/>
                </a:solidFill>
              </a:defRPr>
            </a:lvl6pPr>
            <a:lvl7pPr>
              <a:defRPr sz="2100" b="0">
                <a:solidFill>
                  <a:srgbClr val="F7F4EE"/>
                </a:solidFill>
              </a:defRPr>
            </a:lvl7pPr>
            <a:lvl8pPr>
              <a:defRPr sz="2100" b="0">
                <a:solidFill>
                  <a:srgbClr val="F7F4EE"/>
                </a:solidFill>
              </a:defRPr>
            </a:lvl8pPr>
            <a:lvl9pPr>
              <a:defRPr sz="2100" b="0">
                <a:solidFill>
                  <a:srgbClr val="F7F4EE"/>
                </a:solidFill>
              </a:defRPr>
            </a:lvl9pPr>
          </a:lstStyle>
          <a:p xmlns:a="http://schemas.openxmlformats.org/drawingml/2006/main">
            <a:pPr>
              <a:defRPr sz="2100" b="0">
                <a:solidFill>
                  <a:srgbClr val="F7F4EE"/>
                </a:solidFill>
              </a:defRPr>
            </a:pPr>
            <a:r>
              <a:rPr sz="2100" b="0">
                <a:solidFill>
                  <a:srgbClr val="F7F4EE"/>
                </a:solidFill>
              </a:rPr>
              <a:t>Start one mock request generator for each selected region, up to seven in total.</a:t>
            </a:r>
          </a:p>
        </p:txBody>
      </p:sp>
      <p:sp>
        <p:nvSpPr>
          <p:cNvPr id="7" name="Adjust the pause between requests and client timeout. The sa">
            <a:extLst xmlns:a="http://schemas.openxmlformats.org/drawingml/2006/main">
              <a:ext uri="{FF2B5EF4-FFF2-40B4-BE49-F238E27FC236}">
                <a16:creationId xmlns:a16="http://schemas.microsoft.com/office/drawing/2014/main" id="{7DD0D5EE-625F-4CBC-B31D-C30325A07E38}"/>
              </a:ext>
            </a:extLst>
          </p:cNvPr>
          <p:cNvSpPr>
            <a:spLocks xmlns:a="http://schemas.openxmlformats.org/drawingml/2006/main" noGrp="1"/>
          </p:cNvSpPr>
          <p:nvPr/>
        </p:nvSpPr>
        <p:spPr>
          <a:xfrm xmlns:a="http://schemas.openxmlformats.org/drawingml/2006/main">
            <a:off x="5810250" y="3857625"/>
            <a:ext cx="5524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Adjust the pause between requests and client timeout. The sale timer only controls the displayed countdown.</a:t>
            </a:r>
          </a:p>
        </p:txBody>
      </p:sp>
      <p:pic>
        <p:nvPicPr>
          <p:cNvPr id="8" name="">
            <a:extLst xmlns:a="http://schemas.openxmlformats.org/drawingml/2006/main">
              <a:ext uri="{FF2B5EF4-FFF2-40B4-BE49-F238E27FC236}">
                <a16:creationId xmlns:a16="http://schemas.microsoft.com/office/drawing/2014/main" id="{633B10E0-B9B5-4F2B-8D2C-4384025DC8A9}"/>
              </a:ext>
            </a:extLst>
          </p:cNvPr>
          <p:cNvPicPr>
            <a:picLocks xmlns:a="http://schemas.openxmlformats.org/drawingml/2006/main" noChangeAspect="1"/>
          </p:cNvPicPr>
          <p:nvPr/>
        </p:nvPicPr>
        <p:blipFill>
          <a:blip xmlns:r="http://schemas.openxmlformats.org/officeDocument/2006/relationships" xmlns:a="http://schemas.openxmlformats.org/drawingml/2006/main" r:embed="Rf413b22030404ac5"/>
          <a:stretch xmlns:a="http://schemas.openxmlformats.org/drawingml/2006/main"/>
        </p:blipFill>
        <p:spPr>
          <a:xfrm xmlns:a="http://schemas.openxmlformats.org/drawingml/2006/main">
            <a:off x="1211076" y="1933575"/>
            <a:ext cx="3635749" cy="3924300"/>
          </a:xfrm>
          <a:prstGeom xmlns:a="http://schemas.openxmlformats.org/drawingml/2006/main" prst="rect">
            <a:avLst/>
          </a:prstGeom>
        </p:spPr>
      </p:pic>
    </p:spTree>
    <p:extLst>
      <p:ext uri="{BB962C8B-B14F-4D97-AF65-F5344CB8AC3E}">
        <p14:creationId xmlns:p14="http://schemas.microsoft.com/office/powerpoint/2010/main" val="393875731"/>
      </p:ext>
    </p:extLst>
  </p:cSld>
</p:sld>
</file>

<file path=ppt/slides/slide15.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DA3 USER INTERFACE">
            <a:extLst xmlns:a="http://schemas.openxmlformats.org/drawingml/2006/main">
              <a:ext uri="{FF2B5EF4-FFF2-40B4-BE49-F238E27FC236}">
                <a16:creationId xmlns:a16="http://schemas.microsoft.com/office/drawing/2014/main" id="{E02A8DBE-93E5-46F1-AC86-BFBF2CE8CCBB}"/>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DA3 USER INTERFACE</a:t>
            </a:r>
          </a:p>
        </p:txBody>
      </p:sp>
      <p:sp>
        <p:nvSpPr>
          <p:cNvPr id="3" name="Live routing and telemetry">
            <a:extLst xmlns:a="http://schemas.openxmlformats.org/drawingml/2006/main">
              <a:ext uri="{FF2B5EF4-FFF2-40B4-BE49-F238E27FC236}">
                <a16:creationId xmlns:a16="http://schemas.microsoft.com/office/drawing/2014/main" id="{BCD74CE9-C3F9-47A0-BEDB-27E1886DB1A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Live routing and telemetry</a:t>
            </a:r>
          </a:p>
        </p:txBody>
      </p:sp>
      <p:sp>
        <p:nvSpPr>
          <p:cNvPr id="4" name="11">
            <a:extLst xmlns:a="http://schemas.openxmlformats.org/drawingml/2006/main">
              <a:ext uri="{FF2B5EF4-FFF2-40B4-BE49-F238E27FC236}">
                <a16:creationId xmlns:a16="http://schemas.microsoft.com/office/drawing/2014/main" id="{37F8414E-EA74-483B-ABD3-E9A8B6EF575C}"/>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15</a:t>
            </a:r>
          </a:p>
        </p:txBody>
      </p:sp>
      <p:sp>
        <p:nvSpPr>
          <p:cNvPr id="5" name="Events drive the view">
            <a:extLst xmlns:a="http://schemas.openxmlformats.org/drawingml/2006/main">
              <a:ext uri="{FF2B5EF4-FFF2-40B4-BE49-F238E27FC236}">
                <a16:creationId xmlns:a16="http://schemas.microsoft.com/office/drawing/2014/main" id="{08280306-CFE0-4967-A8F0-8C145C110E16}"/>
              </a:ext>
            </a:extLst>
          </p:cNvPr>
          <p:cNvSpPr>
            <a:spLocks xmlns:a="http://schemas.openxmlformats.org/drawingml/2006/main" noGrp="1"/>
          </p:cNvSpPr>
          <p:nvPr/>
        </p:nvSpPr>
        <p:spPr>
          <a:xfrm xmlns:a="http://schemas.openxmlformats.org/drawingml/2006/main">
            <a:off x="5810250" y="207645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E16A3D"/>
                </a:solidFill>
              </a:defRPr>
            </a:defPPr>
            <a:lvl1pPr>
              <a:defRPr sz="2325" b="1">
                <a:solidFill>
                  <a:srgbClr val="E16A3D"/>
                </a:solidFill>
              </a:defRPr>
            </a:lvl1pPr>
            <a:lvl2pPr>
              <a:defRPr sz="2325" b="1">
                <a:solidFill>
                  <a:srgbClr val="E16A3D"/>
                </a:solidFill>
              </a:defRPr>
            </a:lvl2pPr>
            <a:lvl3pPr>
              <a:defRPr sz="2325" b="1">
                <a:solidFill>
                  <a:srgbClr val="E16A3D"/>
                </a:solidFill>
              </a:defRPr>
            </a:lvl3pPr>
            <a:lvl4pPr>
              <a:defRPr sz="2325" b="1">
                <a:solidFill>
                  <a:srgbClr val="E16A3D"/>
                </a:solidFill>
              </a:defRPr>
            </a:lvl4pPr>
            <a:lvl5pPr>
              <a:defRPr sz="2325" b="1">
                <a:solidFill>
                  <a:srgbClr val="E16A3D"/>
                </a:solidFill>
              </a:defRPr>
            </a:lvl5pPr>
            <a:lvl6pPr>
              <a:defRPr sz="2325" b="1">
                <a:solidFill>
                  <a:srgbClr val="E16A3D"/>
                </a:solidFill>
              </a:defRPr>
            </a:lvl6pPr>
            <a:lvl7pPr>
              <a:defRPr sz="2325" b="1">
                <a:solidFill>
                  <a:srgbClr val="E16A3D"/>
                </a:solidFill>
              </a:defRPr>
            </a:lvl7pPr>
            <a:lvl8pPr>
              <a:defRPr sz="2325" b="1">
                <a:solidFill>
                  <a:srgbClr val="E16A3D"/>
                </a:solidFill>
              </a:defRPr>
            </a:lvl8pPr>
            <a:lvl9pPr>
              <a:defRPr sz="2325" b="1">
                <a:solidFill>
                  <a:srgbClr val="E16A3D"/>
                </a:solidFill>
              </a:defRPr>
            </a:lvl9pPr>
          </a:lstStyle>
          <a:p xmlns:a="http://schemas.openxmlformats.org/drawingml/2006/main">
            <a:pPr>
              <a:defRPr sz="2325" b="1">
                <a:solidFill>
                  <a:srgbClr val="E16A3D"/>
                </a:solidFill>
              </a:defRPr>
            </a:pPr>
            <a:r>
              <a:rPr sz="2325" b="1">
                <a:solidFill>
                  <a:srgbClr val="E16A3D"/>
                </a:solidFill>
              </a:rPr>
              <a:t>Events drive the view</a:t>
            </a:r>
          </a:p>
        </p:txBody>
      </p:sp>
      <p:sp>
        <p:nvSpPr>
          <p:cNvPr id="6" name="Request IDs connect client events to the backend that handle">
            <a:extLst xmlns:a="http://schemas.openxmlformats.org/drawingml/2006/main">
              <a:ext uri="{FF2B5EF4-FFF2-40B4-BE49-F238E27FC236}">
                <a16:creationId xmlns:a16="http://schemas.microsoft.com/office/drawing/2014/main" id="{430405CA-2A6F-4E72-9CF6-83718AABCE46}"/>
              </a:ext>
            </a:extLst>
          </p:cNvPr>
          <p:cNvSpPr>
            <a:spLocks xmlns:a="http://schemas.openxmlformats.org/drawingml/2006/main" noGrp="1"/>
          </p:cNvSpPr>
          <p:nvPr/>
        </p:nvSpPr>
        <p:spPr>
          <a:xfrm xmlns:a="http://schemas.openxmlformats.org/drawingml/2006/main">
            <a:off x="5810250" y="2705100"/>
            <a:ext cx="5524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7F4EE"/>
                </a:solidFill>
              </a:defRPr>
            </a:defPPr>
            <a:lvl1pPr>
              <a:defRPr sz="2100" b="0">
                <a:solidFill>
                  <a:srgbClr val="F7F4EE"/>
                </a:solidFill>
              </a:defRPr>
            </a:lvl1pPr>
            <a:lvl2pPr>
              <a:defRPr sz="2100" b="0">
                <a:solidFill>
                  <a:srgbClr val="F7F4EE"/>
                </a:solidFill>
              </a:defRPr>
            </a:lvl2pPr>
            <a:lvl3pPr>
              <a:defRPr sz="2100" b="0">
                <a:solidFill>
                  <a:srgbClr val="F7F4EE"/>
                </a:solidFill>
              </a:defRPr>
            </a:lvl3pPr>
            <a:lvl4pPr>
              <a:defRPr sz="2100" b="0">
                <a:solidFill>
                  <a:srgbClr val="F7F4EE"/>
                </a:solidFill>
              </a:defRPr>
            </a:lvl4pPr>
            <a:lvl5pPr>
              <a:defRPr sz="2100" b="0">
                <a:solidFill>
                  <a:srgbClr val="F7F4EE"/>
                </a:solidFill>
              </a:defRPr>
            </a:lvl5pPr>
            <a:lvl6pPr>
              <a:defRPr sz="2100" b="0">
                <a:solidFill>
                  <a:srgbClr val="F7F4EE"/>
                </a:solidFill>
              </a:defRPr>
            </a:lvl6pPr>
            <a:lvl7pPr>
              <a:defRPr sz="2100" b="0">
                <a:solidFill>
                  <a:srgbClr val="F7F4EE"/>
                </a:solidFill>
              </a:defRPr>
            </a:lvl7pPr>
            <a:lvl8pPr>
              <a:defRPr sz="2100" b="0">
                <a:solidFill>
                  <a:srgbClr val="F7F4EE"/>
                </a:solidFill>
              </a:defRPr>
            </a:lvl8pPr>
            <a:lvl9pPr>
              <a:defRPr sz="2100" b="0">
                <a:solidFill>
                  <a:srgbClr val="F7F4EE"/>
                </a:solidFill>
              </a:defRPr>
            </a:lvl9pPr>
          </a:lstStyle>
          <a:p xmlns:a="http://schemas.openxmlformats.org/drawingml/2006/main">
            <a:pPr>
              <a:defRPr sz="2100" b="0">
                <a:solidFill>
                  <a:srgbClr val="F7F4EE"/>
                </a:solidFill>
              </a:defRPr>
            </a:pPr>
            <a:r>
              <a:rPr sz="2100" b="0">
                <a:solidFill>
                  <a:srgbClr val="F7F4EE"/>
                </a:solidFill>
              </a:rPr>
              <a:t>Request IDs connect client events to the backend that handled each request.</a:t>
            </a:r>
          </a:p>
        </p:txBody>
      </p:sp>
      <p:sp>
        <p:nvSpPr>
          <p:cNvPr id="7" name="Charts show request rate, backend distribution and client-ob">
            <a:extLst xmlns:a="http://schemas.openxmlformats.org/drawingml/2006/main">
              <a:ext uri="{FF2B5EF4-FFF2-40B4-BE49-F238E27FC236}">
                <a16:creationId xmlns:a16="http://schemas.microsoft.com/office/drawing/2014/main" id="{03A0CC58-0ABB-4773-8E0E-6228530D6C2C}"/>
              </a:ext>
            </a:extLst>
          </p:cNvPr>
          <p:cNvSpPr>
            <a:spLocks xmlns:a="http://schemas.openxmlformats.org/drawingml/2006/main" noGrp="1"/>
          </p:cNvSpPr>
          <p:nvPr/>
        </p:nvSpPr>
        <p:spPr>
          <a:xfrm xmlns:a="http://schemas.openxmlformats.org/drawingml/2006/main">
            <a:off x="5810250" y="3810000"/>
            <a:ext cx="5524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Charts show request rate, backend distribution and client-observed response time. The event stream exposes errors and timeouts.</a:t>
            </a:r>
          </a:p>
        </p:txBody>
      </p:sp>
      <p:pic>
        <p:nvPicPr>
          <p:cNvPr id="8" name="">
            <a:extLst xmlns:a="http://schemas.openxmlformats.org/drawingml/2006/main">
              <a:ext uri="{FF2B5EF4-FFF2-40B4-BE49-F238E27FC236}">
                <a16:creationId xmlns:a16="http://schemas.microsoft.com/office/drawing/2014/main" id="{6CDAFF64-FB60-4A9A-867D-F8B17DDD18DC}"/>
              </a:ext>
            </a:extLst>
          </p:cNvPr>
          <p:cNvPicPr>
            <a:picLocks xmlns:a="http://schemas.openxmlformats.org/drawingml/2006/main" noChangeAspect="1"/>
          </p:cNvPicPr>
          <p:nvPr/>
        </p:nvPicPr>
        <p:blipFill>
          <a:blip xmlns:r="http://schemas.openxmlformats.org/officeDocument/2006/relationships" xmlns:a="http://schemas.openxmlformats.org/drawingml/2006/main" r:embed="R01e56d0ddbbc464d"/>
          <a:stretch xmlns:a="http://schemas.openxmlformats.org/drawingml/2006/main"/>
        </p:blipFill>
        <p:spPr>
          <a:xfrm xmlns:a="http://schemas.openxmlformats.org/drawingml/2006/main">
            <a:off x="1211076" y="1933575"/>
            <a:ext cx="3635749" cy="3924300"/>
          </a:xfrm>
          <a:prstGeom xmlns:a="http://schemas.openxmlformats.org/drawingml/2006/main" prst="rect">
            <a:avLst/>
          </a:prstGeom>
        </p:spPr>
      </p:pic>
    </p:spTree>
    <p:extLst>
      <p:ext uri="{BB962C8B-B14F-4D97-AF65-F5344CB8AC3E}">
        <p14:creationId xmlns:p14="http://schemas.microsoft.com/office/powerpoint/2010/main" val="634676287"/>
      </p:ext>
    </p:extLst>
  </p:cSld>
</p:sld>
</file>

<file path=ppt/slides/slide16.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REVIEW DEMONSTRATION">
            <a:extLst xmlns:a="http://schemas.openxmlformats.org/drawingml/2006/main">
              <a:ext uri="{FF2B5EF4-FFF2-40B4-BE49-F238E27FC236}">
                <a16:creationId xmlns:a16="http://schemas.microsoft.com/office/drawing/2014/main" id="{54B00A8F-8BD3-4C13-B6A9-F4765B744ED3}"/>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REVIEW DEMONSTRATION</a:t>
            </a:r>
          </a:p>
        </p:txBody>
      </p:sp>
      <p:sp>
        <p:nvSpPr>
          <p:cNvPr id="3" name="Flash-sale demonstration sequence">
            <a:extLst xmlns:a="http://schemas.openxmlformats.org/drawingml/2006/main">
              <a:ext uri="{FF2B5EF4-FFF2-40B4-BE49-F238E27FC236}">
                <a16:creationId xmlns:a16="http://schemas.microsoft.com/office/drawing/2014/main" id="{470635F0-F329-48DD-8589-E77A47CE1FFB}"/>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Flash-sale demonstration sequence</a:t>
            </a:r>
          </a:p>
        </p:txBody>
      </p:sp>
      <p:sp>
        <p:nvSpPr>
          <p:cNvPr id="4" name="12">
            <a:extLst xmlns:a="http://schemas.openxmlformats.org/drawingml/2006/main">
              <a:ext uri="{FF2B5EF4-FFF2-40B4-BE49-F238E27FC236}">
                <a16:creationId xmlns:a16="http://schemas.microsoft.com/office/drawing/2014/main" id="{BFECABCC-9D97-4C02-A157-E429976B258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16</a:t>
            </a:r>
          </a:p>
        </p:txBody>
      </p:sp>
      <p:sp>
        <p:nvSpPr>
          <p:cNvPr id="5" name="01">
            <a:extLst xmlns:a="http://schemas.openxmlformats.org/drawingml/2006/main">
              <a:ext uri="{FF2B5EF4-FFF2-40B4-BE49-F238E27FC236}">
                <a16:creationId xmlns:a16="http://schemas.microsoft.com/office/drawing/2014/main" id="{714D87B2-13F2-4FA7-BD68-B5090C21C615}"/>
              </a:ext>
            </a:extLst>
          </p:cNvPr>
          <p:cNvSpPr>
            <a:spLocks xmlns:a="http://schemas.openxmlformats.org/drawingml/2006/main" noGrp="1"/>
          </p:cNvSpPr>
          <p:nvPr/>
        </p:nvSpPr>
        <p:spPr>
          <a:xfrm xmlns:a="http://schemas.openxmlformats.org/drawingml/2006/main">
            <a:off x="762000" y="20383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01</a:t>
            </a:r>
          </a:p>
        </p:txBody>
      </p:sp>
      <p:sp>
        <p:nvSpPr>
          <p:cNvPr id="6" name="Configure">
            <a:extLst xmlns:a="http://schemas.openxmlformats.org/drawingml/2006/main">
              <a:ext uri="{FF2B5EF4-FFF2-40B4-BE49-F238E27FC236}">
                <a16:creationId xmlns:a16="http://schemas.microsoft.com/office/drawing/2014/main" id="{7A343322-FB63-4D89-A3F1-FEECC67AE104}"/>
              </a:ext>
            </a:extLst>
          </p:cNvPr>
          <p:cNvSpPr>
            <a:spLocks xmlns:a="http://schemas.openxmlformats.org/drawingml/2006/main" noGrp="1"/>
          </p:cNvSpPr>
          <p:nvPr/>
        </p:nvSpPr>
        <p:spPr>
          <a:xfrm xmlns:a="http://schemas.openxmlformats.org/drawingml/2006/main">
            <a:off x="1543050" y="20383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Configure</a:t>
            </a:r>
          </a:p>
        </p:txBody>
      </p:sp>
      <p:sp>
        <p:nvSpPr>
          <p:cNvPr id="7" name="Start backends on 8080–8082 and select a firmware strategy a">
            <a:extLst xmlns:a="http://schemas.openxmlformats.org/drawingml/2006/main">
              <a:ext uri="{FF2B5EF4-FFF2-40B4-BE49-F238E27FC236}">
                <a16:creationId xmlns:a16="http://schemas.microsoft.com/office/drawing/2014/main" id="{3C8415B5-6247-40B4-B036-1FC685F24AF0}"/>
              </a:ext>
            </a:extLst>
          </p:cNvPr>
          <p:cNvSpPr>
            <a:spLocks xmlns:a="http://schemas.openxmlformats.org/drawingml/2006/main" noGrp="1"/>
          </p:cNvSpPr>
          <p:nvPr/>
        </p:nvSpPr>
        <p:spPr>
          <a:xfrm xmlns:a="http://schemas.openxmlformats.org/drawingml/2006/main">
            <a:off x="3476625" y="203835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Start backends on 8080–8082 and select a firmware strategy at boot.</a:t>
            </a:r>
          </a:p>
        </p:txBody>
      </p:sp>
      <p:sp>
        <p:nvSpPr>
          <p:cNvPr id="8" name="02">
            <a:extLst xmlns:a="http://schemas.openxmlformats.org/drawingml/2006/main">
              <a:ext uri="{FF2B5EF4-FFF2-40B4-BE49-F238E27FC236}">
                <a16:creationId xmlns:a16="http://schemas.microsoft.com/office/drawing/2014/main" id="{4183EC9F-FD21-4DD3-A618-F9F6C83CFC4E}"/>
              </a:ext>
            </a:extLst>
          </p:cNvPr>
          <p:cNvSpPr>
            <a:spLocks xmlns:a="http://schemas.openxmlformats.org/drawingml/2006/main" noGrp="1"/>
          </p:cNvSpPr>
          <p:nvPr/>
        </p:nvSpPr>
        <p:spPr>
          <a:xfrm xmlns:a="http://schemas.openxmlformats.org/drawingml/2006/main">
            <a:off x="762000" y="277177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02</a:t>
            </a:r>
          </a:p>
        </p:txBody>
      </p:sp>
      <p:sp>
        <p:nvSpPr>
          <p:cNvPr id="9" name="Route">
            <a:extLst xmlns:a="http://schemas.openxmlformats.org/drawingml/2006/main">
              <a:ext uri="{FF2B5EF4-FFF2-40B4-BE49-F238E27FC236}">
                <a16:creationId xmlns:a16="http://schemas.microsoft.com/office/drawing/2014/main" id="{7E3A7224-4B17-4F56-B639-13C60E3B1922}"/>
              </a:ext>
            </a:extLst>
          </p:cNvPr>
          <p:cNvSpPr>
            <a:spLocks xmlns:a="http://schemas.openxmlformats.org/drawingml/2006/main" noGrp="1"/>
          </p:cNvSpPr>
          <p:nvPr/>
        </p:nvSpPr>
        <p:spPr>
          <a:xfrm xmlns:a="http://schemas.openxmlformats.org/drawingml/2006/main">
            <a:off x="1543050" y="27717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Route</a:t>
            </a:r>
          </a:p>
        </p:txBody>
      </p:sp>
      <p:sp>
        <p:nvSpPr>
          <p:cNvPr id="10" name="Point generators at the ESP32 IP, port 80. Start the selecte">
            <a:extLst xmlns:a="http://schemas.openxmlformats.org/drawingml/2006/main">
              <a:ext uri="{FF2B5EF4-FFF2-40B4-BE49-F238E27FC236}">
                <a16:creationId xmlns:a16="http://schemas.microsoft.com/office/drawing/2014/main" id="{CDA9BEDA-9EA3-4EDE-9EDF-E5A9E1E24C75}"/>
              </a:ext>
            </a:extLst>
          </p:cNvPr>
          <p:cNvSpPr>
            <a:spLocks xmlns:a="http://schemas.openxmlformats.org/drawingml/2006/main" noGrp="1"/>
          </p:cNvSpPr>
          <p:nvPr/>
        </p:nvSpPr>
        <p:spPr>
          <a:xfrm xmlns:a="http://schemas.openxmlformats.org/drawingml/2006/main">
            <a:off x="3476625" y="2771775"/>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Point generators at the ESP32 IP, port 80. Start the selected regions.</a:t>
            </a:r>
          </a:p>
        </p:txBody>
      </p:sp>
      <p:sp>
        <p:nvSpPr>
          <p:cNvPr id="11" name="03">
            <a:extLst xmlns:a="http://schemas.openxmlformats.org/drawingml/2006/main">
              <a:ext uri="{FF2B5EF4-FFF2-40B4-BE49-F238E27FC236}">
                <a16:creationId xmlns:a16="http://schemas.microsoft.com/office/drawing/2014/main" id="{4A76BE58-702A-485C-BB74-9B11579F39AD}"/>
              </a:ext>
            </a:extLst>
          </p:cNvPr>
          <p:cNvSpPr>
            <a:spLocks xmlns:a="http://schemas.openxmlformats.org/drawingml/2006/main" noGrp="1"/>
          </p:cNvSpPr>
          <p:nvPr/>
        </p:nvSpPr>
        <p:spPr>
          <a:xfrm xmlns:a="http://schemas.openxmlformats.org/drawingml/2006/main">
            <a:off x="762000" y="350520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03</a:t>
            </a:r>
          </a:p>
        </p:txBody>
      </p:sp>
      <p:sp>
        <p:nvSpPr>
          <p:cNvPr id="12" name="Degrade">
            <a:extLst xmlns:a="http://schemas.openxmlformats.org/drawingml/2006/main">
              <a:ext uri="{FF2B5EF4-FFF2-40B4-BE49-F238E27FC236}">
                <a16:creationId xmlns:a16="http://schemas.microsoft.com/office/drawing/2014/main" id="{7FB7D0C3-C553-4C76-9A22-255FC6131730}"/>
              </a:ext>
            </a:extLst>
          </p:cNvPr>
          <p:cNvSpPr>
            <a:spLocks xmlns:a="http://schemas.openxmlformats.org/drawingml/2006/main" noGrp="1"/>
          </p:cNvSpPr>
          <p:nvPr/>
        </p:nvSpPr>
        <p:spPr>
          <a:xfrm xmlns:a="http://schemas.openxmlformats.org/drawingml/2006/main">
            <a:off x="1543050" y="350520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Degrade</a:t>
            </a:r>
          </a:p>
        </p:txBody>
      </p:sp>
      <p:sp>
        <p:nvSpPr>
          <p:cNvPr id="13" name="Raise the delay on one backend while traffic continues.">
            <a:extLst xmlns:a="http://schemas.openxmlformats.org/drawingml/2006/main">
              <a:ext uri="{FF2B5EF4-FFF2-40B4-BE49-F238E27FC236}">
                <a16:creationId xmlns:a16="http://schemas.microsoft.com/office/drawing/2014/main" id="{D5C8C9FD-30E9-4531-84F3-0A289ABC2DBC}"/>
              </a:ext>
            </a:extLst>
          </p:cNvPr>
          <p:cNvSpPr>
            <a:spLocks xmlns:a="http://schemas.openxmlformats.org/drawingml/2006/main" noGrp="1"/>
          </p:cNvSpPr>
          <p:nvPr/>
        </p:nvSpPr>
        <p:spPr>
          <a:xfrm xmlns:a="http://schemas.openxmlformats.org/drawingml/2006/main">
            <a:off x="3476625" y="350520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Raise the delay on one backend while traffic continues.</a:t>
            </a:r>
          </a:p>
        </p:txBody>
      </p:sp>
      <p:sp>
        <p:nvSpPr>
          <p:cNvPr id="14" name="04">
            <a:extLst xmlns:a="http://schemas.openxmlformats.org/drawingml/2006/main">
              <a:ext uri="{FF2B5EF4-FFF2-40B4-BE49-F238E27FC236}">
                <a16:creationId xmlns:a16="http://schemas.microsoft.com/office/drawing/2014/main" id="{B5FAF1CF-6458-4195-8BF2-FF4CAD3F1204}"/>
              </a:ext>
            </a:extLst>
          </p:cNvPr>
          <p:cNvSpPr>
            <a:spLocks xmlns:a="http://schemas.openxmlformats.org/drawingml/2006/main" noGrp="1"/>
          </p:cNvSpPr>
          <p:nvPr/>
        </p:nvSpPr>
        <p:spPr>
          <a:xfrm xmlns:a="http://schemas.openxmlformats.org/drawingml/2006/main">
            <a:off x="762000" y="42386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04</a:t>
            </a:r>
          </a:p>
        </p:txBody>
      </p:sp>
      <p:sp>
        <p:nvSpPr>
          <p:cNvPr id="15" name="Observe">
            <a:extLst xmlns:a="http://schemas.openxmlformats.org/drawingml/2006/main">
              <a:ext uri="{FF2B5EF4-FFF2-40B4-BE49-F238E27FC236}">
                <a16:creationId xmlns:a16="http://schemas.microsoft.com/office/drawing/2014/main" id="{4F59CC8D-DEBD-4896-BE14-EDC6DA063ADB}"/>
              </a:ext>
            </a:extLst>
          </p:cNvPr>
          <p:cNvSpPr>
            <a:spLocks xmlns:a="http://schemas.openxmlformats.org/drawingml/2006/main" noGrp="1"/>
          </p:cNvSpPr>
          <p:nvPr/>
        </p:nvSpPr>
        <p:spPr>
          <a:xfrm xmlns:a="http://schemas.openxmlformats.org/drawingml/2006/main">
            <a:off x="1543050" y="42386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Observe</a:t>
            </a:r>
          </a:p>
        </p:txBody>
      </p:sp>
      <p:sp>
        <p:nvSpPr>
          <p:cNvPr id="16" name="Watch response time, successful responses and backend distri">
            <a:extLst xmlns:a="http://schemas.openxmlformats.org/drawingml/2006/main">
              <a:ext uri="{FF2B5EF4-FFF2-40B4-BE49-F238E27FC236}">
                <a16:creationId xmlns:a16="http://schemas.microsoft.com/office/drawing/2014/main" id="{1064BA94-F872-4023-B18B-098515CBD221}"/>
              </a:ext>
            </a:extLst>
          </p:cNvPr>
          <p:cNvSpPr>
            <a:spLocks xmlns:a="http://schemas.openxmlformats.org/drawingml/2006/main" noGrp="1"/>
          </p:cNvSpPr>
          <p:nvPr/>
        </p:nvSpPr>
        <p:spPr>
          <a:xfrm xmlns:a="http://schemas.openxmlformats.org/drawingml/2006/main">
            <a:off x="3476625" y="4238625"/>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Watch response time, successful responses and backend distribution.</a:t>
            </a:r>
          </a:p>
        </p:txBody>
      </p:sp>
      <p:sp>
        <p:nvSpPr>
          <p:cNvPr id="17" name="05">
            <a:extLst xmlns:a="http://schemas.openxmlformats.org/drawingml/2006/main">
              <a:ext uri="{FF2B5EF4-FFF2-40B4-BE49-F238E27FC236}">
                <a16:creationId xmlns:a16="http://schemas.microsoft.com/office/drawing/2014/main" id="{1DCDA9F6-A190-41B7-82D0-09E6544C8AAA}"/>
              </a:ext>
            </a:extLst>
          </p:cNvPr>
          <p:cNvSpPr>
            <a:spLocks xmlns:a="http://schemas.openxmlformats.org/drawingml/2006/main" noGrp="1"/>
          </p:cNvSpPr>
          <p:nvPr/>
        </p:nvSpPr>
        <p:spPr>
          <a:xfrm xmlns:a="http://schemas.openxmlformats.org/drawingml/2006/main">
            <a:off x="762000" y="49720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05</a:t>
            </a:r>
          </a:p>
        </p:txBody>
      </p:sp>
      <p:sp>
        <p:nvSpPr>
          <p:cNvPr id="18" name="Compare">
            <a:extLst xmlns:a="http://schemas.openxmlformats.org/drawingml/2006/main">
              <a:ext uri="{FF2B5EF4-FFF2-40B4-BE49-F238E27FC236}">
                <a16:creationId xmlns:a16="http://schemas.microsoft.com/office/drawing/2014/main" id="{4A3F13D0-228A-4608-9A48-EE652202F351}"/>
              </a:ext>
            </a:extLst>
          </p:cNvPr>
          <p:cNvSpPr>
            <a:spLocks xmlns:a="http://schemas.openxmlformats.org/drawingml/2006/main" noGrp="1"/>
          </p:cNvSpPr>
          <p:nvPr/>
        </p:nvSpPr>
        <p:spPr>
          <a:xfrm xmlns:a="http://schemas.openxmlformats.org/drawingml/2006/main">
            <a:off x="1543050" y="49720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Compare</a:t>
            </a:r>
          </a:p>
        </p:txBody>
      </p:sp>
      <p:sp>
        <p:nvSpPr>
          <p:cNvPr id="19" name="Repeat with the same settings for each strategy and reset co">
            <a:extLst xmlns:a="http://schemas.openxmlformats.org/drawingml/2006/main">
              <a:ext uri="{FF2B5EF4-FFF2-40B4-BE49-F238E27FC236}">
                <a16:creationId xmlns:a16="http://schemas.microsoft.com/office/drawing/2014/main" id="{6D1EBD54-9667-4BCC-A06A-DA6A8F58E2A2}"/>
              </a:ext>
            </a:extLst>
          </p:cNvPr>
          <p:cNvSpPr>
            <a:spLocks xmlns:a="http://schemas.openxmlformats.org/drawingml/2006/main" noGrp="1"/>
          </p:cNvSpPr>
          <p:nvPr/>
        </p:nvSpPr>
        <p:spPr>
          <a:xfrm xmlns:a="http://schemas.openxmlformats.org/drawingml/2006/main">
            <a:off x="3476625" y="497205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Repeat with the same settings for each strategy and reset counters.</a:t>
            </a:r>
          </a:p>
        </p:txBody>
      </p:sp>
    </p:spTree>
    <p:extLst>
      <p:ext uri="{BB962C8B-B14F-4D97-AF65-F5344CB8AC3E}">
        <p14:creationId xmlns:p14="http://schemas.microsoft.com/office/powerpoint/2010/main" val="1068484377"/>
      </p:ext>
    </p:extLst>
  </p:cSld>
</p:sld>
</file>

<file path=ppt/slides/slide17.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TEAM-CONFIRMED HARDWARE RUN">
            <a:extLst xmlns:a="http://schemas.openxmlformats.org/drawingml/2006/main">
              <a:ext uri="{FF2B5EF4-FFF2-40B4-BE49-F238E27FC236}">
                <a16:creationId xmlns:a16="http://schemas.microsoft.com/office/drawing/2014/main" id="{19266D10-063C-4AB2-AE22-478DE8136C32}"/>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TEAM-CONFIRMED HARDWARE RUN</a:t>
            </a:r>
          </a:p>
        </p:txBody>
      </p:sp>
      <p:sp>
        <p:nvSpPr>
          <p:cNvPr id="3" name="Hardware evaluation setup">
            <a:extLst xmlns:a="http://schemas.openxmlformats.org/drawingml/2006/main">
              <a:ext uri="{FF2B5EF4-FFF2-40B4-BE49-F238E27FC236}">
                <a16:creationId xmlns:a16="http://schemas.microsoft.com/office/drawing/2014/main" id="{47CC1245-03EF-4200-8F40-FDC595D746F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Hardware evaluation setup</a:t>
            </a:r>
          </a:p>
        </p:txBody>
      </p:sp>
      <p:sp>
        <p:nvSpPr>
          <p:cNvPr id="4" name="13">
            <a:extLst xmlns:a="http://schemas.openxmlformats.org/drawingml/2006/main">
              <a:ext uri="{FF2B5EF4-FFF2-40B4-BE49-F238E27FC236}">
                <a16:creationId xmlns:a16="http://schemas.microsoft.com/office/drawing/2014/main" id="{C1EA4A6D-58E7-4E58-B5B2-84887B38CABA}"/>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17</a:t>
            </a:r>
          </a:p>
        </p:txBody>
      </p:sp>
      <p:sp>
        <p:nvSpPr>
          <p:cNvPr id="5" name="3 backends     5 clients     120 seconds">
            <a:extLst xmlns:a="http://schemas.openxmlformats.org/drawingml/2006/main">
              <a:ext uri="{FF2B5EF4-FFF2-40B4-BE49-F238E27FC236}">
                <a16:creationId xmlns:a16="http://schemas.microsoft.com/office/drawing/2014/main" id="{BB50E8D7-4F42-464D-AA4A-EB9383294744}"/>
              </a:ext>
            </a:extLst>
          </p:cNvPr>
          <p:cNvSpPr>
            <a:spLocks xmlns:a="http://schemas.openxmlformats.org/drawingml/2006/main" noGrp="1"/>
          </p:cNvSpPr>
          <p:nvPr/>
        </p:nvSpPr>
        <p:spPr>
          <a:xfrm xmlns:a="http://schemas.openxmlformats.org/drawingml/2006/main">
            <a:off x="762000" y="20669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E16A3D"/>
                </a:solidFill>
              </a:defRPr>
            </a:defPPr>
            <a:lvl1pPr>
              <a:defRPr sz="2700" b="1">
                <a:solidFill>
                  <a:srgbClr val="E16A3D"/>
                </a:solidFill>
              </a:defRPr>
            </a:lvl1pPr>
            <a:lvl2pPr>
              <a:defRPr sz="2700" b="1">
                <a:solidFill>
                  <a:srgbClr val="E16A3D"/>
                </a:solidFill>
              </a:defRPr>
            </a:lvl2pPr>
            <a:lvl3pPr>
              <a:defRPr sz="2700" b="1">
                <a:solidFill>
                  <a:srgbClr val="E16A3D"/>
                </a:solidFill>
              </a:defRPr>
            </a:lvl3pPr>
            <a:lvl4pPr>
              <a:defRPr sz="2700" b="1">
                <a:solidFill>
                  <a:srgbClr val="E16A3D"/>
                </a:solidFill>
              </a:defRPr>
            </a:lvl4pPr>
            <a:lvl5pPr>
              <a:defRPr sz="2700" b="1">
                <a:solidFill>
                  <a:srgbClr val="E16A3D"/>
                </a:solidFill>
              </a:defRPr>
            </a:lvl5pPr>
            <a:lvl6pPr>
              <a:defRPr sz="2700" b="1">
                <a:solidFill>
                  <a:srgbClr val="E16A3D"/>
                </a:solidFill>
              </a:defRPr>
            </a:lvl6pPr>
            <a:lvl7pPr>
              <a:defRPr sz="2700" b="1">
                <a:solidFill>
                  <a:srgbClr val="E16A3D"/>
                </a:solidFill>
              </a:defRPr>
            </a:lvl7pPr>
            <a:lvl8pPr>
              <a:defRPr sz="2700" b="1">
                <a:solidFill>
                  <a:srgbClr val="E16A3D"/>
                </a:solidFill>
              </a:defRPr>
            </a:lvl8pPr>
            <a:lvl9pPr>
              <a:defRPr sz="2700" b="1">
                <a:solidFill>
                  <a:srgbClr val="E16A3D"/>
                </a:solidFill>
              </a:defRPr>
            </a:lvl9pPr>
          </a:lstStyle>
          <a:p xmlns:a="http://schemas.openxmlformats.org/drawingml/2006/main">
            <a:pPr>
              <a:defRPr sz="2700" b="1">
                <a:solidFill>
                  <a:srgbClr val="E16A3D"/>
                </a:solidFill>
              </a:defRPr>
            </a:pPr>
            <a:r>
              <a:rPr sz="2700" b="1">
                <a:solidFill>
                  <a:srgbClr val="E16A3D"/>
                </a:solidFill>
              </a:rPr>
              <a:t>3 backends     5 clients     120 seconds</a:t>
            </a:r>
          </a:p>
        </p:txBody>
      </p:sp>
      <p:graphicFrame>
        <p:nvGraphicFramePr>
          <p:cNvPr id="6" name="">
            <a:extLst xmlns:a="http://schemas.openxmlformats.org/drawingml/2006/main">
              <a:ext uri="{FF2B5EF4-FFF2-40B4-BE49-F238E27FC236}">
                <a16:creationId xmlns:a16="http://schemas.microsoft.com/office/drawing/2014/main" id="{ADB49BA0-EF07-40F4-97CB-37CC63B1BEDF}"/>
              </a:ext>
            </a:extLst>
          </p:cNvPr>
          <p:cNvGraphicFramePr/>
          <p:nvPr/>
        </p:nvGraphicFramePr>
        <p:xfrm>
          <a:off xmlns:a="http://schemas.openxmlformats.org/drawingml/2006/main" x="762000" y="3009900"/>
          <a:ext xmlns:a="http://schemas.openxmlformats.org/drawingml/2006/main" cx="10668000" cy="2447925"/>
        </p:xfrm>
        <a:graphic xmlns:a="http://schemas.openxmlformats.org/drawingml/2006/main">
          <a:graphicData uri="http://schemas.openxmlformats.org/drawingml/2006/table">
            <a:tbl>
              <a:tblPr/>
              <a:tblGrid>
                <a:gridCol w="2571750"/>
                <a:gridCol w="4333875"/>
                <a:gridCol w="3762375"/>
              </a:tblGrid>
              <a:tr h="611981">
                <a:tc>
                  <a:txBody>
                    <a:bodyPr/>
                    <a:lstStyle/>
                    <a:p>
                      <a:r>
                        <a:rPr sz="1875" b="1">
                          <a:solidFill>
                            <a:srgbClr val="F7F4EE"/>
                          </a:solidFill>
                        </a:rPr>
                        <a:t>Backend</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Added delay setting</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Condition</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611981">
                <a:tc>
                  <a:txBody>
                    <a:bodyPr/>
                    <a:lstStyle/>
                    <a:p>
                      <a:r>
                        <a:rPr sz="1875" b="0">
                          <a:solidFill>
                            <a:srgbClr val="F7F4EE"/>
                          </a:solidFill>
                        </a:rPr>
                        <a:t>8080</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0% of 2-second timeout</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Healthy reference</a:t>
                      </a:r>
                    </a:p>
                  </a:txBody>
                  <a:tcPr marL="91440" marR="91440" marT="45720" marB="45720">
                    <a:lnR w="9525">
                      <a:solidFill>
                        <a:srgbClr val="0E1822"/>
                      </a:solidFill>
                      <a:prstDash val="solid"/>
                    </a:lnR>
                    <a:lnB w="9525">
                      <a:solidFill>
                        <a:srgbClr val="0E1822"/>
                      </a:solidFill>
                      <a:prstDash val="solid"/>
                    </a:lnB>
                    <a:solidFill>
                      <a:srgbClr val="0E1822"/>
                    </a:solidFill>
                  </a:tcPr>
                </a:tc>
              </a:tr>
              <a:tr h="611981">
                <a:tc>
                  <a:txBody>
                    <a:bodyPr/>
                    <a:lstStyle/>
                    <a:p>
                      <a:r>
                        <a:rPr sz="1875" b="0">
                          <a:solidFill>
                            <a:srgbClr val="F7F4EE"/>
                          </a:solidFill>
                        </a:rPr>
                        <a:t>8081</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45%, approximately 900 ms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Degraded backend</a:t>
                      </a:r>
                    </a:p>
                  </a:txBody>
                  <a:tcPr marL="91440" marR="91440" marT="45720" marB="45720">
                    <a:lnR w="9525">
                      <a:solidFill>
                        <a:srgbClr val="0E1822"/>
                      </a:solidFill>
                      <a:prstDash val="solid"/>
                    </a:lnR>
                    <a:lnB w="9525">
                      <a:solidFill>
                        <a:srgbClr val="0E1822"/>
                      </a:solidFill>
                      <a:prstDash val="solid"/>
                    </a:lnB>
                    <a:solidFill>
                      <a:srgbClr val="14202C"/>
                    </a:solidFill>
                  </a:tcPr>
                </a:tc>
              </a:tr>
              <a:tr h="611981">
                <a:tc>
                  <a:txBody>
                    <a:bodyPr/>
                    <a:lstStyle/>
                    <a:p>
                      <a:r>
                        <a:rPr sz="1875" b="0">
                          <a:solidFill>
                            <a:srgbClr val="F7F4EE"/>
                          </a:solidFill>
                        </a:rPr>
                        <a:t>8082</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5%, approximately 100 ms</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Second healthy backend</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Tree>
    <p:extLst>
      <p:ext uri="{BB962C8B-B14F-4D97-AF65-F5344CB8AC3E}">
        <p14:creationId xmlns:p14="http://schemas.microsoft.com/office/powerpoint/2010/main" val="31506743"/>
      </p:ext>
    </p:extLst>
  </p:cSld>
</p:sld>
</file>

<file path=ppt/slides/slide18.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HARDWARE RESULT">
            <a:extLst xmlns:a="http://schemas.openxmlformats.org/drawingml/2006/main">
              <a:ext uri="{FF2B5EF4-FFF2-40B4-BE49-F238E27FC236}">
                <a16:creationId xmlns:a16="http://schemas.microsoft.com/office/drawing/2014/main" id="{29084A72-A841-4175-BFD9-B2ADBF8A2EF4}"/>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HARDWARE RESULT</a:t>
            </a:r>
          </a:p>
        </p:txBody>
      </p:sp>
      <p:sp>
        <p:nvSpPr>
          <p:cNvPr id="3" name="Q-learning reduced mean latency by 59.8%">
            <a:extLst xmlns:a="http://schemas.openxmlformats.org/drawingml/2006/main">
              <a:ext uri="{FF2B5EF4-FFF2-40B4-BE49-F238E27FC236}">
                <a16:creationId xmlns:a16="http://schemas.microsoft.com/office/drawing/2014/main" id="{395791FA-2A7A-4057-8DBF-5F95B136414C}"/>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Q-learning reduced mean latency by 59.8%</a:t>
            </a:r>
          </a:p>
        </p:txBody>
      </p:sp>
      <p:sp>
        <p:nvSpPr>
          <p:cNvPr id="4" name="14">
            <a:extLst xmlns:a="http://schemas.openxmlformats.org/drawingml/2006/main">
              <a:ext uri="{FF2B5EF4-FFF2-40B4-BE49-F238E27FC236}">
                <a16:creationId xmlns:a16="http://schemas.microsoft.com/office/drawing/2014/main" id="{4398AE02-3C75-4046-953D-7D2D6EEC762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18</a:t>
            </a:r>
          </a:p>
        </p:txBody>
      </p:sp>
      <p:graphicFrame>
        <p:nvGraphicFramePr>
          <p:cNvPr id="5" name="Chart">
            <a:extLst xmlns:a="http://schemas.openxmlformats.org/drawingml/2006/main">
              <a:ext uri="{FF2B5EF4-FFF2-40B4-BE49-F238E27FC236}">
                <a16:creationId xmlns:a16="http://schemas.microsoft.com/office/drawing/2014/main" id="{91E3B47F-7902-4F25-B620-B045EEFD022F}"/>
              </a:ext>
            </a:extLst>
          </p:cNvPr>
          <p:cNvGraphicFramePr/>
          <p:nvPr/>
        </p:nvGraphicFramePr>
        <p:xfrm>
          <a:off xmlns:a="http://schemas.openxmlformats.org/drawingml/2006/main" x="762000" y="2076450"/>
          <a:ext xmlns:a="http://schemas.openxmlformats.org/drawingml/2006/main" cx="7429500" cy="3533775"/>
        </p:xfrm>
        <a:graphic xmlns:a="http://schemas.openxmlformats.org/drawingml/2006/main">
          <a:graphicData uri="http://schemas.openxmlformats.org/drawingml/2006/chart">
            <c:chart xmlns:r="http://schemas.openxmlformats.org/officeDocument/2006/relationships" xmlns:c="http://schemas.openxmlformats.org/drawingml/2006/chart" r:id="Rc074ad011be441b5"/>
          </a:graphicData>
        </a:graphic>
      </p:graphicFrame>
      <p:sp>
        <p:nvSpPr>
          <p:cNvPr id="6" name="310 ms">
            <a:extLst xmlns:a="http://schemas.openxmlformats.org/drawingml/2006/main">
              <a:ext uri="{FF2B5EF4-FFF2-40B4-BE49-F238E27FC236}">
                <a16:creationId xmlns:a16="http://schemas.microsoft.com/office/drawing/2014/main" id="{7ADC9DD5-8397-4EA8-B8EB-56C9B20D1B69}"/>
              </a:ext>
            </a:extLst>
          </p:cNvPr>
          <p:cNvSpPr>
            <a:spLocks xmlns:a="http://schemas.openxmlformats.org/drawingml/2006/main" noGrp="1"/>
          </p:cNvSpPr>
          <p:nvPr/>
        </p:nvSpPr>
        <p:spPr>
          <a:xfrm xmlns:a="http://schemas.openxmlformats.org/drawingml/2006/main">
            <a:off x="8743950" y="244792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E16A3D"/>
                </a:solidFill>
              </a:defRPr>
            </a:defPPr>
            <a:lvl1pPr>
              <a:defRPr sz="4050" b="1">
                <a:solidFill>
                  <a:srgbClr val="E16A3D"/>
                </a:solidFill>
              </a:defRPr>
            </a:lvl1pPr>
            <a:lvl2pPr>
              <a:defRPr sz="4050" b="1">
                <a:solidFill>
                  <a:srgbClr val="E16A3D"/>
                </a:solidFill>
              </a:defRPr>
            </a:lvl2pPr>
            <a:lvl3pPr>
              <a:defRPr sz="4050" b="1">
                <a:solidFill>
                  <a:srgbClr val="E16A3D"/>
                </a:solidFill>
              </a:defRPr>
            </a:lvl3pPr>
            <a:lvl4pPr>
              <a:defRPr sz="4050" b="1">
                <a:solidFill>
                  <a:srgbClr val="E16A3D"/>
                </a:solidFill>
              </a:defRPr>
            </a:lvl4pPr>
            <a:lvl5pPr>
              <a:defRPr sz="4050" b="1">
                <a:solidFill>
                  <a:srgbClr val="E16A3D"/>
                </a:solidFill>
              </a:defRPr>
            </a:lvl5pPr>
            <a:lvl6pPr>
              <a:defRPr sz="4050" b="1">
                <a:solidFill>
                  <a:srgbClr val="E16A3D"/>
                </a:solidFill>
              </a:defRPr>
            </a:lvl6pPr>
            <a:lvl7pPr>
              <a:defRPr sz="4050" b="1">
                <a:solidFill>
                  <a:srgbClr val="E16A3D"/>
                </a:solidFill>
              </a:defRPr>
            </a:lvl7pPr>
            <a:lvl8pPr>
              <a:defRPr sz="4050" b="1">
                <a:solidFill>
                  <a:srgbClr val="E16A3D"/>
                </a:solidFill>
              </a:defRPr>
            </a:lvl8pPr>
            <a:lvl9pPr>
              <a:defRPr sz="4050" b="1">
                <a:solidFill>
                  <a:srgbClr val="E16A3D"/>
                </a:solidFill>
              </a:defRPr>
            </a:lvl9pPr>
          </a:lstStyle>
          <a:p xmlns:a="http://schemas.openxmlformats.org/drawingml/2006/main">
            <a:pPr>
              <a:defRPr sz="4050" b="1">
                <a:solidFill>
                  <a:srgbClr val="E16A3D"/>
                </a:solidFill>
              </a:defRPr>
            </a:pPr>
            <a:r>
              <a:rPr sz="4050" b="1">
                <a:solidFill>
                  <a:srgbClr val="E16A3D"/>
                </a:solidFill>
              </a:rPr>
              <a:t>310 ms</a:t>
            </a:r>
          </a:p>
        </p:txBody>
      </p:sp>
      <p:sp>
        <p:nvSpPr>
          <p:cNvPr id="7" name="lower mean latency&#10;than Round Robin">
            <a:extLst xmlns:a="http://schemas.openxmlformats.org/drawingml/2006/main">
              <a:ext uri="{FF2B5EF4-FFF2-40B4-BE49-F238E27FC236}">
                <a16:creationId xmlns:a16="http://schemas.microsoft.com/office/drawing/2014/main" id="{550BB9B8-02D6-445B-88DB-C3D19F0B764E}"/>
              </a:ext>
            </a:extLst>
          </p:cNvPr>
          <p:cNvSpPr>
            <a:spLocks xmlns:a="http://schemas.openxmlformats.org/drawingml/2006/main" noGrp="1"/>
          </p:cNvSpPr>
          <p:nvPr/>
        </p:nvSpPr>
        <p:spPr>
          <a:xfrm xmlns:a="http://schemas.openxmlformats.org/drawingml/2006/main">
            <a:off x="8743950" y="3362325"/>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F7F4EE"/>
                </a:solidFill>
              </a:defRPr>
            </a:defPPr>
            <a:lvl1pPr>
              <a:defRPr sz="2100" b="1">
                <a:solidFill>
                  <a:srgbClr val="F7F4EE"/>
                </a:solidFill>
              </a:defRPr>
            </a:lvl1pPr>
            <a:lvl2pPr>
              <a:defRPr sz="2100" b="1">
                <a:solidFill>
                  <a:srgbClr val="F7F4EE"/>
                </a:solidFill>
              </a:defRPr>
            </a:lvl2pPr>
            <a:lvl3pPr>
              <a:defRPr sz="2100" b="1">
                <a:solidFill>
                  <a:srgbClr val="F7F4EE"/>
                </a:solidFill>
              </a:defRPr>
            </a:lvl3pPr>
            <a:lvl4pPr>
              <a:defRPr sz="2100" b="1">
                <a:solidFill>
                  <a:srgbClr val="F7F4EE"/>
                </a:solidFill>
              </a:defRPr>
            </a:lvl4pPr>
            <a:lvl5pPr>
              <a:defRPr sz="2100" b="1">
                <a:solidFill>
                  <a:srgbClr val="F7F4EE"/>
                </a:solidFill>
              </a:defRPr>
            </a:lvl5pPr>
            <a:lvl6pPr>
              <a:defRPr sz="2100" b="1">
                <a:solidFill>
                  <a:srgbClr val="F7F4EE"/>
                </a:solidFill>
              </a:defRPr>
            </a:lvl6pPr>
            <a:lvl7pPr>
              <a:defRPr sz="2100" b="1">
                <a:solidFill>
                  <a:srgbClr val="F7F4EE"/>
                </a:solidFill>
              </a:defRPr>
            </a:lvl7pPr>
            <a:lvl8pPr>
              <a:defRPr sz="2100" b="1">
                <a:solidFill>
                  <a:srgbClr val="F7F4EE"/>
                </a:solidFill>
              </a:defRPr>
            </a:lvl8pPr>
            <a:lvl9pPr>
              <a:defRPr sz="2100" b="1">
                <a:solidFill>
                  <a:srgbClr val="F7F4EE"/>
                </a:solidFill>
              </a:defRPr>
            </a:lvl9pPr>
          </a:lstStyle>
          <a:p xmlns:a="http://schemas.openxmlformats.org/drawingml/2006/main">
            <a:pPr>
              <a:defRPr sz="2100" b="1">
                <a:solidFill>
                  <a:srgbClr val="F7F4EE"/>
                </a:solidFill>
              </a:defRPr>
            </a:pPr>
            <a:r>
              <a:rPr sz="2100" b="1">
                <a:solidFill>
                  <a:srgbClr val="F7F4EE"/>
                </a:solidFill>
              </a:rPr>
              <a:t>lower mean latency</a:t>
            </a:r>
          </a:p>
          <a:p xmlns:a="http://schemas.openxmlformats.org/drawingml/2006/main">
            <a:pPr>
              <a:defRPr sz="2100" b="1">
                <a:solidFill>
                  <a:srgbClr val="F7F4EE"/>
                </a:solidFill>
              </a:defRPr>
            </a:pPr>
            <a:r>
              <a:rPr sz="2100" b="1">
                <a:solidFill>
                  <a:srgbClr val="F7F4EE"/>
                </a:solidFill>
              </a:rPr>
              <a:t>than Round Robin</a:t>
            </a:r>
          </a:p>
        </p:txBody>
      </p:sp>
      <p:sp>
        <p:nvSpPr>
          <p:cNvPr id="8" name="For the documented&#10;120-second run">
            <a:extLst xmlns:a="http://schemas.openxmlformats.org/drawingml/2006/main">
              <a:ext uri="{FF2B5EF4-FFF2-40B4-BE49-F238E27FC236}">
                <a16:creationId xmlns:a16="http://schemas.microsoft.com/office/drawing/2014/main" id="{35F2353C-D2F9-4175-B1D1-7990B57BC7E1}"/>
              </a:ext>
            </a:extLst>
          </p:cNvPr>
          <p:cNvSpPr>
            <a:spLocks xmlns:a="http://schemas.openxmlformats.org/drawingml/2006/main" noGrp="1"/>
          </p:cNvSpPr>
          <p:nvPr/>
        </p:nvSpPr>
        <p:spPr>
          <a:xfrm xmlns:a="http://schemas.openxmlformats.org/drawingml/2006/main">
            <a:off x="8743950" y="4638675"/>
            <a:ext cx="261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A0ABB5"/>
                </a:solidFill>
              </a:defRPr>
            </a:defPPr>
            <a:lvl1pPr>
              <a:defRPr sz="1725" b="0">
                <a:solidFill>
                  <a:srgbClr val="A0ABB5"/>
                </a:solidFill>
              </a:defRPr>
            </a:lvl1pPr>
            <a:lvl2pPr>
              <a:defRPr sz="1725" b="0">
                <a:solidFill>
                  <a:srgbClr val="A0ABB5"/>
                </a:solidFill>
              </a:defRPr>
            </a:lvl2pPr>
            <a:lvl3pPr>
              <a:defRPr sz="1725" b="0">
                <a:solidFill>
                  <a:srgbClr val="A0ABB5"/>
                </a:solidFill>
              </a:defRPr>
            </a:lvl3pPr>
            <a:lvl4pPr>
              <a:defRPr sz="1725" b="0">
                <a:solidFill>
                  <a:srgbClr val="A0ABB5"/>
                </a:solidFill>
              </a:defRPr>
            </a:lvl4pPr>
            <a:lvl5pPr>
              <a:defRPr sz="1725" b="0">
                <a:solidFill>
                  <a:srgbClr val="A0ABB5"/>
                </a:solidFill>
              </a:defRPr>
            </a:lvl5pPr>
            <a:lvl6pPr>
              <a:defRPr sz="1725" b="0">
                <a:solidFill>
                  <a:srgbClr val="A0ABB5"/>
                </a:solidFill>
              </a:defRPr>
            </a:lvl6pPr>
            <a:lvl7pPr>
              <a:defRPr sz="1725" b="0">
                <a:solidFill>
                  <a:srgbClr val="A0ABB5"/>
                </a:solidFill>
              </a:defRPr>
            </a:lvl7pPr>
            <a:lvl8pPr>
              <a:defRPr sz="1725" b="0">
                <a:solidFill>
                  <a:srgbClr val="A0ABB5"/>
                </a:solidFill>
              </a:defRPr>
            </a:lvl8pPr>
            <a:lvl9pPr>
              <a:defRPr sz="1725" b="0">
                <a:solidFill>
                  <a:srgbClr val="A0ABB5"/>
                </a:solidFill>
              </a:defRPr>
            </a:lvl9pPr>
          </a:lstStyle>
          <a:p xmlns:a="http://schemas.openxmlformats.org/drawingml/2006/main">
            <a:pPr>
              <a:defRPr sz="1725" b="0">
                <a:solidFill>
                  <a:srgbClr val="A0ABB5"/>
                </a:solidFill>
              </a:defRPr>
            </a:pPr>
            <a:r>
              <a:rPr sz="1725" b="0">
                <a:solidFill>
                  <a:srgbClr val="A0ABB5"/>
                </a:solidFill>
              </a:rPr>
              <a:t>For the documented</a:t>
            </a:r>
          </a:p>
          <a:p xmlns:a="http://schemas.openxmlformats.org/drawingml/2006/main">
            <a:pPr>
              <a:defRPr sz="1725" b="0">
                <a:solidFill>
                  <a:srgbClr val="A0ABB5"/>
                </a:solidFill>
              </a:defRPr>
            </a:pPr>
            <a:r>
              <a:rPr sz="1725" b="0">
                <a:solidFill>
                  <a:srgbClr val="A0ABB5"/>
                </a:solidFill>
              </a:rPr>
              <a:t>120-second run</a:t>
            </a:r>
          </a:p>
        </p:txBody>
      </p:sp>
    </p:spTree>
    <p:extLst>
      <p:ext uri="{BB962C8B-B14F-4D97-AF65-F5344CB8AC3E}">
        <p14:creationId xmlns:p14="http://schemas.microsoft.com/office/powerpoint/2010/main" val="1474127826"/>
      </p:ext>
    </p:extLst>
  </p:cSld>
</p:sld>
</file>

<file path=ppt/slides/slide19.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MEASURED RUN REPORTED BY THE TEAM">
            <a:extLst xmlns:a="http://schemas.openxmlformats.org/drawingml/2006/main">
              <a:ext uri="{FF2B5EF4-FFF2-40B4-BE49-F238E27FC236}">
                <a16:creationId xmlns:a16="http://schemas.microsoft.com/office/drawing/2014/main" id="{B6D4EC09-AE8E-4112-816A-05CC0B69BA55}"/>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MEASURED RUN REPORTED BY THE TEAM</a:t>
            </a:r>
          </a:p>
        </p:txBody>
      </p:sp>
      <p:sp>
        <p:nvSpPr>
          <p:cNvPr id="3" name="Hardware performance comparison">
            <a:extLst xmlns:a="http://schemas.openxmlformats.org/drawingml/2006/main">
              <a:ext uri="{FF2B5EF4-FFF2-40B4-BE49-F238E27FC236}">
                <a16:creationId xmlns:a16="http://schemas.microsoft.com/office/drawing/2014/main" id="{A5D45BD9-19D7-46E4-A4B2-D9652587FC4A}"/>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Hardware performance comparison</a:t>
            </a:r>
          </a:p>
        </p:txBody>
      </p:sp>
      <p:sp>
        <p:nvSpPr>
          <p:cNvPr id="4" name="15">
            <a:extLst xmlns:a="http://schemas.openxmlformats.org/drawingml/2006/main">
              <a:ext uri="{FF2B5EF4-FFF2-40B4-BE49-F238E27FC236}">
                <a16:creationId xmlns:a16="http://schemas.microsoft.com/office/drawing/2014/main" id="{5F542B5F-0A0D-4CBD-94ED-C595408369B5}"/>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19</a:t>
            </a:r>
          </a:p>
        </p:txBody>
      </p:sp>
      <p:graphicFrame>
        <p:nvGraphicFramePr>
          <p:cNvPr id="5" name="">
            <a:extLst xmlns:a="http://schemas.openxmlformats.org/drawingml/2006/main">
              <a:ext uri="{FF2B5EF4-FFF2-40B4-BE49-F238E27FC236}">
                <a16:creationId xmlns:a16="http://schemas.microsoft.com/office/drawing/2014/main" id="{BA040F2D-8675-4A31-80C3-44F3B2F54725}"/>
              </a:ext>
            </a:extLst>
          </p:cNvPr>
          <p:cNvGraphicFramePr/>
          <p:nvPr/>
        </p:nvGraphicFramePr>
        <p:xfrm>
          <a:off xmlns:a="http://schemas.openxmlformats.org/drawingml/2006/main" x="762000" y="1990725"/>
          <a:ext xmlns:a="http://schemas.openxmlformats.org/drawingml/2006/main" cx="10668000" cy="3257550"/>
        </p:xfrm>
        <a:graphic xmlns:a="http://schemas.openxmlformats.org/drawingml/2006/main">
          <a:graphicData uri="http://schemas.openxmlformats.org/drawingml/2006/table">
            <a:tbl>
              <a:tblPr/>
              <a:tblGrid>
                <a:gridCol w="3333750"/>
                <a:gridCol w="2381250"/>
                <a:gridCol w="2571750"/>
                <a:gridCol w="2381250"/>
              </a:tblGrid>
              <a:tr h="542925">
                <a:tc>
                  <a:txBody>
                    <a:bodyPr/>
                    <a:lstStyle/>
                    <a:p>
                      <a:r>
                        <a:rPr sz="1875" b="1">
                          <a:solidFill>
                            <a:srgbClr val="F7F4EE"/>
                          </a:solidFill>
                        </a:rPr>
                        <a:t>Metric</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Round Robin</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Q-learning</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EMA</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42925">
                <a:tc>
                  <a:txBody>
                    <a:bodyPr/>
                    <a:lstStyle/>
                    <a:p>
                      <a:r>
                        <a:rPr sz="1875" b="0">
                          <a:solidFill>
                            <a:srgbClr val="F7F4EE"/>
                          </a:solidFill>
                        </a:rPr>
                        <a:t>Requests served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737</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1,156</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731</a:t>
                      </a:r>
                    </a:p>
                  </a:txBody>
                  <a:tcPr marL="91440" marR="91440" marT="45720" marB="45720">
                    <a:lnR w="9525">
                      <a:solidFill>
                        <a:srgbClr val="0E1822"/>
                      </a:solidFill>
                      <a:prstDash val="solid"/>
                    </a:lnR>
                    <a:lnB w="9525">
                      <a:solidFill>
                        <a:srgbClr val="0E1822"/>
                      </a:solidFill>
                      <a:prstDash val="solid"/>
                    </a:lnB>
                    <a:solidFill>
                      <a:srgbClr val="0E1822"/>
                    </a:solidFill>
                  </a:tcPr>
                </a:tc>
              </a:tr>
              <a:tr h="542925">
                <a:tc>
                  <a:txBody>
                    <a:bodyPr/>
                    <a:lstStyle/>
                    <a:p>
                      <a:r>
                        <a:rPr sz="1875" b="0">
                          <a:solidFill>
                            <a:srgbClr val="F7F4EE"/>
                          </a:solidFill>
                        </a:rPr>
                        <a:t>Mean latency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518 ms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208 ms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515 ms</a:t>
                      </a:r>
                    </a:p>
                  </a:txBody>
                  <a:tcPr marL="91440" marR="91440" marT="45720" marB="45720">
                    <a:lnR w="9525">
                      <a:solidFill>
                        <a:srgbClr val="0E1822"/>
                      </a:solidFill>
                      <a:prstDash val="solid"/>
                    </a:lnR>
                    <a:lnB w="9525">
                      <a:solidFill>
                        <a:srgbClr val="0E1822"/>
                      </a:solidFill>
                      <a:prstDash val="solid"/>
                    </a:lnB>
                    <a:solidFill>
                      <a:srgbClr val="14202C"/>
                    </a:solidFill>
                  </a:tcPr>
                </a:tc>
              </a:tr>
              <a:tr h="542925">
                <a:tc>
                  <a:txBody>
                    <a:bodyPr/>
                    <a:lstStyle/>
                    <a:p>
                      <a:r>
                        <a:rPr sz="1875" b="0">
                          <a:solidFill>
                            <a:srgbClr val="F7F4EE"/>
                          </a:solidFill>
                        </a:rPr>
                        <a:t>p95 latency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1,186 ms</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473 ms</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1,185 ms</a:t>
                      </a:r>
                    </a:p>
                  </a:txBody>
                  <a:tcPr marL="91440" marR="91440" marT="45720" marB="45720">
                    <a:lnR w="9525">
                      <a:solidFill>
                        <a:srgbClr val="0E1822"/>
                      </a:solidFill>
                      <a:prstDash val="solid"/>
                    </a:lnR>
                    <a:lnB w="9525">
                      <a:solidFill>
                        <a:srgbClr val="0E1822"/>
                      </a:solidFill>
                      <a:prstDash val="solid"/>
                    </a:lnB>
                    <a:solidFill>
                      <a:srgbClr val="0E1822"/>
                    </a:solidFill>
                  </a:tcPr>
                </a:tc>
              </a:tr>
              <a:tr h="542925">
                <a:tc>
                  <a:txBody>
                    <a:bodyPr/>
                    <a:lstStyle/>
                    <a:p>
                      <a:r>
                        <a:rPr sz="1875" b="0">
                          <a:solidFill>
                            <a:srgbClr val="F7F4EE"/>
                          </a:solidFill>
                        </a:rPr>
                        <a:t>Throughput</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6.1 req/s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9.6 req/s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6.1 req/s</a:t>
                      </a:r>
                    </a:p>
                  </a:txBody>
                  <a:tcPr marL="91440" marR="91440" marT="45720" marB="45720">
                    <a:lnR w="9525">
                      <a:solidFill>
                        <a:srgbClr val="0E1822"/>
                      </a:solidFill>
                      <a:prstDash val="solid"/>
                    </a:lnR>
                    <a:lnB w="9525">
                      <a:solidFill>
                        <a:srgbClr val="0E1822"/>
                      </a:solidFill>
                      <a:prstDash val="solid"/>
                    </a:lnB>
                    <a:solidFill>
                      <a:srgbClr val="14202C"/>
                    </a:solidFill>
                  </a:tcPr>
                </a:tc>
              </a:tr>
              <a:tr h="542925">
                <a:tc>
                  <a:txBody>
                    <a:bodyPr/>
                    <a:lstStyle/>
                    <a:p>
                      <a:r>
                        <a:rPr sz="1875" b="0">
                          <a:solidFill>
                            <a:srgbClr val="F7F4EE"/>
                          </a:solidFill>
                        </a:rPr>
                        <a:t>Timeouts</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0</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6</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3</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
        <p:nvSpPr>
          <p:cNvPr id="6" name="Approximately 57% higher reported throughput than Round Robi">
            <a:extLst xmlns:a="http://schemas.openxmlformats.org/drawingml/2006/main">
              <a:ext uri="{FF2B5EF4-FFF2-40B4-BE49-F238E27FC236}">
                <a16:creationId xmlns:a16="http://schemas.microsoft.com/office/drawing/2014/main" id="{E34E8D8A-C20B-4710-B4F0-AE5F98A32E26}"/>
              </a:ext>
            </a:extLst>
          </p:cNvPr>
          <p:cNvSpPr>
            <a:spLocks xmlns:a="http://schemas.openxmlformats.org/drawingml/2006/main" noGrp="1"/>
          </p:cNvSpPr>
          <p:nvPr/>
        </p:nvSpPr>
        <p:spPr>
          <a:xfrm xmlns:a="http://schemas.openxmlformats.org/drawingml/2006/main">
            <a:off x="762000" y="54864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E16A3D"/>
                </a:solidFill>
              </a:defRPr>
            </a:defPPr>
            <a:lvl1pPr>
              <a:defRPr sz="2175" b="1">
                <a:solidFill>
                  <a:srgbClr val="E16A3D"/>
                </a:solidFill>
              </a:defRPr>
            </a:lvl1pPr>
            <a:lvl2pPr>
              <a:defRPr sz="2175" b="1">
                <a:solidFill>
                  <a:srgbClr val="E16A3D"/>
                </a:solidFill>
              </a:defRPr>
            </a:lvl2pPr>
            <a:lvl3pPr>
              <a:defRPr sz="2175" b="1">
                <a:solidFill>
                  <a:srgbClr val="E16A3D"/>
                </a:solidFill>
              </a:defRPr>
            </a:lvl3pPr>
            <a:lvl4pPr>
              <a:defRPr sz="2175" b="1">
                <a:solidFill>
                  <a:srgbClr val="E16A3D"/>
                </a:solidFill>
              </a:defRPr>
            </a:lvl4pPr>
            <a:lvl5pPr>
              <a:defRPr sz="2175" b="1">
                <a:solidFill>
                  <a:srgbClr val="E16A3D"/>
                </a:solidFill>
              </a:defRPr>
            </a:lvl5pPr>
            <a:lvl6pPr>
              <a:defRPr sz="2175" b="1">
                <a:solidFill>
                  <a:srgbClr val="E16A3D"/>
                </a:solidFill>
              </a:defRPr>
            </a:lvl6pPr>
            <a:lvl7pPr>
              <a:defRPr sz="2175" b="1">
                <a:solidFill>
                  <a:srgbClr val="E16A3D"/>
                </a:solidFill>
              </a:defRPr>
            </a:lvl7pPr>
            <a:lvl8pPr>
              <a:defRPr sz="2175" b="1">
                <a:solidFill>
                  <a:srgbClr val="E16A3D"/>
                </a:solidFill>
              </a:defRPr>
            </a:lvl8pPr>
            <a:lvl9pPr>
              <a:defRPr sz="2175" b="1">
                <a:solidFill>
                  <a:srgbClr val="E16A3D"/>
                </a:solidFill>
              </a:defRPr>
            </a:lvl9pPr>
          </a:lstStyle>
          <a:p xmlns:a="http://schemas.openxmlformats.org/drawingml/2006/main">
            <a:pPr>
              <a:defRPr sz="2175" b="1">
                <a:solidFill>
                  <a:srgbClr val="E16A3D"/>
                </a:solidFill>
              </a:defRPr>
            </a:pPr>
            <a:r>
              <a:rPr sz="2175" b="1">
                <a:solidFill>
                  <a:srgbClr val="E16A3D"/>
                </a:solidFill>
              </a:rPr>
              <a:t>Approximately 57% higher reported throughput than Round Robin</a:t>
            </a:r>
          </a:p>
        </p:txBody>
      </p:sp>
    </p:spTree>
    <p:extLst>
      <p:ext uri="{BB962C8B-B14F-4D97-AF65-F5344CB8AC3E}">
        <p14:creationId xmlns:p14="http://schemas.microsoft.com/office/powerpoint/2010/main" val="2072832858"/>
      </p:ext>
    </p:extLst>
  </p:cSld>
</p:sld>
</file>

<file path=ppt/slides/slide20.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SIMULATION, AVERAGES OVER 8 SEEDS">
            <a:extLst xmlns:a="http://schemas.openxmlformats.org/drawingml/2006/main">
              <a:ext uri="{FF2B5EF4-FFF2-40B4-BE49-F238E27FC236}">
                <a16:creationId xmlns:a16="http://schemas.microsoft.com/office/drawing/2014/main" id="{6AB6653A-46F7-4D5F-BB46-B700B159FBEA}"/>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SIMULATION, AVERAGES OVER 8 SEEDS</a:t>
            </a:r>
          </a:p>
        </p:txBody>
      </p:sp>
      <p:sp>
        <p:nvSpPr>
          <p:cNvPr id="3" name="Simulation results across three scenarios">
            <a:extLst xmlns:a="http://schemas.openxmlformats.org/drawingml/2006/main">
              <a:ext uri="{FF2B5EF4-FFF2-40B4-BE49-F238E27FC236}">
                <a16:creationId xmlns:a16="http://schemas.microsoft.com/office/drawing/2014/main" id="{5503378D-C749-40FC-924C-4839C521234B}"/>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Simulation results across three scenarios</a:t>
            </a:r>
          </a:p>
        </p:txBody>
      </p:sp>
      <p:sp>
        <p:nvSpPr>
          <p:cNvPr id="4" name="16">
            <a:extLst xmlns:a="http://schemas.openxmlformats.org/drawingml/2006/main">
              <a:ext uri="{FF2B5EF4-FFF2-40B4-BE49-F238E27FC236}">
                <a16:creationId xmlns:a16="http://schemas.microsoft.com/office/drawing/2014/main" id="{4E6BB99E-ED61-4148-B5F3-55F6E31B2137}"/>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20</a:t>
            </a:r>
          </a:p>
        </p:txBody>
      </p:sp>
      <p:graphicFrame>
        <p:nvGraphicFramePr>
          <p:cNvPr id="5" name="">
            <a:extLst xmlns:a="http://schemas.openxmlformats.org/drawingml/2006/main">
              <a:ext uri="{FF2B5EF4-FFF2-40B4-BE49-F238E27FC236}">
                <a16:creationId xmlns:a16="http://schemas.microsoft.com/office/drawing/2014/main" id="{F9D239E1-721B-414E-823F-88BC929BD81E}"/>
              </a:ext>
            </a:extLst>
          </p:cNvPr>
          <p:cNvGraphicFramePr/>
          <p:nvPr/>
        </p:nvGraphicFramePr>
        <p:xfrm>
          <a:off xmlns:a="http://schemas.openxmlformats.org/drawingml/2006/main" x="762000" y="2200275"/>
          <a:ext xmlns:a="http://schemas.openxmlformats.org/drawingml/2006/main" cx="10668000" cy="2628900"/>
        </p:xfrm>
        <a:graphic xmlns:a="http://schemas.openxmlformats.org/drawingml/2006/main">
          <a:graphicData uri="http://schemas.openxmlformats.org/drawingml/2006/table">
            <a:tbl>
              <a:tblPr/>
              <a:tblGrid>
                <a:gridCol w="3810000"/>
                <a:gridCol w="2286000"/>
                <a:gridCol w="2286000"/>
                <a:gridCol w="2286000"/>
              </a:tblGrid>
              <a:tr h="657225">
                <a:tc>
                  <a:txBody>
                    <a:bodyPr/>
                    <a:lstStyle/>
                    <a:p>
                      <a:r>
                        <a:rPr sz="2025" b="1">
                          <a:solidFill>
                            <a:srgbClr val="F7F4EE"/>
                          </a:solidFill>
                        </a:rPr>
                        <a:t>Scenario</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2025" b="1">
                          <a:solidFill>
                            <a:srgbClr val="F7F4EE"/>
                          </a:solidFill>
                        </a:rPr>
                        <a:t>Round Robin</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2025" b="1">
                          <a:solidFill>
                            <a:srgbClr val="F7F4EE"/>
                          </a:solidFill>
                        </a:rPr>
                        <a:t>Q-learning</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2025" b="1">
                          <a:solidFill>
                            <a:srgbClr val="F7F4EE"/>
                          </a:solidFill>
                        </a:rPr>
                        <a:t>EMA</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657225">
                <a:tc>
                  <a:txBody>
                    <a:bodyPr/>
                    <a:lstStyle/>
                    <a:p>
                      <a:r>
                        <a:rPr sz="2025" b="0">
                          <a:solidFill>
                            <a:srgbClr val="F7F4EE"/>
                          </a:solidFill>
                        </a:rPr>
                        <a:t>Smart factory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86.1%</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100.0%</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96.3%</a:t>
                      </a:r>
                    </a:p>
                  </a:txBody>
                  <a:tcPr marL="91440" marR="91440" marT="45720" marB="45720">
                    <a:lnR w="9525">
                      <a:solidFill>
                        <a:srgbClr val="0E1822"/>
                      </a:solidFill>
                      <a:prstDash val="solid"/>
                    </a:lnR>
                    <a:lnB w="9525">
                      <a:solidFill>
                        <a:srgbClr val="0E1822"/>
                      </a:solidFill>
                      <a:prstDash val="solid"/>
                    </a:lnB>
                    <a:solidFill>
                      <a:srgbClr val="0E1822"/>
                    </a:solidFill>
                  </a:tcPr>
                </a:tc>
              </a:tr>
              <a:tr h="657225">
                <a:tc>
                  <a:txBody>
                    <a:bodyPr/>
                    <a:lstStyle/>
                    <a:p>
                      <a:r>
                        <a:rPr sz="2025" b="0">
                          <a:solidFill>
                            <a:srgbClr val="F7F4EE"/>
                          </a:solidFill>
                        </a:rPr>
                        <a:t>Rural clinic</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2025" b="0">
                          <a:solidFill>
                            <a:srgbClr val="D8D3CB"/>
                          </a:solidFill>
                        </a:rPr>
                        <a:t>92.0%</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2025" b="0">
                          <a:solidFill>
                            <a:srgbClr val="D8D3CB"/>
                          </a:solidFill>
                        </a:rPr>
                        <a:t>100.0%</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2025" b="0">
                          <a:solidFill>
                            <a:srgbClr val="D8D3CB"/>
                          </a:solidFill>
                        </a:rPr>
                        <a:t>98.7%</a:t>
                      </a:r>
                    </a:p>
                  </a:txBody>
                  <a:tcPr marL="91440" marR="91440" marT="45720" marB="45720">
                    <a:lnR w="9525">
                      <a:solidFill>
                        <a:srgbClr val="0E1822"/>
                      </a:solidFill>
                      <a:prstDash val="solid"/>
                    </a:lnR>
                    <a:lnB w="9525">
                      <a:solidFill>
                        <a:srgbClr val="0E1822"/>
                      </a:solidFill>
                      <a:prstDash val="solid"/>
                    </a:lnB>
                    <a:solidFill>
                      <a:srgbClr val="14202C"/>
                    </a:solidFill>
                  </a:tcPr>
                </a:tc>
              </a:tr>
              <a:tr h="657225">
                <a:tc>
                  <a:txBody>
                    <a:bodyPr/>
                    <a:lstStyle/>
                    <a:p>
                      <a:r>
                        <a:rPr sz="2025" b="0">
                          <a:solidFill>
                            <a:srgbClr val="F7F4EE"/>
                          </a:solidFill>
                        </a:rPr>
                        <a:t>Retail POS outage</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84.9%</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74.5%</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97.2%</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
        <p:nvSpPr>
          <p:cNvPr id="6" name="Goodput = successful answers / all offered requests">
            <a:extLst xmlns:a="http://schemas.openxmlformats.org/drawingml/2006/main">
              <a:ext uri="{FF2B5EF4-FFF2-40B4-BE49-F238E27FC236}">
                <a16:creationId xmlns:a16="http://schemas.microsoft.com/office/drawing/2014/main" id="{9723A810-2799-4730-93CD-677E03BB5F3F}"/>
              </a:ext>
            </a:extLst>
          </p:cNvPr>
          <p:cNvSpPr>
            <a:spLocks xmlns:a="http://schemas.openxmlformats.org/drawingml/2006/main" noGrp="1"/>
          </p:cNvSpPr>
          <p:nvPr/>
        </p:nvSpPr>
        <p:spPr>
          <a:xfrm xmlns:a="http://schemas.openxmlformats.org/drawingml/2006/main">
            <a:off x="762000" y="52768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E16A3D"/>
                </a:solidFill>
              </a:defRPr>
            </a:defPPr>
            <a:lvl1pPr>
              <a:defRPr sz="2325" b="1">
                <a:solidFill>
                  <a:srgbClr val="E16A3D"/>
                </a:solidFill>
              </a:defRPr>
            </a:lvl1pPr>
            <a:lvl2pPr>
              <a:defRPr sz="2325" b="1">
                <a:solidFill>
                  <a:srgbClr val="E16A3D"/>
                </a:solidFill>
              </a:defRPr>
            </a:lvl2pPr>
            <a:lvl3pPr>
              <a:defRPr sz="2325" b="1">
                <a:solidFill>
                  <a:srgbClr val="E16A3D"/>
                </a:solidFill>
              </a:defRPr>
            </a:lvl3pPr>
            <a:lvl4pPr>
              <a:defRPr sz="2325" b="1">
                <a:solidFill>
                  <a:srgbClr val="E16A3D"/>
                </a:solidFill>
              </a:defRPr>
            </a:lvl4pPr>
            <a:lvl5pPr>
              <a:defRPr sz="2325" b="1">
                <a:solidFill>
                  <a:srgbClr val="E16A3D"/>
                </a:solidFill>
              </a:defRPr>
            </a:lvl5pPr>
            <a:lvl6pPr>
              <a:defRPr sz="2325" b="1">
                <a:solidFill>
                  <a:srgbClr val="E16A3D"/>
                </a:solidFill>
              </a:defRPr>
            </a:lvl6pPr>
            <a:lvl7pPr>
              <a:defRPr sz="2325" b="1">
                <a:solidFill>
                  <a:srgbClr val="E16A3D"/>
                </a:solidFill>
              </a:defRPr>
            </a:lvl7pPr>
            <a:lvl8pPr>
              <a:defRPr sz="2325" b="1">
                <a:solidFill>
                  <a:srgbClr val="E16A3D"/>
                </a:solidFill>
              </a:defRPr>
            </a:lvl8pPr>
            <a:lvl9pPr>
              <a:defRPr sz="2325" b="1">
                <a:solidFill>
                  <a:srgbClr val="E16A3D"/>
                </a:solidFill>
              </a:defRPr>
            </a:lvl9pPr>
          </a:lstStyle>
          <a:p xmlns:a="http://schemas.openxmlformats.org/drawingml/2006/main">
            <a:pPr>
              <a:defRPr sz="2325" b="1">
                <a:solidFill>
                  <a:srgbClr val="E16A3D"/>
                </a:solidFill>
              </a:defRPr>
            </a:pPr>
            <a:r>
              <a:rPr sz="2325" b="1">
                <a:solidFill>
                  <a:srgbClr val="E16A3D"/>
                </a:solidFill>
              </a:rPr>
              <a:t>Goodput = successful answers / all offered requests</a:t>
            </a:r>
          </a:p>
        </p:txBody>
      </p:sp>
    </p:spTree>
    <p:extLst>
      <p:ext uri="{BB962C8B-B14F-4D97-AF65-F5344CB8AC3E}">
        <p14:creationId xmlns:p14="http://schemas.microsoft.com/office/powerpoint/2010/main" val="1024159778"/>
      </p:ext>
    </p:extLst>
  </p:cSld>
</p:sld>
</file>

<file path=ppt/slides/slide21.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SIMULATION, AVERAGES OVER 8 SEEDS">
            <a:extLst xmlns:a="http://schemas.openxmlformats.org/drawingml/2006/main">
              <a:ext uri="{FF2B5EF4-FFF2-40B4-BE49-F238E27FC236}">
                <a16:creationId xmlns:a16="http://schemas.microsoft.com/office/drawing/2014/main" id="{9FA82C52-FB54-4B92-9D4D-9007FA49CA4D}"/>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SIMULATION, AVERAGES OVER 8 SEEDS</a:t>
            </a:r>
          </a:p>
        </p:txBody>
      </p:sp>
      <p:sp>
        <p:nvSpPr>
          <p:cNvPr id="3" name="Backend differences determine the benefit">
            <a:extLst xmlns:a="http://schemas.openxmlformats.org/drawingml/2006/main">
              <a:ext uri="{FF2B5EF4-FFF2-40B4-BE49-F238E27FC236}">
                <a16:creationId xmlns:a16="http://schemas.microsoft.com/office/drawing/2014/main" id="{E56FFFCC-1579-4016-803D-619780415B0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Backend differences determine the benefit</a:t>
            </a:r>
          </a:p>
        </p:txBody>
      </p:sp>
      <p:sp>
        <p:nvSpPr>
          <p:cNvPr id="4" name="17">
            <a:extLst xmlns:a="http://schemas.openxmlformats.org/drawingml/2006/main">
              <a:ext uri="{FF2B5EF4-FFF2-40B4-BE49-F238E27FC236}">
                <a16:creationId xmlns:a16="http://schemas.microsoft.com/office/drawing/2014/main" id="{5501CE39-0097-4E0C-A1B7-856DB66570B4}"/>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21</a:t>
            </a:r>
          </a:p>
        </p:txBody>
      </p:sp>
      <p:graphicFrame>
        <p:nvGraphicFramePr>
          <p:cNvPr id="5" name="Chart">
            <a:extLst xmlns:a="http://schemas.openxmlformats.org/drawingml/2006/main">
              <a:ext uri="{FF2B5EF4-FFF2-40B4-BE49-F238E27FC236}">
                <a16:creationId xmlns:a16="http://schemas.microsoft.com/office/drawing/2014/main" id="{983DC98F-291B-48C6-88D5-D9B576BC2D31}"/>
              </a:ext>
            </a:extLst>
          </p:cNvPr>
          <p:cNvGraphicFramePr/>
          <p:nvPr/>
        </p:nvGraphicFramePr>
        <p:xfrm>
          <a:off xmlns:a="http://schemas.openxmlformats.org/drawingml/2006/main" x="762000" y="2009775"/>
          <a:ext xmlns:a="http://schemas.openxmlformats.org/drawingml/2006/main" cx="7620000" cy="3714750"/>
        </p:xfrm>
        <a:graphic xmlns:a="http://schemas.openxmlformats.org/drawingml/2006/main">
          <a:graphicData uri="http://schemas.openxmlformats.org/drawingml/2006/chart">
            <c:chart xmlns:r="http://schemas.openxmlformats.org/officeDocument/2006/relationships" xmlns:c="http://schemas.openxmlformats.org/drawingml/2006/chart" r:id="R3f9baa2c11cf412c"/>
          </a:graphicData>
        </a:graphic>
      </p:graphicFrame>
      <p:sp>
        <p:nvSpPr>
          <p:cNvPr id="6" name="+43.9">
            <a:extLst xmlns:a="http://schemas.openxmlformats.org/drawingml/2006/main">
              <a:ext uri="{FF2B5EF4-FFF2-40B4-BE49-F238E27FC236}">
                <a16:creationId xmlns:a16="http://schemas.microsoft.com/office/drawing/2014/main" id="{43D38553-A152-44F4-BBF7-AD49F18AEE15}"/>
              </a:ext>
            </a:extLst>
          </p:cNvPr>
          <p:cNvSpPr>
            <a:spLocks xmlns:a="http://schemas.openxmlformats.org/drawingml/2006/main" noGrp="1"/>
          </p:cNvSpPr>
          <p:nvPr/>
        </p:nvSpPr>
        <p:spPr>
          <a:xfrm xmlns:a="http://schemas.openxmlformats.org/drawingml/2006/main">
            <a:off x="8820150" y="251460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E16A3D"/>
                </a:solidFill>
              </a:defRPr>
            </a:defPPr>
            <a:lvl1pPr>
              <a:defRPr sz="4275" b="1">
                <a:solidFill>
                  <a:srgbClr val="E16A3D"/>
                </a:solidFill>
              </a:defRPr>
            </a:lvl1pPr>
            <a:lvl2pPr>
              <a:defRPr sz="4275" b="1">
                <a:solidFill>
                  <a:srgbClr val="E16A3D"/>
                </a:solidFill>
              </a:defRPr>
            </a:lvl2pPr>
            <a:lvl3pPr>
              <a:defRPr sz="4275" b="1">
                <a:solidFill>
                  <a:srgbClr val="E16A3D"/>
                </a:solidFill>
              </a:defRPr>
            </a:lvl3pPr>
            <a:lvl4pPr>
              <a:defRPr sz="4275" b="1">
                <a:solidFill>
                  <a:srgbClr val="E16A3D"/>
                </a:solidFill>
              </a:defRPr>
            </a:lvl4pPr>
            <a:lvl5pPr>
              <a:defRPr sz="4275" b="1">
                <a:solidFill>
                  <a:srgbClr val="E16A3D"/>
                </a:solidFill>
              </a:defRPr>
            </a:lvl5pPr>
            <a:lvl6pPr>
              <a:defRPr sz="4275" b="1">
                <a:solidFill>
                  <a:srgbClr val="E16A3D"/>
                </a:solidFill>
              </a:defRPr>
            </a:lvl6pPr>
            <a:lvl7pPr>
              <a:defRPr sz="4275" b="1">
                <a:solidFill>
                  <a:srgbClr val="E16A3D"/>
                </a:solidFill>
              </a:defRPr>
            </a:lvl7pPr>
            <a:lvl8pPr>
              <a:defRPr sz="4275" b="1">
                <a:solidFill>
                  <a:srgbClr val="E16A3D"/>
                </a:solidFill>
              </a:defRPr>
            </a:lvl8pPr>
            <a:lvl9pPr>
              <a:defRPr sz="4275" b="1">
                <a:solidFill>
                  <a:srgbClr val="E16A3D"/>
                </a:solidFill>
              </a:defRPr>
            </a:lvl9pPr>
          </a:lstStyle>
          <a:p xmlns:a="http://schemas.openxmlformats.org/drawingml/2006/main">
            <a:pPr>
              <a:defRPr sz="4275" b="1">
                <a:solidFill>
                  <a:srgbClr val="E16A3D"/>
                </a:solidFill>
              </a:defRPr>
            </a:pPr>
            <a:r>
              <a:rPr sz="4275" b="1">
                <a:solidFill>
                  <a:srgbClr val="E16A3D"/>
                </a:solidFill>
              </a:rPr>
              <a:t>+43.9</a:t>
            </a:r>
          </a:p>
        </p:txBody>
      </p:sp>
      <p:sp>
        <p:nvSpPr>
          <p:cNvPr id="7" name="percentage points&#10;QL over RR at 12×">
            <a:extLst xmlns:a="http://schemas.openxmlformats.org/drawingml/2006/main">
              <a:ext uri="{FF2B5EF4-FFF2-40B4-BE49-F238E27FC236}">
                <a16:creationId xmlns:a16="http://schemas.microsoft.com/office/drawing/2014/main" id="{4E95047A-7A1E-449C-8040-1DCB97030D42}"/>
              </a:ext>
            </a:extLst>
          </p:cNvPr>
          <p:cNvSpPr>
            <a:spLocks xmlns:a="http://schemas.openxmlformats.org/drawingml/2006/main" noGrp="1"/>
          </p:cNvSpPr>
          <p:nvPr/>
        </p:nvSpPr>
        <p:spPr>
          <a:xfrm xmlns:a="http://schemas.openxmlformats.org/drawingml/2006/main">
            <a:off x="8820150" y="34480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percentage points</a:t>
            </a:r>
          </a:p>
          <a:p xmlns:a="http://schemas.openxmlformats.org/drawingml/2006/main">
            <a:pPr>
              <a:defRPr sz="2025" b="1">
                <a:solidFill>
                  <a:srgbClr val="F7F4EE"/>
                </a:solidFill>
              </a:defRPr>
            </a:pPr>
            <a:r>
              <a:rPr sz="2025" b="1">
                <a:solidFill>
                  <a:srgbClr val="F7F4EE"/>
                </a:solidFill>
              </a:rPr>
              <a:t>QL over RR at 12×</a:t>
            </a:r>
          </a:p>
        </p:txBody>
      </p:sp>
    </p:spTree>
    <p:extLst>
      <p:ext uri="{BB962C8B-B14F-4D97-AF65-F5344CB8AC3E}">
        <p14:creationId xmlns:p14="http://schemas.microsoft.com/office/powerpoint/2010/main" val="1669183307"/>
      </p:ext>
    </p:extLst>
  </p:cSld>
</p:sld>
</file>

<file path=ppt/slides/slide22.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SIMULATION FINDING">
            <a:extLst xmlns:a="http://schemas.openxmlformats.org/drawingml/2006/main">
              <a:ext uri="{FF2B5EF4-FFF2-40B4-BE49-F238E27FC236}">
                <a16:creationId xmlns:a16="http://schemas.microsoft.com/office/drawing/2014/main" id="{AB36163C-90F9-4CC8-95A7-84CA3D01DC62}"/>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SIMULATION FINDING</a:t>
            </a:r>
          </a:p>
        </p:txBody>
      </p:sp>
      <p:sp>
        <p:nvSpPr>
          <p:cNvPr id="3" name="Known weakness under changing load">
            <a:extLst xmlns:a="http://schemas.openxmlformats.org/drawingml/2006/main">
              <a:ext uri="{FF2B5EF4-FFF2-40B4-BE49-F238E27FC236}">
                <a16:creationId xmlns:a16="http://schemas.microsoft.com/office/drawing/2014/main" id="{B27FD4C9-E526-48B6-B1D6-84B0F955A36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Known weakness under changing load</a:t>
            </a:r>
          </a:p>
        </p:txBody>
      </p:sp>
      <p:sp>
        <p:nvSpPr>
          <p:cNvPr id="4" name="18">
            <a:extLst xmlns:a="http://schemas.openxmlformats.org/drawingml/2006/main">
              <a:ext uri="{FF2B5EF4-FFF2-40B4-BE49-F238E27FC236}">
                <a16:creationId xmlns:a16="http://schemas.microsoft.com/office/drawing/2014/main" id="{C59395D1-1149-4AE9-B9A5-08E92CF29C45}"/>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22</a:t>
            </a:r>
          </a:p>
        </p:txBody>
      </p:sp>
      <p:sp>
        <p:nvSpPr>
          <p:cNvPr id="5" name="Retail POS result">
            <a:extLst xmlns:a="http://schemas.openxmlformats.org/drawingml/2006/main">
              <a:ext uri="{FF2B5EF4-FFF2-40B4-BE49-F238E27FC236}">
                <a16:creationId xmlns:a16="http://schemas.microsoft.com/office/drawing/2014/main" id="{28568BD2-8FB9-4829-9C80-EA4AD5443B4B}"/>
              </a:ext>
            </a:extLst>
          </p:cNvPr>
          <p:cNvSpPr>
            <a:spLocks xmlns:a="http://schemas.openxmlformats.org/drawingml/2006/main" noGrp="1"/>
          </p:cNvSpPr>
          <p:nvPr/>
        </p:nvSpPr>
        <p:spPr>
          <a:xfrm xmlns:a="http://schemas.openxmlformats.org/drawingml/2006/main">
            <a:off x="762000" y="2066925"/>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Retail POS result</a:t>
            </a:r>
          </a:p>
        </p:txBody>
      </p:sp>
      <p:sp>
        <p:nvSpPr>
          <p:cNvPr id="6" name="Q-learning achieves 74.5% goodput, compared with 84.9% for R">
            <a:extLst xmlns:a="http://schemas.openxmlformats.org/drawingml/2006/main">
              <a:ext uri="{FF2B5EF4-FFF2-40B4-BE49-F238E27FC236}">
                <a16:creationId xmlns:a16="http://schemas.microsoft.com/office/drawing/2014/main" id="{71B0D86A-B535-4F49-8031-56A543FA45B2}"/>
              </a:ext>
            </a:extLst>
          </p:cNvPr>
          <p:cNvSpPr>
            <a:spLocks xmlns:a="http://schemas.openxmlformats.org/drawingml/2006/main" noGrp="1"/>
          </p:cNvSpPr>
          <p:nvPr/>
        </p:nvSpPr>
        <p:spPr>
          <a:xfrm xmlns:a="http://schemas.openxmlformats.org/drawingml/2006/main">
            <a:off x="762000" y="2486025"/>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Q-learning achieves 74.5% goodput, compared with 84.9% for Round Robin and 97.2% for EMA.</a:t>
            </a:r>
          </a:p>
        </p:txBody>
      </p:sp>
      <p:sp>
        <p:nvSpPr>
          <p:cNvPr id="7" name="Cause">
            <a:extLst xmlns:a="http://schemas.openxmlformats.org/drawingml/2006/main">
              <a:ext uri="{FF2B5EF4-FFF2-40B4-BE49-F238E27FC236}">
                <a16:creationId xmlns:a16="http://schemas.microsoft.com/office/drawing/2014/main" id="{8A0837F4-8671-4C7C-B80E-FB9F330C6125}"/>
              </a:ext>
            </a:extLst>
          </p:cNvPr>
          <p:cNvSpPr>
            <a:spLocks xmlns:a="http://schemas.openxmlformats.org/drawingml/2006/main" noGrp="1"/>
          </p:cNvSpPr>
          <p:nvPr/>
        </p:nvSpPr>
        <p:spPr>
          <a:xfrm xmlns:a="http://schemas.openxmlformats.org/drawingml/2006/main">
            <a:off x="762000" y="33718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Cause</a:t>
            </a:r>
          </a:p>
        </p:txBody>
      </p:sp>
      <p:sp>
        <p:nvSpPr>
          <p:cNvPr id="8" name="Nearly identical backends provide a weak initial signal. Exp">
            <a:extLst xmlns:a="http://schemas.openxmlformats.org/drawingml/2006/main">
              <a:ext uri="{FF2B5EF4-FFF2-40B4-BE49-F238E27FC236}">
                <a16:creationId xmlns:a16="http://schemas.microsoft.com/office/drawing/2014/main" id="{A30488C2-43C0-4AAA-9236-30748FA1374A}"/>
              </a:ext>
            </a:extLst>
          </p:cNvPr>
          <p:cNvSpPr>
            <a:spLocks xmlns:a="http://schemas.openxmlformats.org/drawingml/2006/main" noGrp="1"/>
          </p:cNvSpPr>
          <p:nvPr/>
        </p:nvSpPr>
        <p:spPr>
          <a:xfrm xmlns:a="http://schemas.openxmlformats.org/drawingml/2006/main">
            <a:off x="762000" y="37909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Nearly identical backends provide a weak initial signal. Exploration reaches its floor before the later degradation.</a:t>
            </a:r>
          </a:p>
        </p:txBody>
      </p:sp>
      <p:sp>
        <p:nvSpPr>
          <p:cNvPr id="9" name="Experiment and remaining work">
            <a:extLst xmlns:a="http://schemas.openxmlformats.org/drawingml/2006/main">
              <a:ext uri="{FF2B5EF4-FFF2-40B4-BE49-F238E27FC236}">
                <a16:creationId xmlns:a16="http://schemas.microsoft.com/office/drawing/2014/main" id="{7C66DE97-978B-4778-B617-DCB4818900DC}"/>
              </a:ext>
            </a:extLst>
          </p:cNvPr>
          <p:cNvSpPr>
            <a:spLocks xmlns:a="http://schemas.openxmlformats.org/drawingml/2006/main" noGrp="1"/>
          </p:cNvSpPr>
          <p:nvPr/>
        </p:nvSpPr>
        <p:spPr>
          <a:xfrm xmlns:a="http://schemas.openxmlformats.org/drawingml/2006/main">
            <a:off x="762000" y="46672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Experiment and remaining work</a:t>
            </a:r>
          </a:p>
        </p:txBody>
      </p:sp>
      <p:sp>
        <p:nvSpPr>
          <p:cNvPr id="10" name="A 0.15 exploration floor lifts simulated goodput to 85.5%. A">
            <a:extLst xmlns:a="http://schemas.openxmlformats.org/drawingml/2006/main">
              <a:ext uri="{FF2B5EF4-FFF2-40B4-BE49-F238E27FC236}">
                <a16:creationId xmlns:a16="http://schemas.microsoft.com/office/drawing/2014/main" id="{21474069-B8F3-495C-94E6-C3A9D9E395DF}"/>
              </a:ext>
            </a:extLst>
          </p:cNvPr>
          <p:cNvSpPr>
            <a:spLocks xmlns:a="http://schemas.openxmlformats.org/drawingml/2006/main" noGrp="1"/>
          </p:cNvSpPr>
          <p:nvPr/>
        </p:nvSpPr>
        <p:spPr>
          <a:xfrm xmlns:a="http://schemas.openxmlformats.org/drawingml/2006/main">
            <a:off x="762000" y="50863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A 0.15 exploration floor lifts simulated goodput to 85.5%. Adaptive re-exploration remains future work.</a:t>
            </a:r>
          </a:p>
        </p:txBody>
      </p:sp>
    </p:spTree>
    <p:extLst>
      <p:ext uri="{BB962C8B-B14F-4D97-AF65-F5344CB8AC3E}">
        <p14:creationId xmlns:p14="http://schemas.microsoft.com/office/powerpoint/2010/main" val="601663995"/>
      </p:ext>
    </p:extLst>
  </p:cSld>
</p:sld>
</file>

<file path=ppt/slides/slide23.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ENGINEERING ASSESSMENT">
            <a:extLst xmlns:a="http://schemas.openxmlformats.org/drawingml/2006/main">
              <a:ext uri="{FF2B5EF4-FFF2-40B4-BE49-F238E27FC236}">
                <a16:creationId xmlns:a16="http://schemas.microsoft.com/office/drawing/2014/main" id="{0D26C765-C852-49A0-A63B-59BDD6F0C191}"/>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ENGINEERING ASSESSMENT</a:t>
            </a:r>
          </a:p>
        </p:txBody>
      </p:sp>
      <p:sp>
        <p:nvSpPr>
          <p:cNvPr id="3" name="Current scope and limitations">
            <a:extLst xmlns:a="http://schemas.openxmlformats.org/drawingml/2006/main">
              <a:ext uri="{FF2B5EF4-FFF2-40B4-BE49-F238E27FC236}">
                <a16:creationId xmlns:a16="http://schemas.microsoft.com/office/drawing/2014/main" id="{711EF6C7-B42A-4B4A-A8E8-99358E620234}"/>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Current scope and limitations</a:t>
            </a:r>
          </a:p>
        </p:txBody>
      </p:sp>
      <p:sp>
        <p:nvSpPr>
          <p:cNvPr id="4" name="19">
            <a:extLst xmlns:a="http://schemas.openxmlformats.org/drawingml/2006/main">
              <a:ext uri="{FF2B5EF4-FFF2-40B4-BE49-F238E27FC236}">
                <a16:creationId xmlns:a16="http://schemas.microsoft.com/office/drawing/2014/main" id="{A38E50D6-B5F3-48F0-9943-38BFB291057C}"/>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23</a:t>
            </a:r>
          </a:p>
        </p:txBody>
      </p:sp>
      <p:graphicFrame>
        <p:nvGraphicFramePr>
          <p:cNvPr id="5" name="">
            <a:extLst xmlns:a="http://schemas.openxmlformats.org/drawingml/2006/main">
              <a:ext uri="{FF2B5EF4-FFF2-40B4-BE49-F238E27FC236}">
                <a16:creationId xmlns:a16="http://schemas.microsoft.com/office/drawing/2014/main" id="{66B4F89E-2DCA-4B63-9839-52FD9C7498D6}"/>
              </a:ext>
            </a:extLst>
          </p:cNvPr>
          <p:cNvGraphicFramePr/>
          <p:nvPr/>
        </p:nvGraphicFramePr>
        <p:xfrm>
          <a:off xmlns:a="http://schemas.openxmlformats.org/drawingml/2006/main" x="762000" y="2009775"/>
          <a:ext xmlns:a="http://schemas.openxmlformats.org/drawingml/2006/main" cx="10668000" cy="3486150"/>
        </p:xfrm>
        <a:graphic xmlns:a="http://schemas.openxmlformats.org/drawingml/2006/main">
          <a:graphicData uri="http://schemas.openxmlformats.org/drawingml/2006/table">
            <a:tbl>
              <a:tblPr/>
              <a:tblGrid>
                <a:gridCol w="2667000"/>
                <a:gridCol w="8001000"/>
              </a:tblGrid>
              <a:tr h="581025">
                <a:tc>
                  <a:txBody>
                    <a:bodyPr/>
                    <a:lstStyle/>
                    <a:p>
                      <a:r>
                        <a:rPr sz="1800" b="1">
                          <a:solidFill>
                            <a:srgbClr val="F7F4EE"/>
                          </a:solidFill>
                        </a:rPr>
                        <a:t>Area</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00" b="1">
                          <a:solidFill>
                            <a:srgbClr val="F7F4EE"/>
                          </a:solidFill>
                        </a:rPr>
                        <a:t>Current boundary</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81025">
                <a:tc>
                  <a:txBody>
                    <a:bodyPr/>
                    <a:lstStyle/>
                    <a:p>
                      <a:r>
                        <a:rPr sz="1800" b="0">
                          <a:solidFill>
                            <a:srgbClr val="F7F4EE"/>
                          </a:solidFill>
                        </a:rPr>
                        <a:t>Capacity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Seven concurrent proxy sessions in this firmware build</a:t>
                      </a:r>
                    </a:p>
                  </a:txBody>
                  <a:tcPr marL="91440" marR="91440" marT="45720" marB="45720">
                    <a:lnR w="9525">
                      <a:solidFill>
                        <a:srgbClr val="0E1822"/>
                      </a:solidFill>
                      <a:prstDash val="solid"/>
                    </a:lnR>
                    <a:lnB w="9525">
                      <a:solidFill>
                        <a:srgbClr val="0E1822"/>
                      </a:solidFill>
                      <a:prstDash val="solid"/>
                    </a:lnB>
                    <a:solidFill>
                      <a:srgbClr val="0E1822"/>
                    </a:solidFill>
                  </a:tcPr>
                </a:tc>
              </a:tr>
              <a:tr h="581025">
                <a:tc>
                  <a:txBody>
                    <a:bodyPr/>
                    <a:lstStyle/>
                    <a:p>
                      <a:r>
                        <a:rPr sz="1800" b="0">
                          <a:solidFill>
                            <a:srgbClr val="F7F4EE"/>
                          </a:solidFill>
                        </a:rPr>
                        <a:t>Security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00" b="0">
                          <a:solidFill>
                            <a:srgbClr val="D8D3CB"/>
                          </a:solidFill>
                        </a:rPr>
                        <a:t>No TLS termination or authentication in the prototype</a:t>
                      </a:r>
                    </a:p>
                  </a:txBody>
                  <a:tcPr marL="91440" marR="91440" marT="45720" marB="45720">
                    <a:lnR w="9525">
                      <a:solidFill>
                        <a:srgbClr val="0E1822"/>
                      </a:solidFill>
                      <a:prstDash val="solid"/>
                    </a:lnR>
                    <a:lnB w="9525">
                      <a:solidFill>
                        <a:srgbClr val="0E1822"/>
                      </a:solidFill>
                      <a:prstDash val="solid"/>
                    </a:lnB>
                    <a:solidFill>
                      <a:srgbClr val="14202C"/>
                    </a:solidFill>
                  </a:tcPr>
                </a:tc>
              </a:tr>
              <a:tr h="581025">
                <a:tc>
                  <a:txBody>
                    <a:bodyPr/>
                    <a:lstStyle/>
                    <a:p>
                      <a:r>
                        <a:rPr sz="1800" b="0">
                          <a:solidFill>
                            <a:srgbClr val="F7F4EE"/>
                          </a:solidFill>
                        </a:rPr>
                        <a:t>Workload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Local controlled tests with synthetic client traffic</a:t>
                      </a:r>
                    </a:p>
                  </a:txBody>
                  <a:tcPr marL="91440" marR="91440" marT="45720" marB="45720">
                    <a:lnR w="9525">
                      <a:solidFill>
                        <a:srgbClr val="0E1822"/>
                      </a:solidFill>
                      <a:prstDash val="solid"/>
                    </a:lnR>
                    <a:lnB w="9525">
                      <a:solidFill>
                        <a:srgbClr val="0E1822"/>
                      </a:solidFill>
                      <a:prstDash val="solid"/>
                    </a:lnB>
                    <a:solidFill>
                      <a:srgbClr val="0E1822"/>
                    </a:solidFill>
                  </a:tcPr>
                </a:tc>
              </a:tr>
              <a:tr h="581025">
                <a:tc>
                  <a:txBody>
                    <a:bodyPr/>
                    <a:lstStyle/>
                    <a:p>
                      <a:r>
                        <a:rPr sz="1800" b="0">
                          <a:solidFill>
                            <a:srgbClr val="F7F4EE"/>
                          </a:solidFill>
                        </a:rPr>
                        <a:t>Learning</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00" b="0">
                          <a:solidFill>
                            <a:srgbClr val="D8D3CB"/>
                          </a:solidFill>
                        </a:rPr>
                        <a:t>A saved policy can become stale when backend conditions change</a:t>
                      </a:r>
                    </a:p>
                  </a:txBody>
                  <a:tcPr marL="91440" marR="91440" marT="45720" marB="45720">
                    <a:lnR w="9525">
                      <a:solidFill>
                        <a:srgbClr val="0E1822"/>
                      </a:solidFill>
                      <a:prstDash val="solid"/>
                    </a:lnR>
                    <a:lnB w="9525">
                      <a:solidFill>
                        <a:srgbClr val="0E1822"/>
                      </a:solidFill>
                      <a:prstDash val="solid"/>
                    </a:lnB>
                    <a:solidFill>
                      <a:srgbClr val="14202C"/>
                    </a:solidFill>
                  </a:tcPr>
                </a:tc>
              </a:tr>
              <a:tr h="581025">
                <a:tc>
                  <a:txBody>
                    <a:bodyPr/>
                    <a:lstStyle/>
                    <a:p>
                      <a:r>
                        <a:rPr sz="1800" b="0">
                          <a:solidFill>
                            <a:srgbClr val="F7F4EE"/>
                          </a:solidFill>
                        </a:rPr>
                        <a:t>Evidence</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One documented hardware run, plus separate simulations</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Tree>
    <p:extLst>
      <p:ext uri="{BB962C8B-B14F-4D97-AF65-F5344CB8AC3E}">
        <p14:creationId xmlns:p14="http://schemas.microsoft.com/office/powerpoint/2010/main" val="1441373993"/>
      </p:ext>
    </p:extLst>
  </p:cSld>
</p:sld>
</file>

<file path=ppt/slides/slide24.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CONCLUSION">
            <a:extLst xmlns:a="http://schemas.openxmlformats.org/drawingml/2006/main">
              <a:ext uri="{FF2B5EF4-FFF2-40B4-BE49-F238E27FC236}">
                <a16:creationId xmlns:a16="http://schemas.microsoft.com/office/drawing/2014/main" id="{7F0D34BB-1ECF-4ADF-810A-7691C4B85673}"/>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CONCLUSION</a:t>
            </a:r>
          </a:p>
        </p:txBody>
      </p:sp>
      <p:sp>
        <p:nvSpPr>
          <p:cNvPr id="3" name="Final DA3 outcome">
            <a:extLst xmlns:a="http://schemas.openxmlformats.org/drawingml/2006/main">
              <a:ext uri="{FF2B5EF4-FFF2-40B4-BE49-F238E27FC236}">
                <a16:creationId xmlns:a16="http://schemas.microsoft.com/office/drawing/2014/main" id="{276BC4E7-E4E9-412B-9533-602C45CBB8CE}"/>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Final DA3 outcome</a:t>
            </a:r>
          </a:p>
        </p:txBody>
      </p:sp>
      <p:sp>
        <p:nvSpPr>
          <p:cNvPr id="4" name="20">
            <a:extLst xmlns:a="http://schemas.openxmlformats.org/drawingml/2006/main">
              <a:ext uri="{FF2B5EF4-FFF2-40B4-BE49-F238E27FC236}">
                <a16:creationId xmlns:a16="http://schemas.microsoft.com/office/drawing/2014/main" id="{63686BA9-2233-479B-B803-65DD354246D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24</a:t>
            </a:r>
          </a:p>
        </p:txBody>
      </p:sp>
      <p:sp>
        <p:nvSpPr>
          <p:cNvPr id="5" name="An ESP32 gateway that learns&#10;from session feedback">
            <a:extLst xmlns:a="http://schemas.openxmlformats.org/drawingml/2006/main">
              <a:ext uri="{FF2B5EF4-FFF2-40B4-BE49-F238E27FC236}">
                <a16:creationId xmlns:a16="http://schemas.microsoft.com/office/drawing/2014/main" id="{DB53E86B-F3A1-4700-A630-1541C50EC584}"/>
              </a:ext>
            </a:extLst>
          </p:cNvPr>
          <p:cNvSpPr>
            <a:spLocks xmlns:a="http://schemas.openxmlformats.org/drawingml/2006/main" noGrp="1"/>
          </p:cNvSpPr>
          <p:nvPr/>
        </p:nvSpPr>
        <p:spPr>
          <a:xfrm xmlns:a="http://schemas.openxmlformats.org/drawingml/2006/main">
            <a:off x="762000" y="2028825"/>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Lower gateway cost, with</a:t>
            </a:r>
          </a:p>
          <a:p xmlns:a="http://schemas.openxmlformats.org/drawingml/2006/main">
            <a:pPr>
              <a:defRPr sz="3450" b="1">
                <a:solidFill>
                  <a:srgbClr val="F7F4EE"/>
                </a:solidFill>
              </a:defRPr>
            </a:pPr>
            <a:r>
              <a:rPr sz="3450" b="1">
                <a:solidFill>
                  <a:srgbClr val="F7F4EE"/>
                </a:solidFill>
              </a:rPr>
              <a:t>measured routing gains</a:t>
            </a:r>
          </a:p>
        </p:txBody>
      </p:sp>
      <p:sp>
        <p:nvSpPr>
          <p:cNvPr id="6" name="Hardware result">
            <a:extLst xmlns:a="http://schemas.openxmlformats.org/drawingml/2006/main">
              <a:ext uri="{FF2B5EF4-FFF2-40B4-BE49-F238E27FC236}">
                <a16:creationId xmlns:a16="http://schemas.microsoft.com/office/drawing/2014/main" id="{D4051BCF-83B1-4B97-9819-CA5BA27205A2}"/>
              </a:ext>
            </a:extLst>
          </p:cNvPr>
          <p:cNvSpPr>
            <a:spLocks xmlns:a="http://schemas.openxmlformats.org/drawingml/2006/main" noGrp="1"/>
          </p:cNvSpPr>
          <p:nvPr/>
        </p:nvSpPr>
        <p:spPr>
          <a:xfrm xmlns:a="http://schemas.openxmlformats.org/drawingml/2006/main">
            <a:off x="762000" y="346710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Hardware result</a:t>
            </a:r>
          </a:p>
        </p:txBody>
      </p:sp>
      <p:sp>
        <p:nvSpPr>
          <p:cNvPr id="7" name="208 ms mean latency versus 518 ms for Round Robin in the doc">
            <a:extLst xmlns:a="http://schemas.openxmlformats.org/drawingml/2006/main">
              <a:ext uri="{FF2B5EF4-FFF2-40B4-BE49-F238E27FC236}">
                <a16:creationId xmlns:a16="http://schemas.microsoft.com/office/drawing/2014/main" id="{0B705E6B-1F8E-4240-8C36-18D46BFE443F}"/>
              </a:ext>
            </a:extLst>
          </p:cNvPr>
          <p:cNvSpPr>
            <a:spLocks xmlns:a="http://schemas.openxmlformats.org/drawingml/2006/main" noGrp="1"/>
          </p:cNvSpPr>
          <p:nvPr/>
        </p:nvSpPr>
        <p:spPr>
          <a:xfrm xmlns:a="http://schemas.openxmlformats.org/drawingml/2006/main">
            <a:off x="762000" y="388620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208 ms mean latency versus 518 ms for Round Robin in the documented run.</a:t>
            </a:r>
          </a:p>
        </p:txBody>
      </p:sp>
      <p:sp>
        <p:nvSpPr>
          <p:cNvPr id="8" name="DA3 additions">
            <a:extLst xmlns:a="http://schemas.openxmlformats.org/drawingml/2006/main">
              <a:ext uri="{FF2B5EF4-FFF2-40B4-BE49-F238E27FC236}">
                <a16:creationId xmlns:a16="http://schemas.microsoft.com/office/drawing/2014/main" id="{D603F63B-C927-4FF8-852D-129AB25339FC}"/>
              </a:ext>
            </a:extLst>
          </p:cNvPr>
          <p:cNvSpPr>
            <a:spLocks xmlns:a="http://schemas.openxmlformats.org/drawingml/2006/main" noGrp="1"/>
          </p:cNvSpPr>
          <p:nvPr/>
        </p:nvSpPr>
        <p:spPr>
          <a:xfrm xmlns:a="http://schemas.openxmlformats.org/drawingml/2006/main">
            <a:off x="762000" y="476250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DA3 additions</a:t>
            </a:r>
          </a:p>
        </p:txBody>
      </p:sp>
      <p:sp>
        <p:nvSpPr>
          <p:cNvPr id="9" name="FlashPoint makes demand and routing visible. Flash persisten">
            <a:extLst xmlns:a="http://schemas.openxmlformats.org/drawingml/2006/main">
              <a:ext uri="{FF2B5EF4-FFF2-40B4-BE49-F238E27FC236}">
                <a16:creationId xmlns:a16="http://schemas.microsoft.com/office/drawing/2014/main" id="{CC2FBBF1-9EE5-4875-AB0B-4D9CD6C84902}"/>
              </a:ext>
            </a:extLst>
          </p:cNvPr>
          <p:cNvSpPr>
            <a:spLocks xmlns:a="http://schemas.openxmlformats.org/drawingml/2006/main" noGrp="1"/>
          </p:cNvSpPr>
          <p:nvPr/>
        </p:nvSpPr>
        <p:spPr>
          <a:xfrm xmlns:a="http://schemas.openxmlformats.org/drawingml/2006/main">
            <a:off x="762000" y="518160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FlashPoint makes demand and routing visible. Flash persistence preserves the learned Q-table across restarts.</a:t>
            </a:r>
          </a:p>
        </p:txBody>
      </p:sp>
    </p:spTree>
    <p:extLst>
      <p:ext uri="{BB962C8B-B14F-4D97-AF65-F5344CB8AC3E}">
        <p14:creationId xmlns:p14="http://schemas.microsoft.com/office/powerpoint/2010/main" val="358246854"/>
      </p:ext>
    </p:extLst>
  </p:cSld>
</p:sld>
</file>

<file path=ppt/slides/slide25.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SUBMISSION SOURCES">
            <a:extLst xmlns:a="http://schemas.openxmlformats.org/drawingml/2006/main">
              <a:ext uri="{FF2B5EF4-FFF2-40B4-BE49-F238E27FC236}">
                <a16:creationId xmlns:a16="http://schemas.microsoft.com/office/drawing/2014/main" id="{52D452A1-98BC-4738-BDAC-5F2AA52C0892}"/>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SUBMISSION SOURCES</a:t>
            </a:r>
          </a:p>
        </p:txBody>
      </p:sp>
      <p:sp>
        <p:nvSpPr>
          <p:cNvPr id="3" name="References and evidence">
            <a:extLst xmlns:a="http://schemas.openxmlformats.org/drawingml/2006/main">
              <a:ext uri="{FF2B5EF4-FFF2-40B4-BE49-F238E27FC236}">
                <a16:creationId xmlns:a16="http://schemas.microsoft.com/office/drawing/2014/main" id="{25B5C654-BB8B-4C3B-8798-6CAD773887EC}"/>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References and evidence</a:t>
            </a:r>
          </a:p>
        </p:txBody>
      </p:sp>
      <p:sp>
        <p:nvSpPr>
          <p:cNvPr id="4" name="21">
            <a:extLst xmlns:a="http://schemas.openxmlformats.org/drawingml/2006/main">
              <a:ext uri="{FF2B5EF4-FFF2-40B4-BE49-F238E27FC236}">
                <a16:creationId xmlns:a16="http://schemas.microsoft.com/office/drawing/2014/main" id="{5BB1281E-2EC4-4418-9EA5-62906D99894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25</a:t>
            </a:r>
          </a:p>
        </p:txBody>
      </p:sp>
      <p:sp>
        <p:nvSpPr>
          <p:cNvPr id="5" name="Implementation and hardware results">
            <a:extLst xmlns:a="http://schemas.openxmlformats.org/drawingml/2006/main">
              <a:ext uri="{FF2B5EF4-FFF2-40B4-BE49-F238E27FC236}">
                <a16:creationId xmlns:a16="http://schemas.microsoft.com/office/drawing/2014/main" id="{4C1564AA-F63F-4D9B-9735-EF37F4A3CA53}"/>
              </a:ext>
            </a:extLst>
          </p:cNvPr>
          <p:cNvSpPr>
            <a:spLocks xmlns:a="http://schemas.openxmlformats.org/drawingml/2006/main" noGrp="1"/>
          </p:cNvSpPr>
          <p:nvPr/>
        </p:nvSpPr>
        <p:spPr>
          <a:xfrm xmlns:a="http://schemas.openxmlformats.org/drawingml/2006/main">
            <a:off x="762000" y="20002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Implementation and hardware results</a:t>
            </a:r>
          </a:p>
        </p:txBody>
      </p:sp>
      <p:sp>
        <p:nvSpPr>
          <p:cNvPr id="6" name="github.com/Tanish-Desai/Esp32LoadBal&#10;Firmware, FlashPoint UI">
            <a:extLst xmlns:a="http://schemas.openxmlformats.org/drawingml/2006/main">
              <a:ext uri="{FF2B5EF4-FFF2-40B4-BE49-F238E27FC236}">
                <a16:creationId xmlns:a16="http://schemas.microsoft.com/office/drawing/2014/main" id="{892348ED-3B9F-45D5-AFD6-5B716DF83130}"/>
              </a:ext>
            </a:extLst>
          </p:cNvPr>
          <p:cNvSpPr>
            <a:spLocks xmlns:a="http://schemas.openxmlformats.org/drawingml/2006/main" noGrp="1"/>
          </p:cNvSpPr>
          <p:nvPr/>
        </p:nvSpPr>
        <p:spPr>
          <a:xfrm xmlns:a="http://schemas.openxmlformats.org/drawingml/2006/main">
            <a:off x="762000" y="24193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github.com/Tanish-Desai/Esp32LoadBal</a:t>
            </a:r>
          </a:p>
          <a:p xmlns:a="http://schemas.openxmlformats.org/drawingml/2006/main">
            <a:pPr>
              <a:defRPr sz="1875" b="0">
                <a:solidFill>
                  <a:srgbClr val="D8D3CB"/>
                </a:solidFill>
              </a:defRPr>
            </a:pPr>
            <a:r>
              <a:rPr sz="1875" b="0">
                <a:solidFill>
                  <a:srgbClr val="D8D3CB"/>
                </a:solidFill>
              </a:rPr>
              <a:t>Firmware, FlashPoint UI and markdowns/05_results_and_limits.md</a:t>
            </a:r>
          </a:p>
        </p:txBody>
      </p:sp>
      <p:sp>
        <p:nvSpPr>
          <p:cNvPr id="7" name="Reproducible simulation evidence">
            <a:extLst xmlns:a="http://schemas.openxmlformats.org/drawingml/2006/main">
              <a:ext uri="{FF2B5EF4-FFF2-40B4-BE49-F238E27FC236}">
                <a16:creationId xmlns:a16="http://schemas.microsoft.com/office/drawing/2014/main" id="{ACB1A03F-0A33-4E6A-A5CF-86CB9BE2ED6E}"/>
              </a:ext>
            </a:extLst>
          </p:cNvPr>
          <p:cNvSpPr>
            <a:spLocks xmlns:a="http://schemas.openxmlformats.org/drawingml/2006/main" noGrp="1"/>
          </p:cNvSpPr>
          <p:nvPr/>
        </p:nvSpPr>
        <p:spPr>
          <a:xfrm xmlns:a="http://schemas.openxmlformats.org/drawingml/2006/main">
            <a:off x="762000" y="32956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Reproducible simulation evidence</a:t>
            </a:r>
          </a:p>
        </p:txBody>
      </p:sp>
      <p:sp>
        <p:nvSpPr>
          <p:cNvPr id="8" name="data/project_data.json and benchmarks/tools/exp_heterogeneit">
            <a:extLst xmlns:a="http://schemas.openxmlformats.org/drawingml/2006/main">
              <a:ext uri="{FF2B5EF4-FFF2-40B4-BE49-F238E27FC236}">
                <a16:creationId xmlns:a16="http://schemas.microsoft.com/office/drawing/2014/main" id="{8B11F764-7702-45E1-AAF7-C2770A7711F2}"/>
              </a:ext>
            </a:extLst>
          </p:cNvPr>
          <p:cNvSpPr>
            <a:spLocks xmlns:a="http://schemas.openxmlformats.org/drawingml/2006/main" noGrp="1"/>
          </p:cNvSpPr>
          <p:nvPr/>
        </p:nvSpPr>
        <p:spPr>
          <a:xfrm xmlns:a="http://schemas.openxmlformats.org/drawingml/2006/main">
            <a:off x="762000" y="37147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data/project_data.json and benchmarks/tools/exp_heterogeneity.mjs</a:t>
            </a:r>
          </a:p>
          <a:p xmlns:a="http://schemas.openxmlformats.org/drawingml/2006/main">
            <a:pPr>
              <a:defRPr sz="1875" b="0">
                <a:solidFill>
                  <a:srgbClr val="D8D3CB"/>
                </a:solidFill>
              </a:defRPr>
            </a:pPr>
            <a:r>
              <a:rPr sz="1875" b="0">
                <a:solidFill>
                  <a:srgbClr val="D8D3CB"/>
                </a:solidFill>
              </a:rPr>
              <a:t>Three scenario aggregates, eight seeds per experiment</a:t>
            </a:r>
          </a:p>
        </p:txBody>
      </p:sp>
      <p:sp>
        <p:nvSpPr>
          <p:cNvPr id="9" name="Storage terminology and implementation status">
            <a:extLst xmlns:a="http://schemas.openxmlformats.org/drawingml/2006/main">
              <a:ext uri="{FF2B5EF4-FFF2-40B4-BE49-F238E27FC236}">
                <a16:creationId xmlns:a16="http://schemas.microsoft.com/office/drawing/2014/main" id="{F1477BF4-DD0D-45EE-A83E-AF3511527344}"/>
              </a:ext>
            </a:extLst>
          </p:cNvPr>
          <p:cNvSpPr>
            <a:spLocks xmlns:a="http://schemas.openxmlformats.org/drawingml/2006/main" noGrp="1"/>
          </p:cNvSpPr>
          <p:nvPr/>
        </p:nvSpPr>
        <p:spPr>
          <a:xfrm xmlns:a="http://schemas.openxmlformats.org/drawingml/2006/main">
            <a:off x="762000" y="45910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Storage terminology and implementation status</a:t>
            </a:r>
          </a:p>
        </p:txBody>
      </p:sp>
      <p:sp>
        <p:nvSpPr>
          <p:cNvPr id="10" name="Espressif Arduino-ESP32 Preferences documentation&#10;Q-table fl">
            <a:extLst xmlns:a="http://schemas.openxmlformats.org/drawingml/2006/main">
              <a:ext uri="{FF2B5EF4-FFF2-40B4-BE49-F238E27FC236}">
                <a16:creationId xmlns:a16="http://schemas.microsoft.com/office/drawing/2014/main" id="{7C266349-3B95-4E1E-B77F-30F9FACD54DD}"/>
              </a:ext>
            </a:extLst>
          </p:cNvPr>
          <p:cNvSpPr>
            <a:spLocks xmlns:a="http://schemas.openxmlformats.org/drawingml/2006/main" noGrp="1"/>
          </p:cNvSpPr>
          <p:nvPr/>
        </p:nvSpPr>
        <p:spPr>
          <a:xfrm xmlns:a="http://schemas.openxmlformats.org/drawingml/2006/main">
            <a:off x="762000" y="50101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Espressif Arduino-ESP32 Preferences documentation</a:t>
            </a:r>
          </a:p>
          <a:p xmlns:a="http://schemas.openxmlformats.org/drawingml/2006/main">
            <a:pPr>
              <a:defRPr sz="1875" b="0">
                <a:solidFill>
                  <a:srgbClr val="D8D3CB"/>
                </a:solidFill>
              </a:defRPr>
            </a:pPr>
            <a:r>
              <a:rPr sz="1875" b="0">
                <a:solidFill>
                  <a:srgbClr val="D8D3CB"/>
                </a:solidFill>
              </a:rPr>
              <a:t>Q-table flash persistence: team-confirmed, code commit pending</a:t>
            </a:r>
          </a:p>
        </p:txBody>
      </p:sp>
    </p:spTree>
    <p:extLst>
      <p:ext uri="{BB962C8B-B14F-4D97-AF65-F5344CB8AC3E}">
        <p14:creationId xmlns:p14="http://schemas.microsoft.com/office/powerpoint/2010/main" val="2008101485"/>
      </p:ext>
    </p:extLst>
  </p:cSld>
</p:sld>
</file>

<file path=ppt/slides/slide26.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COST REFERENCES">
            <a:extLst xmlns:a="http://schemas.openxmlformats.org/drawingml/2006/main">
              <a:ext uri="{FF2B5EF4-FFF2-40B4-BE49-F238E27FC236}">
                <a16:creationId xmlns:a16="http://schemas.microsoft.com/office/drawing/2014/main" id="{EFE58DE2-E89B-45F5-9D55-7D5C905377CB}"/>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COST REFERENCES</a:t>
            </a:r>
          </a:p>
        </p:txBody>
      </p:sp>
      <p:sp>
        <p:nvSpPr>
          <p:cNvPr id="3" name="Cost sources and calculation basis">
            <a:extLst xmlns:a="http://schemas.openxmlformats.org/drawingml/2006/main">
              <a:ext uri="{FF2B5EF4-FFF2-40B4-BE49-F238E27FC236}">
                <a16:creationId xmlns:a16="http://schemas.microsoft.com/office/drawing/2014/main" id="{64697271-2F2B-466A-ADC4-69F766BF87BB}"/>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Cost sources and calculation basis</a:t>
            </a:r>
          </a:p>
        </p:txBody>
      </p:sp>
      <p:sp>
        <p:nvSpPr>
          <p:cNvPr id="4" name="00">
            <a:extLst xmlns:a="http://schemas.openxmlformats.org/drawingml/2006/main">
              <a:ext uri="{FF2B5EF4-FFF2-40B4-BE49-F238E27FC236}">
                <a16:creationId xmlns:a16="http://schemas.microsoft.com/office/drawing/2014/main" id="{E8100EEC-C502-4421-A11A-A6EFE46FA056}"/>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26</a:t>
            </a:r>
          </a:p>
        </p:txBody>
      </p:sp>
      <p:sp>
        <p:nvSpPr>
          <p:cNvPr id="5" name="Hardware reference prices">
            <a:extLst xmlns:a="http://schemas.openxmlformats.org/drawingml/2006/main">
              <a:ext uri="{FF2B5EF4-FFF2-40B4-BE49-F238E27FC236}">
                <a16:creationId xmlns:a16="http://schemas.microsoft.com/office/drawing/2014/main" id="{871CAFAF-E94B-405D-9D15-8DC7C861856C}"/>
              </a:ext>
            </a:extLst>
          </p:cNvPr>
          <p:cNvSpPr>
            <a:spLocks xmlns:a="http://schemas.openxmlformats.org/drawingml/2006/main" noGrp="1"/>
          </p:cNvSpPr>
          <p:nvPr/>
        </p:nvSpPr>
        <p:spPr>
          <a:xfrm xmlns:a="http://schemas.openxmlformats.org/drawingml/2006/main">
            <a:off x="762000" y="2000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Hardware reference prices</a:t>
            </a:r>
          </a:p>
        </p:txBody>
      </p:sp>
      <p:sp>
        <p:nvSpPr>
          <p:cNvPr id="6" name="Robocraze ESP32 30-pin CP2102 and Raspberry Pi 4, 2 GB&#10;DA2 estima">
            <a:extLst xmlns:a="http://schemas.openxmlformats.org/drawingml/2006/main">
              <a:ext uri="{FF2B5EF4-FFF2-40B4-BE49-F238E27FC236}">
                <a16:creationId xmlns:a16="http://schemas.microsoft.com/office/drawing/2014/main" id="{552672EE-F970-4BF8-95F9-A660A1814FCA}"/>
              </a:ext>
            </a:extLst>
          </p:cNvPr>
          <p:cNvSpPr>
            <a:spLocks xmlns:a="http://schemas.openxmlformats.org/drawingml/2006/main" noGrp="1"/>
          </p:cNvSpPr>
          <p:nvPr/>
        </p:nvSpPr>
        <p:spPr>
          <a:xfrm xmlns:a="http://schemas.openxmlformats.org/drawingml/2006/main">
            <a:off x="762000" y="24003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Robocraze ESP32 30-pin CP2102 and Raspberry Pi 4, 2 GB</a:t>
            </a:r>
          </a:p>
          <a:p xmlns:a="http://schemas.openxmlformats.org/drawingml/2006/main">
            <a:pPr>
              <a:defRPr sz="1875" b="0">
                <a:solidFill>
                  <a:srgbClr val="D8D3CB"/>
                </a:solidFill>
              </a:defRPr>
            </a:pPr>
            <a:r>
              <a:rPr sz="1875" b="0">
                <a:solidFill>
                  <a:srgbClr val="D8D3CB"/>
                </a:solidFill>
              </a:rPr>
              <a:t>DA2 estimates from the project data, DA3 listing check on 28 October 2026</a:t>
            </a:r>
          </a:p>
        </p:txBody>
      </p:sp>
      <p:sp>
        <p:nvSpPr>
          <p:cNvPr id="7" name="Operating-cost model">
            <a:extLst xmlns:a="http://schemas.openxmlformats.org/drawingml/2006/main">
              <a:ext uri="{FF2B5EF4-FFF2-40B4-BE49-F238E27FC236}">
                <a16:creationId xmlns:a16="http://schemas.microsoft.com/office/drawing/2014/main" id="{068F8BF9-8ADC-4BD5-AB14-1C46EFD198B6}"/>
              </a:ext>
            </a:extLst>
          </p:cNvPr>
          <p:cNvSpPr>
            <a:spLocks xmlns:a="http://schemas.openxmlformats.org/drawingml/2006/main" noGrp="1"/>
          </p:cNvSpPr>
          <p:nvPr/>
        </p:nvSpPr>
        <p:spPr>
          <a:xfrm xmlns:a="http://schemas.openxmlformats.org/drawingml/2006/main">
            <a:off x="762000" y="3286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Operating-cost model</a:t>
            </a:r>
          </a:p>
        </p:txBody>
      </p:sp>
      <p:sp>
        <p:nvSpPr>
          <p:cNvPr id="8" name="Pi Dramble power measurements and the DA2 ESP32 planning estimate">
            <a:extLst xmlns:a="http://schemas.openxmlformats.org/drawingml/2006/main">
              <a:ext uri="{FF2B5EF4-FFF2-40B4-BE49-F238E27FC236}">
                <a16:creationId xmlns:a16="http://schemas.microsoft.com/office/drawing/2014/main" id="{B4DA75CD-D425-44F3-BF7F-AD0ECB4D4802}"/>
              </a:ext>
            </a:extLst>
          </p:cNvPr>
          <p:cNvSpPr>
            <a:spLocks xmlns:a="http://schemas.openxmlformats.org/drawingml/2006/main" noGrp="1"/>
          </p:cNvSpPr>
          <p:nvPr/>
        </p:nvSpPr>
        <p:spPr>
          <a:xfrm xmlns:a="http://schemas.openxmlformats.org/drawingml/2006/main">
            <a:off x="762000" y="36861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Pi Dramble power measurements and the DA2 ESP32 planning estimate</a:t>
            </a:r>
          </a:p>
          <a:p xmlns:a="http://schemas.openxmlformats.org/drawingml/2006/main">
            <a:pPr>
              <a:defRPr sz="1875" b="0">
                <a:solidFill>
                  <a:srgbClr val="D8D3CB"/>
                </a:solidFill>
              </a:defRPr>
            </a:pPr>
            <a:r>
              <a:rPr sz="1875" b="0">
                <a:solidFill>
                  <a:srgbClr val="D8D3CB"/>
                </a:solidFill>
              </a:rPr>
              <a:t>8,760 h/year at an assumed ₹8/kWh, with formulas in the slide notes</a:t>
            </a:r>
          </a:p>
        </p:txBody>
      </p:sp>
      <p:sp>
        <p:nvSpPr>
          <p:cNvPr id="9" name="Managed-service comparison">
            <a:extLst xmlns:a="http://schemas.openxmlformats.org/drawingml/2006/main">
              <a:ext uri="{FF2B5EF4-FFF2-40B4-BE49-F238E27FC236}">
                <a16:creationId xmlns:a16="http://schemas.microsoft.com/office/drawing/2014/main" id="{B47161C5-4DC7-4D54-86AA-EE0FF21D67A9}"/>
              </a:ext>
            </a:extLst>
          </p:cNvPr>
          <p:cNvSpPr>
            <a:spLocks xmlns:a="http://schemas.openxmlformats.org/drawingml/2006/main" noGrp="1"/>
          </p:cNvSpPr>
          <p:nvPr/>
        </p:nvSpPr>
        <p:spPr>
          <a:xfrm xmlns:a="http://schemas.openxmlformats.org/drawingml/2006/main">
            <a:off x="762000" y="4572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Managed-service comparison</a:t>
            </a:r>
          </a:p>
        </p:txBody>
      </p:sp>
      <p:sp>
        <p:nvSpPr>
          <p:cNvPr id="10" name="AWS Elastic Load Balancing pricing, US-East-1 example base rate&#10;S">
            <a:extLst xmlns:a="http://schemas.openxmlformats.org/drawingml/2006/main">
              <a:ext uri="{FF2B5EF4-FFF2-40B4-BE49-F238E27FC236}">
                <a16:creationId xmlns:a16="http://schemas.microsoft.com/office/drawing/2014/main" id="{D359E118-DDDF-4DB8-BF73-A337EBF14477}"/>
              </a:ext>
            </a:extLst>
          </p:cNvPr>
          <p:cNvSpPr>
            <a:spLocks xmlns:a="http://schemas.openxmlformats.org/drawingml/2006/main" noGrp="1"/>
          </p:cNvSpPr>
          <p:nvPr/>
        </p:nvSpPr>
        <p:spPr>
          <a:xfrm xmlns:a="http://schemas.openxmlformats.org/drawingml/2006/main">
            <a:off x="762000" y="4972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AWS Elastic Load Balancing pricing, US-East-1 example base rate</a:t>
            </a:r>
          </a:p>
          <a:p xmlns:a="http://schemas.openxmlformats.org/drawingml/2006/main">
            <a:pPr>
              <a:defRPr sz="1875" b="0">
                <a:solidFill>
                  <a:srgbClr val="D8D3CB"/>
                </a:solidFill>
              </a:defRPr>
            </a:pPr>
            <a:r>
              <a:rPr sz="1875" b="0">
                <a:solidFill>
                  <a:srgbClr val="D8D3CB"/>
                </a:solidFill>
              </a:rPr>
              <a:t>Service capabilities and prototype scope differ</a:t>
            </a:r>
          </a:p>
        </p:txBody>
      </p:sp>
    </p:spTree>
    <p:extLst>
      <p:ext uri="{BB962C8B-B14F-4D97-AF65-F5344CB8AC3E}">
        <p14:creationId xmlns:p14="http://schemas.microsoft.com/office/powerpoint/2010/main" val="197273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2026-10-28T10:36:20.1800000Z</dcterms:created>
  <dcterms:modified xsi:type="dcterms:W3CDTF">2026-10-28T10:36:20.1800000Z</dcterms:modified>
</coreProperties>
</file>