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EMBEDDED SYSTEMS  ·  REVIEW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Aptos Display"/>
              </a:defRPr>
            </a:pPr>
            <a:r>
              <a:t>ESP32 RL Load Balancer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D8D3CB"/>
                </a:solidFill>
                <a:latin typeface="Aptos"/>
              </a:defRPr>
            </a:pPr>
            <a:r>
              <a:t>Reinforcement-Learning Traffic Distribution on a $4 Microcontroller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7F4EE"/>
                </a:solidFill>
                <a:latin typeface="Aptos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7A848E"/>
                </a:solidFill>
                <a:latin typeface="Aptos"/>
              </a:defRPr>
            </a:pPr>
            <a:r>
              <a:t>TODO: add team member names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017520"/>
            <a:ext cx="2743200" cy="50800"/>
          </a:xfrm>
          <a:prstGeom prst="rect">
            <a:avLst/>
          </a:prstGeom>
          <a:solidFill>
            <a:srgbClr val="E16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Aptos Display"/>
              </a:defRPr>
            </a:pPr>
            <a:r>
              <a:t>Cloud-dependent load balancing</a:t>
            </a:r>
            <a:br/>
            <a:r>
              <a:t>fails at the edge.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16A3D"/>
                </a:solidFill>
                <a:latin typeface="Aptos"/>
              </a:defRPr>
            </a:pPr>
            <a:r>
              <a:t>CrowdStrike faulty update  ·  2024-07-19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400" b="0">
                <a:solidFill>
                  <a:srgbClr val="D8D3CB"/>
                </a:solidFill>
                <a:latin typeface="Aptos"/>
              </a:defRPr>
            </a:pPr>
            <a:r>
              <a:t>8.5 million Windows devices; 125 Fortune 500 corporations affected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0">
                <a:solidFill>
                  <a:srgbClr val="7A848E"/>
                </a:solidFill>
                <a:latin typeface="Aptos"/>
              </a:defRPr>
            </a:pPr>
            <a:r>
              <a:t>Point-of-sale and back-office systems froze. A local balancer with no cloud dependency keeps in-store transaction routing alive.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16A3D"/>
                </a:solidFill>
                <a:latin typeface="Aptos"/>
              </a:defRPr>
            </a:pPr>
            <a:r>
              <a:t>Rogers nationwide network outage  ·  2022-07-08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400" b="0">
                <a:solidFill>
                  <a:srgbClr val="D8D3CB"/>
                </a:solidFill>
                <a:latin typeface="Aptos"/>
              </a:defRPr>
            </a:pPr>
            <a:r>
              <a:t>12+ million subscribers; 15 hours to several days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0">
                <a:solidFill>
                  <a:srgbClr val="7A848E"/>
                </a:solidFill>
                <a:latin typeface="Aptos"/>
              </a:defRPr>
            </a:pPr>
            <a:r>
              <a:t>The strongest argument in this deck: the merchants who went down had working local networks and working local hardware. Only the upstream path failed. Local-first routing is the mitigation, and Interac's own remediation was exactly that - a secondary carrier plus a third backup link, completed June 2023.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A848E"/>
                </a:solidFill>
                <a:latin typeface="Consolas"/>
              </a:defRPr>
            </a:pPr>
            <a:r>
              <a:t>SMB downtime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7432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E16A3D"/>
                </a:solidFill>
                <a:latin typeface="Aptos Display"/>
              </a:defRPr>
            </a:pPr>
            <a:r>
              <a:t>$8,000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7A848E"/>
                </a:solidFill>
                <a:latin typeface="Consolas"/>
              </a:defRPr>
            </a:pPr>
            <a:r>
              <a:t>/ hour  (Datto, conservative)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OUR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Aptos Display"/>
              </a:defRPr>
            </a:pPr>
            <a:r>
              <a:t>A $4 microcontroller that learns</a:t>
            </a:r>
            <a:br/>
            <a:r>
              <a:t>which backend is healthy.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On-device reinforcement learning for L7 traffic distribution on a sub-$5 microcontroller, with no cloud, no coordinator, and no pre-training phase.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0">
                <a:solidFill>
                  <a:srgbClr val="D8D3CB"/>
                </a:solidFill>
                <a:latin typeface="Aptos"/>
              </a:defRPr>
            </a:pPr>
            <a:r>
              <a:t>Published RL load balancing work targets cloud, SDN controllers or fog nodes, all of which assume at minimum a Linux-class host. We run the Bellman update in 520 KB of RAM on bare metal.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453640"/>
            <a:ext cx="101600" cy="101600"/>
          </a:xfrm>
          <a:prstGeom prst="rect">
            <a:avLst/>
          </a:prstGeom>
          <a:solidFill>
            <a:srgbClr val="E16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The Q-table is state-aware on concurrency, not just server identity: state is the number of active proxy sessions, action is the backend choice.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0">
                <a:solidFill>
                  <a:srgbClr val="D8D3CB"/>
                </a:solidFill>
                <a:latin typeface="Aptos"/>
              </a:defRPr>
            </a:pPr>
            <a:r>
              <a:t>A bare bandit approach, which EMA effectively is, ignores load context. Our formulation learns that the right backend at 1 concurrent session differs from the right backend at 6.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459480"/>
            <a:ext cx="101600" cy="101600"/>
          </a:xfrm>
          <a:prstGeom prst="rect">
            <a:avLst/>
          </a:prstGeom>
          <a:solidFill>
            <a:srgbClr val="E16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Learning happens online, in production traffic, from a reward derived from real observed session duration - not from a simulator.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0">
                <a:solidFill>
                  <a:srgbClr val="D8D3CB"/>
                </a:solidFill>
                <a:latin typeface="Aptos"/>
              </a:defRPr>
            </a:pPr>
            <a:r>
              <a:t>No offline training dataset, no model upload. The device is useful from the first request and improves without intervention.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465320"/>
            <a:ext cx="101600" cy="101600"/>
          </a:xfrm>
          <a:prstGeom prst="rect">
            <a:avLst/>
          </a:prstGeom>
          <a:solidFill>
            <a:srgbClr val="3C8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394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Total system cost and power are low enough that N+1 redundancy is economically free.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0">
                <a:solidFill>
                  <a:srgbClr val="D8D3CB"/>
                </a:solidFill>
                <a:latin typeface="Aptos"/>
              </a:defRPr>
            </a:pPr>
            <a:r>
              <a:t>Three ESP32 units cost less than a tenth of one Raspberry Pi and draw less power combined than one Pi at idle. Redundancy that costs nothing gets deployed; redundancy that costs money does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71160"/>
            <a:ext cx="101600" cy="101600"/>
          </a:xfrm>
          <a:prstGeom prst="rect">
            <a:avLst/>
          </a:prstGeom>
          <a:solidFill>
            <a:srgbClr val="3C8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ALGORITHM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 Display"/>
              </a:defRPr>
            </a:pPr>
            <a:r>
              <a:t>Q-learning on a 520 KB device.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16A3D"/>
                </a:solidFill>
                <a:latin typeface="Aptos Display"/>
              </a:defRPr>
            </a:pPr>
            <a:r>
              <a:t>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201168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onsolas"/>
              </a:defRPr>
            </a:pPr>
            <a:r>
              <a:t>Number of active proxy sessions (0–7).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200" b="0">
                <a:solidFill>
                  <a:srgbClr val="7A848E"/>
                </a:solidFill>
                <a:latin typeface="Aptos"/>
              </a:defRPr>
            </a:pPr>
            <a:r>
              <a:t>The concurrency context a pure bandit ignores.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632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16A3D"/>
                </a:solidFill>
                <a:latin typeface="Aptos Display"/>
              </a:defRPr>
            </a:pPr>
            <a:r>
              <a:t>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063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onsolas"/>
              </a:defRPr>
            </a:pPr>
            <a:r>
              <a:t>Choose a backend server index.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200" b="0">
                <a:solidFill>
                  <a:srgbClr val="7A848E"/>
                </a:solidFill>
                <a:latin typeface="Aptos"/>
              </a:defRPr>
            </a:pPr>
            <a:r>
              <a:t>Standard multi-armed bandit extension to MDP.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16A3D"/>
                </a:solidFill>
                <a:latin typeface="Aptos Display"/>
              </a:defRPr>
            </a:pPr>
            <a:r>
              <a:t>Reward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41148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onsolas"/>
              </a:defRPr>
            </a:pPr>
            <a:r>
              <a:t>r = 1000 / (duration_ms + 1)  if success</a:t>
            </a:r>
            <a:br/>
            <a:r>
              <a:t>r = −50  if timeout (≥ 2000 ms)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200" b="0">
                <a:solidFill>
                  <a:srgbClr val="7A848E"/>
                </a:solidFill>
                <a:latin typeface="Aptos"/>
              </a:defRPr>
            </a:pPr>
            <a:r>
              <a:t>Reciprocal curve: 40 ms and 900 ms both "succeed" but differ by 15× in reward.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6636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16A3D"/>
                </a:solidFill>
                <a:latin typeface="Aptos Display"/>
              </a:defRPr>
            </a:pPr>
            <a:r>
              <a:t>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16636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onsolas"/>
              </a:defRPr>
            </a:pPr>
            <a:r>
              <a:t>Q(s,a) ← Q(s,a) + α · [r + γ · max Q(s′,·) − Q(s,a)]</a:t>
            </a:r>
          </a:p>
          <a:p>
            <a:pPr algn="l">
              <a:spcBef>
                <a:spcPts val="600"/>
              </a:spcBef>
              <a:spcAft>
                <a:spcPts val="0"/>
              </a:spcAft>
              <a:defRPr sz="1200" b="0">
                <a:solidFill>
                  <a:srgbClr val="7A848E"/>
                </a:solidFill>
                <a:latin typeface="Aptos"/>
              </a:defRPr>
            </a:pPr>
            <a:r>
              <a:t>α = 0.3, γ = 0.5, ε decays 1.0 → 0.05 at 0.95/update.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9902F"/>
                </a:solidFill>
                <a:latin typeface="Consolas"/>
              </a:defRPr>
            </a:pPr>
            <a:r>
              <a:t>Hard constraint: 16 sockets, 1 listener, 2 per session → 7 concurrent proxy sessions max.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HARDWARE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 Display"/>
              </a:defRPr>
            </a:pPr>
            <a:r>
              <a:t>Cost, power, and attack surface.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969264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1005840"/>
                <a:gridCol w="1188720"/>
                <a:gridCol w="914400"/>
                <a:gridCol w="3200400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Device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Class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Unit cost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Power (load)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Boot time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Attack surface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7F4EE"/>
                          </a:solidFill>
                          <a:latin typeface="Aptos"/>
                        </a:defRPr>
                      </a:pPr>
                      <a:r>
                        <a:t>ESP32-WROOM-32 DevKit V1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Microcontroller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$4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0.79 W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1.2 s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No OS, no shell, no package manager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7F4EE"/>
                          </a:solidFill>
                          <a:latin typeface="Aptos"/>
                        </a:defRPr>
                      </a:pPr>
                      <a:r>
                        <a:t>Raspberry Pi 4 Model B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Single-board computer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$45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6.4 W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22 s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Full Linux userland, SSH, apt, systemd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7F4EE"/>
                          </a:solidFill>
                          <a:latin typeface="Aptos"/>
                        </a:defRPr>
                      </a:pPr>
                      <a:r>
                        <a:t>Mini-PC thin client running NGINX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x86 appliance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$150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15 W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35 s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Full Linux userland plus x86 firmware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7F4EE"/>
                          </a:solidFill>
                          <a:latin typeface="Aptos"/>
                        </a:defRPr>
                      </a:pPr>
                      <a:r>
                        <a:t>Managed cloud load balancer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Cloud service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$18/mo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instant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Provider-managed, but hard-depends on th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ANNUAL ENERGY AT 24/7 DUTY, $0.09/KWH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ESP32-WROOM-32 DevKi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2400" b="1">
                <a:solidFill>
                  <a:srgbClr val="E16A3D"/>
                </a:solidFill>
                <a:latin typeface="Aptos Display"/>
              </a:defRPr>
            </a:pPr>
            <a:r>
              <a:t>6.9 kWh/yr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7A848E"/>
                </a:solidFill>
                <a:latin typeface="Consolas"/>
              </a:defRPr>
            </a:pPr>
            <a:r>
              <a:t>$0.62/yr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493776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Raspberry Pi 4 Model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2400" b="1">
                <a:solidFill>
                  <a:srgbClr val="F7F4EE"/>
                </a:solidFill>
                <a:latin typeface="Aptos Display"/>
              </a:defRPr>
            </a:pPr>
            <a:r>
              <a:t>56.1 kWh/yr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7A848E"/>
                </a:solidFill>
                <a:latin typeface="Consolas"/>
              </a:defRPr>
            </a:pPr>
            <a:r>
              <a:t>$5.05/yr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493776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Mini-PC thin client 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2400" b="1">
                <a:solidFill>
                  <a:srgbClr val="F7F4EE"/>
                </a:solidFill>
                <a:latin typeface="Aptos Display"/>
              </a:defRPr>
            </a:pPr>
            <a:r>
              <a:t>131.4 kWh/yr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7A848E"/>
                </a:solidFill>
                <a:latin typeface="Consolas"/>
              </a:defRPr>
            </a:pPr>
            <a:r>
              <a:t>$11.83/yr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CENTRAL FINDING  ·  SIMULATED, 8 SEEDS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 Display"/>
              </a:defRPr>
            </a:pPr>
            <a:r>
              <a:t>RL earns its complexity at a</a:t>
            </a:r>
            <a:br/>
            <a:r>
              <a:t>measurable threshold.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E16A3D"/>
                </a:solidFill>
                <a:latin typeface="Aptos Display"/>
              </a:defRPr>
            </a:pPr>
            <a:r>
              <a:t>+43.9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7A848E"/>
                </a:solidFill>
                <a:latin typeface="Consolas"/>
              </a:defRPr>
            </a:pPr>
            <a:r>
              <a:t>goodput points, QL over RR, at 12× spread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0" y="2194560"/>
          <a:ext cx="73152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1371600"/>
                <a:gridCol w="1371600"/>
                <a:gridCol w="109728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Spread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Slow backend ms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Round Robin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Q-Learning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EMA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QL − RR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7F4EE"/>
                          </a:solidFill>
                          <a:latin typeface="Aptos"/>
                        </a:defRPr>
                      </a:pPr>
                      <a:r>
                        <a:t>1x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+0.0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7F4EE"/>
                          </a:solidFill>
                          <a:latin typeface="Aptos"/>
                        </a:defRPr>
                      </a:pPr>
                      <a:r>
                        <a:t>2x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+0.0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7F4EE"/>
                          </a:solidFill>
                          <a:latin typeface="Aptos"/>
                        </a:defRPr>
                      </a:pPr>
                      <a:r>
                        <a:t>3x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180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+0.0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7F4EE"/>
                          </a:solidFill>
                          <a:latin typeface="Aptos"/>
                        </a:defRPr>
                      </a:pPr>
                      <a:r>
                        <a:t>5x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300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99.8%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99.7%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-0.2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7F4EE"/>
                          </a:solidFill>
                          <a:latin typeface="Aptos"/>
                        </a:defRPr>
                      </a:pPr>
                      <a:r>
                        <a:t>8x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480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71.3%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99.1%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94.8%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+27.8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7F4EE"/>
                          </a:solidFill>
                          <a:latin typeface="Aptos"/>
                        </a:defRPr>
                      </a:pPr>
                      <a:r>
                        <a:t>12x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720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49.8%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93.7%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87.2%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+43.9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029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8D3CB"/>
                </a:solidFill>
                <a:latin typeface="Aptos"/>
              </a:defRPr>
            </a:pPr>
            <a:r>
              <a:t>Below roughly 5x spread every strategy saturates - the backends are interchangeable, so the routing decision does not matter and Round Robin is the correct engineering choice because it is free. Past 8x the picture inverts sharply: Round Robin collapses to 71% and then 50% goodput because it keeps sending a fixed share of traffic into a backend that cannot absorb it, while Q-learning holds 99% 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SCENARIO  ·  SMART FACTORY SENSOR GATEWAY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When a processing node stalls, the queue backs up in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8D3CB"/>
                </a:solidFill>
                <a:latin typeface="Aptos"/>
              </a:defRPr>
            </a:pPr>
            <a:r>
              <a:t>A mid-size component manufacturer runs 48 vibration and temperature sensors on the shop floor, feeding three local edge processing nodes that run anomaly detection. The nodes sit in a control cabinet. There is no cloud link on the production VLAN, by policy.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F7F4EE"/>
                </a:solidFill>
                <a:latin typeface="Aptos"/>
              </a:defRPr>
            </a:pPr>
          </a:p>
          <a:p>
            <a:pPr algn="l">
              <a:spcBef>
                <a:spcPts val="800"/>
              </a:spcBef>
              <a:spcAft>
                <a:spcPts val="0"/>
              </a:spcAft>
              <a:defRPr sz="1300" b="0">
                <a:solidFill>
                  <a:srgbClr val="7A848E"/>
                </a:solidFill>
                <a:latin typeface="Aptos"/>
              </a:defRPr>
            </a:pPr>
            <a:r>
              <a:t>The cabinet has no spare mains outlet and no room for a fanned device. An ESP32 runs off the existing 24 V DIN-rail supply through a buck converter, has no fan to clog with metal dust, and has no SD card to corrupt when the line is E-stopped.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Manufacturing downtime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16A3D"/>
                </a:solidFill>
                <a:latin typeface="Aptos Display"/>
              </a:defRPr>
            </a:pPr>
            <a:r>
              <a:t>$260,000/hr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0" y="1645920"/>
          <a:ext cx="6858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  <a:gridCol w="1005840"/>
                <a:gridCol w="1005840"/>
                <a:gridCol w="1005840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Strategy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Goodput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Worst seed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Mean ms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p95 ms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Refused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7F4EE"/>
                          </a:solidFill>
                          <a:latin typeface="Aptos"/>
                        </a:defRPr>
                      </a:pPr>
                      <a:r>
                        <a:t>Round Robin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86.1%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84.3%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270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1669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7F4EE"/>
                          </a:solidFill>
                          <a:latin typeface="Aptos"/>
                        </a:defRPr>
                      </a:pPr>
                      <a:r>
                        <a:t>Q-Learning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7F4EE"/>
                          </a:solidFill>
                          <a:latin typeface="Aptos"/>
                        </a:defRPr>
                      </a:pPr>
                      <a:r>
                        <a:t>EMA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96.3%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95.6%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0" y="4389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16A3D"/>
                </a:solidFill>
                <a:latin typeface="Consolas"/>
              </a:defRPr>
            </a:pPr>
            <a:r>
              <a:t>Best here: Q-Learning (100% goodput)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EVENT TIMELINE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949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8D3CB"/>
                </a:solidFill>
                <a:latin typeface="Consolas"/>
              </a:defRPr>
            </a:pPr>
            <a:r>
              <a:t>t+3.0s  —  Node 2 thermal throttle begins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489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8D3CB"/>
                </a:solidFill>
                <a:latin typeface="Consolas"/>
              </a:defRPr>
            </a:pPr>
            <a:r>
              <a:t>t+9.0s  —  Cabinet fan kicks in, Node 2 recovers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SCENARIO  ·  RURAL CLINIC TELEMEDICINE KIOSK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Solar budget, intermittent uplink, no IT staff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8D3CB"/>
                </a:solidFill>
                <a:latin typeface="Aptos"/>
              </a:defRPr>
            </a:pPr>
            <a:r>
              <a:t>A primary health centre serving 11 villages runs four patient-intake kiosks and a teleconsultation terminal. Power comes from a 400 W solar array with a 12 V battery bank. The satellite uplink is available roughly 60% of the working day. Patient records are served from two local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F7F4EE"/>
                </a:solidFill>
                <a:latin typeface="Aptos"/>
              </a:defRPr>
            </a:pPr>
          </a:p>
          <a:p>
            <a:pPr algn="l">
              <a:spcBef>
                <a:spcPts val="800"/>
              </a:spcBef>
              <a:spcAft>
                <a:spcPts val="0"/>
              </a:spcAft>
              <a:defRPr sz="1300" b="0">
                <a:solidFill>
                  <a:srgbClr val="7A848E"/>
                </a:solidFill>
                <a:latin typeface="Aptos"/>
              </a:defRPr>
            </a:pPr>
            <a:r>
              <a:t>Sub-watt draw, cold boot in about a second after a power cut, and nothing to corrupt. When the battery dips, the balancer is the last thing you have to worry about.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0" y="1645920"/>
          <a:ext cx="6858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  <a:gridCol w="1005840"/>
                <a:gridCol w="1005840"/>
                <a:gridCol w="1005840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Strategy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Goodput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Worst seed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Mean ms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p95 ms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Refused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7F4EE"/>
                          </a:solidFill>
                          <a:latin typeface="Aptos"/>
                        </a:defRPr>
                      </a:pPr>
                      <a:r>
                        <a:t>Round Robin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92%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90.7%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486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1456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7F4EE"/>
                          </a:solidFill>
                          <a:latin typeface="Aptos"/>
                        </a:defRPr>
                      </a:pPr>
                      <a:r>
                        <a:t>Q-Learning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246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438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7F4EE"/>
                          </a:solidFill>
                          <a:latin typeface="Aptos"/>
                        </a:defRPr>
                      </a:pPr>
                      <a:r>
                        <a:t>EMA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98.7%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97.4%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305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919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0" y="4389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16A3D"/>
                </a:solidFill>
                <a:latin typeface="Consolas"/>
              </a:defRPr>
            </a:pPr>
            <a:r>
              <a:t>Best here: Q-Learning (100% goodput)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206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EVENT TIMELINE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949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8D3CB"/>
                </a:solidFill>
                <a:latin typeface="Consolas"/>
              </a:defRPr>
            </a:pPr>
            <a:r>
              <a:t>t+2.5s  —  Server B bogs down under concurrent intake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489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8D3CB"/>
                </a:solidFill>
                <a:latin typeface="Consolas"/>
              </a:defRPr>
            </a:pPr>
            <a:r>
              <a:t>t+6.0s  —  Server A load rises as traffic shifts to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029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8D3CB"/>
                </a:solidFill>
                <a:latin typeface="Consolas"/>
              </a:defRPr>
            </a:pPr>
            <a:r>
              <a:t>t+9.5s  —  Server B clears its backlog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SCENARIO  ·  RETAIL POS DURING A CLOUD OUTAGE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The day the cloud went down and the shop stayed open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8D3CB"/>
                </a:solidFill>
                <a:latin typeface="Aptos"/>
              </a:defRPr>
            </a:pPr>
            <a:r>
              <a:t>A five-outlet restaurant chain runs six point-of-sale terminals and two kitchen display screens per outlet. Order routing normally goes through a cloud POS backend. Two local mini-servers hold a full offline mirror of the menu, pricing and order queue.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F7F4EE"/>
                </a:solidFill>
                <a:latin typeface="Aptos"/>
              </a:defRPr>
            </a:pPr>
          </a:p>
          <a:p>
            <a:pPr algn="l">
              <a:spcBef>
                <a:spcPts val="800"/>
              </a:spcBef>
              <a:spcAft>
                <a:spcPts val="0"/>
              </a:spcAft>
              <a:defRPr sz="1300" b="0">
                <a:solidFill>
                  <a:srgbClr val="7A848E"/>
                </a:solidFill>
                <a:latin typeface="Aptos"/>
              </a:defRPr>
            </a:pPr>
            <a:r>
              <a:t>The balancer has no cloud dependency, no upstream heartbeat, and no license check. If the LAN is up, order routing is up. At $4 per unit, every outlet can keep a cold spare in a drawer.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SMB downtime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16A3D"/>
                </a:solidFill>
                <a:latin typeface="Aptos Display"/>
              </a:defRPr>
            </a:pPr>
            <a:r>
              <a:t>$8,000/hr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0" y="1645920"/>
          <a:ext cx="6858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  <a:gridCol w="1005840"/>
                <a:gridCol w="1005840"/>
                <a:gridCol w="1005840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Strategy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Goodput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Worst seed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Mean ms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p95 ms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Refused</a:t>
                      </a:r>
                    </a:p>
                  </a:txBody>
                  <a:tcPr>
                    <a:solidFill>
                      <a:srgbClr val="1A24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7F4EE"/>
                          </a:solidFill>
                          <a:latin typeface="Aptos"/>
                        </a:defRPr>
                      </a:pPr>
                      <a:r>
                        <a:t>Round Robin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84.9%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84.1%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227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1206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36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7F4EE"/>
                          </a:solidFill>
                          <a:latin typeface="Aptos"/>
                        </a:defRPr>
                      </a:pPr>
                      <a:r>
                        <a:t>Q-Learning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74.5%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73.6%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267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1275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61</a:t>
                      </a:r>
                    </a:p>
                  </a:txBody>
                  <a:tcPr>
                    <a:solidFill>
                      <a:srgbClr val="14202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F7F4EE"/>
                          </a:solidFill>
                          <a:latin typeface="Aptos"/>
                        </a:defRPr>
                      </a:pPr>
                      <a:r>
                        <a:t>EMA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97.2%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96.7%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122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0">
                          <a:solidFill>
                            <a:srgbClr val="F7F4EE"/>
                          </a:solidFill>
                          <a:latin typeface="Consolas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0E182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0" y="4389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9C73"/>
                </a:solidFill>
                <a:latin typeface="Consolas"/>
              </a:defRPr>
            </a:pPr>
            <a:r>
              <a:t>Best here: EMA (97.2% goodput)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48463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9902F"/>
                </a:solidFill>
                <a:latin typeface="Aptos"/>
              </a:defRPr>
            </a:pPr>
            <a:r>
              <a:t>Q-learning does NOT win this scenario - ema does. Presented as-is.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206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EVENT TIMELINE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949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8D3CB"/>
                </a:solidFill>
                <a:latin typeface="Consolas"/>
              </a:defRPr>
            </a:pPr>
            <a:r>
              <a:t>t+3.0s  —  Upstream cloud POS unreachable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489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8D3CB"/>
                </a:solidFill>
                <a:latin typeface="Consolas"/>
              </a:defRPr>
            </a:pPr>
            <a:r>
              <a:t>t+3.8s  —  Mirror 1 saturates absorbing redirected 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029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8D3CB"/>
                </a:solidFill>
                <a:latin typeface="Consolas"/>
              </a:defRPr>
            </a:pPr>
            <a:r>
              <a:t>t+8.0s  —  Mirror 1 recovers as traffic rebalances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1569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8D3CB"/>
                </a:solidFill>
                <a:latin typeface="Consolas"/>
              </a:defRPr>
            </a:pPr>
            <a:r>
              <a:t>t+10.8s  —  Cloud POS restored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HONEST 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C9902F"/>
                </a:solidFill>
                <a:latin typeface="Aptos Display"/>
              </a:defRPr>
            </a:pPr>
            <a:r>
              <a:t>Non-stationarity and the exploration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ptos"/>
              </a:defRPr>
            </a:pPr>
            <a:r>
              <a:t>In the retail scenario Q-learning UNDERPERFORMS Round Robin on goodput (74.5% vs 84.5%, mean of 8 seeds).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F7F4EE"/>
                </a:solidFill>
                <a:latin typeface="Aptos"/>
              </a:defRPr>
            </a:pPr>
          </a:p>
          <a:p>
            <a:pPr algn="l">
              <a:spcBef>
                <a:spcPts val="800"/>
              </a:spcBef>
              <a:spcAft>
                <a:spcPts val="0"/>
              </a:spcAft>
              <a:defRPr sz="1400" b="0">
                <a:solidFill>
                  <a:srgbClr val="D8D3CB"/>
                </a:solidFill>
                <a:latin typeface="Aptos"/>
              </a:defRPr>
            </a:pPr>
            <a:r>
              <a:t>Root cause:  Two things compound. First, epsilon decays from 1.0 to its 0.05 floor in 59 feedback updates; in the retail timeline that happens at roughly tick 40, about 74 updates BEFORE the backend degrades at tick 75. The agent is fully greedy before the world changes, and a 5% exploration rate is slow to discover it. Second, the two retail mirrors start near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600" b="0">
                <a:solidFill>
                  <a:srgbClr val="F7F4EE"/>
                </a:solidFill>
                <a:latin typeface="Aptos"/>
              </a:defRPr>
            </a:pPr>
          </a:p>
          <a:p>
            <a:pPr algn="l">
              <a:spcBef>
                <a:spcPts val="800"/>
              </a:spcBef>
              <a:spcAft>
                <a:spcPts val="0"/>
              </a:spcAft>
              <a:defRPr sz="1400" b="0">
                <a:solidFill>
                  <a:srgbClr val="7A848E"/>
                </a:solidFill>
                <a:latin typeface="Aptos"/>
              </a:defRPr>
            </a:pPr>
            <a:r>
              <a:t>Measured fix:  Raising min_epsilon from 0.05 to 0.15 lifts retail mean goodput from 74.5% to 85.5% across 8 seeds. Worst-seed goodput stays near 75%, so the exploration floor is a partial fix, not a cure.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8D3CB"/>
                </a:solidFill>
                <a:latin typeface="Aptos"/>
              </a:defRPr>
            </a:pPr>
            <a:r>
              <a:t>→  Epsilon resurgence: when observed reward falls far below the Q-value that predicted it, the policy is stale - temporarily raise epsilon to re-explore. Prototyped and measured: +8.4 points on retail bu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8D3CB"/>
                </a:solidFill>
                <a:latin typeface="Aptos"/>
              </a:defRPr>
            </a:pPr>
            <a:r>
              <a:t>→  Detect the low-heterogeneity regime at runtime (variance of the reward across backends) and fall back to Round Robin, which is provably optimal when backends are interchangeable.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3504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8D3CB"/>
                </a:solidFill>
                <a:latin typeface="Aptos"/>
              </a:defRPr>
            </a:pPr>
            <a:r>
              <a:t>→  Persist the Q-table to NVS so a reboot does not discard what was learned.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5486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A848E"/>
                </a:solidFill>
                <a:latin typeface="Consolas"/>
              </a:defRPr>
            </a:pPr>
            <a:r>
              <a:t>This weakness is presented in the deck on its own slide. A load balancer that is only tested where it wins has not been tested.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ARCHITECTURAL CONSTRAINTS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 Display"/>
              </a:defRPr>
            </a:pPr>
            <a:r>
              <a:t>What this device does not 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8D3CB"/>
                </a:solidFill>
                <a:latin typeface="Aptos"/>
              </a:defRPr>
            </a:pPr>
            <a:r>
              <a:t>—  Hard ceiling of 7 concurrent proxy sessions. The ESP32 has 16 sockets, 1 for the listener and 2 per session. This is a real architectural limit, not a tuning issue.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8D3CB"/>
                </a:solidFill>
                <a:latin typeface="Aptos"/>
              </a:defRPr>
            </a:pPr>
            <a:r>
              <a:t>—  No TLS termination. The ESP32 can do TLS but not at meaningful throughput while also proxying.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8D3CB"/>
                </a:solidFill>
                <a:latin typeface="Aptos"/>
              </a:defRPr>
            </a:pPr>
            <a:r>
              <a:t>—  The Q-table is lost on reboot, not yet persisted to NVS. Relearning takes a few dozen requests.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8D3CB"/>
                </a:solidFill>
                <a:latin typeface="Aptos"/>
              </a:defRPr>
            </a:pPr>
            <a:r>
              <a:t>—  Suited to low-request-rate, high-value traffic such as POS terminals, sensor gateways and kiosks - not to general web serving.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HARDWARE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9902F"/>
                </a:solidFill>
                <a:latin typeface="Aptos Display"/>
              </a:defRPr>
            </a:pPr>
            <a:r>
              <a:t>Awaiting hardware run.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8D3CB"/>
                </a:solidFill>
                <a:latin typeface="Aptos"/>
              </a:defRPr>
            </a:pPr>
            <a:r>
              <a:t>Run benchmarks/run_benchmark.py three times (one per strategy) to populate this slide with measured numbers. Until then, the simulated results on previous slides are explicitly labelled as such.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16A3D"/>
                </a:solidFill>
                <a:latin typeface="Consolas"/>
              </a:defRPr>
            </a:pPr>
            <a:r>
              <a:t>http://localhost:5000/scenarios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8D3CB"/>
                </a:solidFill>
                <a:latin typeface="Aptos"/>
              </a:defRPr>
            </a:pPr>
            <a:r>
              <a:t>Runs entirely in the browser. Same algorithms, same seeds, same results.</a:t>
            </a:r>
            <a:br/>
            <a:r>
              <a:t>Change the seed. Watch Q-learning explore then exploit. Watch it fail on retail.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SOURCES &amp; CITATIONS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Every number is cited or measured.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CrowdStrike faulty update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1000" b="0">
                <a:solidFill>
                  <a:srgbClr val="7A848E"/>
                </a:solidFill>
                <a:latin typeface="Aptos"/>
              </a:defRPr>
            </a:pPr>
            <a:r>
              <a:t>Parametrix Insurance, CrowdStrike's Impact on the Fortune 500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defRPr sz="800" b="0">
                <a:solidFill>
                  <a:srgbClr val="3C83D1"/>
                </a:solidFill>
                <a:latin typeface="Consolas"/>
              </a:defRPr>
            </a:pPr>
            <a:r>
              <a:t>https://www.parametrixinsurance.com/reports-white-papers/crowdstrikes-impact-on-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Rogers nationwide network outage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1000" b="0">
                <a:solidFill>
                  <a:srgbClr val="7A848E"/>
                </a:solidFill>
                <a:latin typeface="Aptos"/>
              </a:defRPr>
            </a:pPr>
            <a:r>
              <a:t>CBC News; Interac Corp. statement; Wikipedia, 2022 Rogers Communications outage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defRPr sz="800" b="0">
                <a:solidFill>
                  <a:srgbClr val="3C83D1"/>
                </a:solidFill>
                <a:latin typeface="Consolas"/>
              </a:defRPr>
            </a:pPr>
            <a:r>
              <a:t>https://www.cbc.ca/news/business/rogers-outage-cell-mobile-wifi-1.6514373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Unscheduled downtime cost to the world's 500 largest companies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1000" b="0">
                <a:solidFill>
                  <a:srgbClr val="7A848E"/>
                </a:solidFill>
                <a:latin typeface="Aptos"/>
              </a:defRPr>
            </a:pPr>
            <a:r>
              <a:t>Siemens, True Cost of Downtime 2024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defRPr sz="800" b="0">
                <a:solidFill>
                  <a:srgbClr val="3C83D1"/>
                </a:solidFill>
                <a:latin typeface="Consolas"/>
              </a:defRPr>
            </a:pPr>
            <a:r>
              <a:t>https://press.siemens.com/global/en/pressrelease/true-cost-downtime-large-manufa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776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Manufacturing downtime, all sectors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1000" b="0">
                <a:solidFill>
                  <a:srgbClr val="7A848E"/>
                </a:solidFill>
                <a:latin typeface="Aptos"/>
              </a:defRPr>
            </a:pPr>
            <a:r>
              <a:t>Aberdeen Group, cited in Siemens True Cost of Downtime analysis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defRPr sz="800" b="0">
                <a:solidFill>
                  <a:srgbClr val="3C83D1"/>
                </a:solidFill>
                <a:latin typeface="Consolas"/>
              </a:defRPr>
            </a:pPr>
            <a:r>
              <a:t>https://blog.siemens.com/2024/07/the-true-cost-of-an-hours-downtime-an-industry-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SMB downtime cost per hour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1000" b="0">
                <a:solidFill>
                  <a:srgbClr val="7A848E"/>
                </a:solidFill>
                <a:latin typeface="Aptos"/>
              </a:defRPr>
            </a:pPr>
            <a:r>
              <a:t>Datto, State of the Channel Ransomware Report 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5321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Reinforcement learning cuts total execution delay substantially versus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1000" b="0">
                <a:solidFill>
                  <a:srgbClr val="7A848E"/>
                </a:solidFill>
                <a:latin typeface="Aptos"/>
              </a:defRPr>
            </a:pPr>
            <a:r>
              <a:t>Privacy-Aware Load Balancing in Fog Networks: A Reinforcement Learning Approach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defRPr sz="800" b="0">
                <a:solidFill>
                  <a:srgbClr val="3C83D1"/>
                </a:solidFill>
                <a:latin typeface="Consolas"/>
              </a:defRPr>
            </a:pPr>
            <a:r>
              <a:t>https://arxiv.org/pdf/2301.09497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Q-learning applied to multi-controller load balancing in SDN reduces l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1000" b="0">
                <a:solidFill>
                  <a:srgbClr val="7A848E"/>
                </a:solidFill>
                <a:latin typeface="Aptos"/>
              </a:defRPr>
            </a:pPr>
            <a:r>
              <a:t>Artificial intelligence based load balancing in SDN: A comprehensive survey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defRPr sz="800" b="0">
                <a:solidFill>
                  <a:srgbClr val="3C83D1"/>
                </a:solidFill>
                <a:latin typeface="Consolas"/>
              </a:defRPr>
            </a:pPr>
            <a:r>
              <a:t>https://arxiv.org/pdf/2308.02149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4231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Honest counter-evidence: Q-learning schedulers can trade raw response 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1000" b="0">
                <a:solidFill>
                  <a:srgbClr val="7A848E"/>
                </a:solidFill>
                <a:latin typeface="Aptos"/>
              </a:defRPr>
            </a:pPr>
            <a:r>
              <a:t>Q-Learning Scheduler and Load Balancer for Heterogeneous Systems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defRPr sz="800" b="0">
                <a:solidFill>
                  <a:srgbClr val="3C83D1"/>
                </a:solidFill>
                <a:latin typeface="Consolas"/>
              </a:defRPr>
            </a:pPr>
            <a:r>
              <a:t>https://www.researchgate.net/publication/46028610_Q-Learning_Scheduler_and_Load_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04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RL-based dynamic load balancing is an active research direction in edg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1000" b="0">
                <a:solidFill>
                  <a:srgbClr val="7A848E"/>
                </a:solidFill>
                <a:latin typeface="Aptos"/>
              </a:defRPr>
            </a:pPr>
            <a:r>
              <a:t>Reinforcement learning-based dynamic load balancing in edge computing networks, Computer Communicati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defRPr sz="800" b="0">
                <a:solidFill>
                  <a:srgbClr val="3C83D1"/>
                </a:solidFill>
                <a:latin typeface="Consolas"/>
              </a:defRPr>
            </a:pPr>
            <a:r>
              <a:t>https://www.sciencedirect.com/science/article/abs/pii/S0140366424001312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776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ESP32-WROOM-32 WiFi current consumption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1000" b="0">
                <a:solidFill>
                  <a:srgbClr val="7A848E"/>
                </a:solidFill>
                <a:latin typeface="Aptos"/>
              </a:defRPr>
            </a:pPr>
            <a:r>
              <a:t>Espressif, ESP32-WROOM-32 Datasheet, section 5.4 Current Consumption Characteristics</a:t>
            </a:r>
          </a:p>
          <a:p>
            <a:pPr algn="l">
              <a:spcBef>
                <a:spcPts val="100"/>
              </a:spcBef>
              <a:spcAft>
                <a:spcPts val="0"/>
              </a:spcAft>
              <a:defRPr sz="800" b="0">
                <a:solidFill>
                  <a:srgbClr val="3C83D1"/>
                </a:solidFill>
                <a:latin typeface="Consolas"/>
              </a:defRPr>
            </a:pPr>
            <a:r>
              <a:t>https://www.espressif.com/sites/default/files/documentation/esp32-wroom-32_datas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48E"/>
                </a:solidFill>
                <a:latin typeface="Consolas"/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Aptos Display"/>
              </a:defRPr>
            </a:pPr>
            <a:r>
              <a:t>A $4 device that learns routing</a:t>
            </a:r>
            <a:br/>
            <a:r>
              <a:t>on production traffic, with no cloud</a:t>
            </a:r>
            <a:br/>
            <a:r>
              <a:t>and no pre-training.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474720"/>
            <a:ext cx="2743200" cy="50800"/>
          </a:xfrm>
          <a:prstGeom prst="rect">
            <a:avLst/>
          </a:prstGeom>
          <a:solidFill>
            <a:srgbClr val="E16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8D3CB"/>
                </a:solidFill>
                <a:latin typeface="Aptos"/>
              </a:defRPr>
            </a:pPr>
            <a:r>
              <a:t>→  Q-learning advantage conditional on heterogeneity — quantified at 8× spread.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8D3CB"/>
                </a:solidFill>
                <a:latin typeface="Aptos"/>
              </a:defRPr>
            </a:pPr>
            <a:r>
              <a:t>→  Sub-watt power, one-second boot, zero attack surface.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8D3CB"/>
                </a:solidFill>
                <a:latin typeface="Aptos"/>
              </a:defRPr>
            </a:pPr>
            <a:r>
              <a:t>→  Honest about where it fails: retail (low-spread, non-stationary) is a known loss.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49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8D3CB"/>
                </a:solidFill>
                <a:latin typeface="Aptos"/>
              </a:defRPr>
            </a:pPr>
            <a:r>
              <a:t>→  Three real-world scenarios simulated with faithful firmware port.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8D3CB"/>
                </a:solidFill>
                <a:latin typeface="Aptos"/>
              </a:defRPr>
            </a:pPr>
            <a:r>
              <a:t>→  Hardware benchmark harness ready — measured numbers pending.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